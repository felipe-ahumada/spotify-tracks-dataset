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4" r:id="rId25"/>
    <p:sldId id="275" r:id="rId26"/>
    <p:sldId id="278" r:id="rId29"/>
    <p:sldId id="281" r:id="rId32"/>
    <p:sldId id="276" r:id="rId27"/>
    <p:sldId id="279" r:id="rId30"/>
    <p:sldId id="277" r:id="rId28"/>
    <p:sldId id="280" r:id="rId31"/>
    <p:sldId id="272" r:id="rId22"/>
    <p:sldId id="273" r:id="rId23"/>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4" roundtripDataSignature="AMtx7mh/ZBlogRo7tUl3dDTlpW2Qwvb73A=="/>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5596F70-3E84-48C9-8163-9B32549E12F5}">
  <a:tblStyle styleId="{D5596F70-3E84-48C9-8163-9B32549E12F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25.xml"/><Relationship Id="rId23" Type="http://schemas.openxmlformats.org/officeDocument/2006/relationships/slide" Target="slides/slide26.xml"/><Relationship Id="rId24" Type="http://customschemas.google.com/relationships/presentationmetadata" Target="metadata"/><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21.xml"/><Relationship Id="rId28" Type="http://schemas.openxmlformats.org/officeDocument/2006/relationships/slide" Target="slides/slide23.xml"/><Relationship Id="rId29" Type="http://schemas.openxmlformats.org/officeDocument/2006/relationships/slide" Target="slides/slide19.xml"/><Relationship Id="rId30" Type="http://schemas.openxmlformats.org/officeDocument/2006/relationships/slide" Target="slides/slide22.xml"/><Relationship Id="rId31" Type="http://schemas.openxmlformats.org/officeDocument/2006/relationships/slide" Target="slides/slide24.xml"/><Relationship Id="rId32"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225" y="914400"/>
            <a:ext cx="4572225" cy="4572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5791200"/>
            <a:ext cx="5486400" cy="54864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 name="Shape 7"/>
        <p:cNvGrpSpPr/>
        <p:nvPr/>
      </p:nvGrpSpPr>
      <p:grpSpPr>
        <a:xfrm>
          <a:off x="0" y="0"/>
          <a:ext cx="0" cy="0"/>
          <a:chOff x="0" y="0"/>
          <a:chExt cx="0" cy="0"/>
        </a:xfrm>
      </p:grpSpPr>
      <p:sp>
        <p:nvSpPr>
          <p:cNvPr id="8" name="Google Shape;8;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 name="Google Shape;9;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1200" u="none" cap="none" strike="noStrike">
                <a:solidFill>
                  <a:schemeClr val="dk1"/>
                </a:solidFill>
                <a:latin typeface="Arial"/>
                <a:ea typeface="Arial"/>
                <a:cs typeface="Arial"/>
                <a:sym typeface="Arial"/>
              </a:rPr>
              <a:t>Buenos días. Voy a presentar la fase de comprensión y preparación de datos del caso C, inteligencia musical sobre el Spotify Tracks Dataset: 114.000 canciones con características de audio, género y una métrica de popularidad.</a:t>
            </a:r>
            <a:br>
              <a:rPr b="0" i="0" lang="en-US" sz="1200" u="none" cap="none" strike="noStrike">
                <a:solidFill>
                  <a:schemeClr val="dk1"/>
                </a:solidFill>
                <a:latin typeface="Arial"/>
                <a:ea typeface="Arial"/>
                <a:cs typeface="Arial"/>
                <a:sym typeface="Arial"/>
              </a:rPr>
            </a:br>
            <a:br>
              <a:rPr b="0" i="0" lang="en-US" sz="1200" u="none" cap="none" strike="noStrike">
                <a:solidFill>
                  <a:schemeClr val="dk1"/>
                </a:solidFill>
                <a:latin typeface="Arial"/>
                <a:ea typeface="Arial"/>
                <a:cs typeface="Arial"/>
                <a:sym typeface="Arial"/>
              </a:rPr>
            </a:br>
            <a:r>
              <a:rPr b="0" i="0" lang="en-US" sz="1200" u="none" cap="none" strike="noStrike">
                <a:solidFill>
                  <a:schemeClr val="dk1"/>
                </a:solidFill>
                <a:latin typeface="Arial"/>
                <a:ea typeface="Arial"/>
                <a:cs typeface="Arial"/>
                <a:sym typeface="Arial"/>
              </a:rPr>
              <a:t>El alcance de esta entrega son las fases 1 a 3 de CRISP-DM: comprensión del negocio, comprensión de los datos y preparación de datos. El modelado queda declarado explícitamente fuera de alcance, no por falta de tiempo sino porque el entregable de esta evaluación es el trabajo previo al modelo.</a:t>
            </a:r>
            <a:endParaRPr/>
          </a:p>
        </p:txBody>
      </p:sp>
      <p:sp>
        <p:nvSpPr>
          <p:cNvPr id="10" name="Google Shape;10;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 name="Google Shape;4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El problema no es técnico, es de priorización comercial. Un sello, una plataforma de streaming o un equipo de A&amp;R evalúa material nuevo constantemente y tiene que decidir dónde poner el esfuerzo de promoción.</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complicación: hoy esa decisión se apoya en la reputación ya instalada del artista. Eso perjudica sistemáticamente al artista nuevo, porque sin trayectoria previa no queda ninguna señal sobre la canción en sí.</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De ahí sale la pregunta del proyecto: cuánto de la popularidad se explica por los atributos propios de la canción, su sonido y su género, con independencia de la fama de quien la interpreta.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Quiero ser claro en que es una pregunta exploratoria, no una promesa de resultado. El propio análisis la responde de forma más matizada de lo que esperábamos: el audio explica muy poco. Y eso, en sí mismo, es un hallazgo útil para el negocio, porque acota qué se puede esperar de un futuro modelo y lo posiciona como señal complementaria, no como reemplazo del criterio humano.</a:t>
            </a:r>
            <a:endParaRPr/>
          </a:p>
        </p:txBody>
      </p:sp>
      <p:sp>
        <p:nvSpPr>
          <p:cNvPr id="42" name="Google Shape;42;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Cuatro objetivos y los cuatro están cubiertos.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primero es de calidad: identificar y resolver duplicación, valores inválidos e inconsistencias antes de concluir nada sobre popularidad. Deliberadamente va primero, porque cualquier conclusión sacada sobre datos sucios es una conclusión sobre el ruido.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segundo es exploratorio: cuantificar qué atributos se asocian con la popularidad —audio, género y contexto de publicación— sin asumir de antemano que la asociación exista.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tercero es de ingeniería: dejar un pipeline reproducible con scikit-learn, sin fuga de información entre entrenamiento y prueba.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cuarto es documentar sesgos y limitaciones éticas antes de avanzar a modelado, no después.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Y el punto de abajo es importante: el modelado no se omitió, se declaró fuera de alcance desde el diseño del informe.</a:t>
            </a:r>
            <a:endParaRPr/>
          </a:p>
        </p:txBody>
      </p:sp>
      <p:sp>
        <p:nvSpPr>
          <p:cNvPr id="58" name="Google Shape;58;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 name="Shape 82"/>
        <p:cNvGrpSpPr/>
        <p:nvPr/>
      </p:nvGrpSpPr>
      <p:grpSpPr>
        <a:xfrm>
          <a:off x="0" y="0"/>
          <a:ext cx="0" cy="0"/>
          <a:chOff x="0" y="0"/>
          <a:chExt cx="0" cy="0"/>
        </a:xfrm>
      </p:grpSpPr>
      <p:sp>
        <p:nvSpPr>
          <p:cNvPr id="83" name="Google Shape;83;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4" name="Google Shape;84;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Usamos CRISP-DM porque separa con claridad explorar de decidir, y esa separación se nota en el proyecto.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fase 1 está en las secciones 1 a 3 del informe: problema, objetivos y KPIs. La fase 2 es el notebook de análisis exploratorio: carga, calidad, duplicados, inválidos, outliers, correlaciones y distribución del target. La fase 3 es el notebook de preprocesamiento: consolidación adicional, ingeniería de características y pipeline.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Un ejemplo concreto de por qué la separación importa: el EDA detectó el duplicado por audio pero no lo resolvió, lo dejó documentado. Colapsar filas es una decisión de preparación, no de exploración, así que esa decisión se toma recién en el notebook siguiente. Las fases son iterativas, no una escalera de un solo sentido.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Modelado, evaluación y despliegue quedan como trabajo futuro.</a:t>
            </a:r>
            <a:endParaRPr/>
          </a:p>
        </p:txBody>
      </p:sp>
      <p:sp>
        <p:nvSpPr>
          <p:cNvPr id="85" name="Google Shape;85;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8" name="Google Shape;118;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Una sola fuente de datos, pública y de uso educativo, sin datos personales de oyentes.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Las 20 columnas se agrupan así: 13 son características de audio que extrae el propio algoritmo de Spotify —danceability, energy, loudness, tempo y demás—, 5 son metadatos —track_id, artista, álbum, nombre y género—, una es la variable objetivo popularity de 0 a 100, y una es la marca de contenido explícito.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Sobre herramientas, el punto más importante es el primero: el PDF de documentación de Spotify define el rango válido de cada columna. Es la referencia contra la cual validamos inconsistencias más adelante; sin ese documento no podríamos afirmar que un valor es inválido.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stack está fijado en requirements.txt para que el entorno sea reproducible, el repositorio en GitHub lleva el historial de commits del informe y de ambos notebooks, y la coordinación del equipo fue presencial, con el repositorio como fuente única de verdad.</a:t>
            </a:r>
            <a:endParaRPr/>
          </a:p>
        </p:txBody>
      </p:sp>
      <p:sp>
        <p:nvSpPr>
          <p:cNvPr id="119" name="Google Shape;119;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 name="Shape 146"/>
        <p:cNvGrpSpPr/>
        <p:nvPr/>
      </p:nvGrpSpPr>
      <p:grpSpPr>
        <a:xfrm>
          <a:off x="0" y="0"/>
          <a:ext cx="0" cy="0"/>
          <a:chOff x="0" y="0"/>
          <a:chExt cx="0" cy="0"/>
        </a:xfrm>
      </p:grpSpPr>
      <p:sp>
        <p:nvSpPr>
          <p:cNvPr id="147" name="Google Shape;147;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8" name="Google Shape;148;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Parto por la conclusión y después la evidencia.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Primero, calidad: las 114.000 filas del dataset no son 114.000 canciones. Contienen dos niveles de duplicación distintos y al resolverlos quedan 83.478 canciones únicas. Más de un cuarto del dataset eran filas repetidas.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Segundo, señal: la correlación máxima de cualquier variable de audio con la popularidad es 0,13, prácticamente nada. El género, codificado por su popularidad promedio, llega a 0,62. O sea, cómo suena la canción no explica cuánto se escucha; a qué género pertenece, bastante más.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Tercero, ética: medimos que artista y álbum correlacionan 0,71 y 0,72, mucho más que todo lo demás, y aun así los excluimos del modelo. Explico por qué al final.</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entregable concreto es un dataset preparado y reproducible: 83.478 canciones convertidas en 29 columnas finales, sin valores nulos.</a:t>
            </a:r>
            <a:endParaRPr/>
          </a:p>
        </p:txBody>
      </p:sp>
      <p:sp>
        <p:nvSpPr>
          <p:cNvPr id="149" name="Google Shape;149;p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Estos tres son los KPIs de negocio: responden directamente la pregunta de la slide 4, no son solo calidad de datos.</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Uno: el techo de senal sin usar identidad de artista o album. El audio da 0,13 como maximo, el genero 0,62 -- esa es la cota realista de lo que el contenido de la cancion puede explicar sin depender de quien la interpreta.</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Dos: cero features de identidad de artista o album en el modelo final. Es una restriccion etica que nos autoimpusimos, a pesar de medir que son lo mas predictivo del dataset (r entre 0,71 y 0,72). Lo desarrollo mas en la slide de sesgos.</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Tres: 54% del pico de canciones con popularity cero es un artefacto del contexto de publicacion -- el mismo audio en otro release sin traccion -- no que la cancion sea mala. Sin este KPI el negocio podria descartar por error contenido que en realidad si tiene traccion, solo mal catalogado.</a:t>
            </a:r>
            <a:endParaRPr/>
          </a:p>
        </p:txBody>
      </p:sp>
      <p:sp>
        <p:nvSpPr>
          <p:cNvPr id="173" name="Google Shape;173;p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Este es el hallazgo de calidad más importante, y la duplicación ocurre en dos niveles distintos.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primero es evidente una vez que lo ves: la misma canción aparece una vez por cada género bajo el que Spotify la cataloga. Son 24.259 filas. Las consolidamos agrupando por track_id: unimos los géneros separados por punto y coma, con el mismo criterio que ya usa la columna artists para las colaboraciones, y promediamos la popularidad, que variaba en apenas el 4,33% de los casos. También eliminamos una fila con duración cero y metadatos nulos, que es un error de carga.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segundo nivel no es evidente: track_id identifica un release —un álbum, un single, un recopilatorio—, no la canción. Así que la misma grabación vuelve a aparecer si está en una reedición. Para detectarlo agrupamos por las 13 columnas de audio, o sea por el contenido, no por identificadores. Aparecieron 9.284 filas en 3.022 grupos.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En total, más de un cuarto del dataset eran filas repetidas. Sin este paso, cualquier correlación o promedio habría quedado ponderado por cuántas veces se repite cada canción.</a:t>
            </a:r>
            <a:endParaRPr/>
          </a:p>
        </p:txBody>
      </p:sp>
      <p:sp>
        <p:nvSpPr>
          <p:cNvPr id="181" name="Google Shape;181;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 name="Shape 197"/>
        <p:cNvGrpSpPr/>
        <p:nvPr/>
      </p:nvGrpSpPr>
      <p:grpSpPr>
        <a:xfrm>
          <a:off x="0" y="0"/>
          <a:ext cx="0" cy="0"/>
          <a:chOff x="0" y="0"/>
          <a:chExt cx="0" cy="0"/>
        </a:xfrm>
      </p:grpSpPr>
      <p:sp>
        <p:nvSpPr>
          <p:cNvPr id="198" name="Google Shape;198;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9" name="Google Shape;199;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Analizamos el target por separado porque hasta ese punto solo lo habíamos visto junto al resto de las variables numéricas.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Fuera del pico, la distribución es razonablemente simétrica. Pero el pico en cero es real y grande: 9.413 canciones, el 10,49% del dataset, muchas más de las que esperarías en una distribución continua suave.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Tiene dos explicaciones. La primera es el diseño del dataset: buena parte de él es música de catálogo o de producción —ambient, sleep, stock— que en Spotify prácticamente no se reproduce.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segunda conecta con la slide anterior: el 54% de esas filas con popularidad cero pertenece a los grupos de audio duplicado. O sea, no es que la canción no se escuche, es que ese release específico no se escucha. En 779 de los 3.022 grupos la misma canción tiene cero en un release y más de cero en otro.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punto es que el pico en cero no es ruido a eliminar: es información sobre cómo se construyó el dataset y sobre qué significa realmente la variable objetivo.</a:t>
            </a:r>
            <a:endParaRPr/>
          </a:p>
        </p:txBody>
      </p:sp>
      <p:sp>
        <p:nvSpPr>
          <p:cNvPr id="200" name="Google Shape;200;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9" name="Google Shape;26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Este es el caso que mejor ilustra el segundo nivel de duplicación, y es el más extremo del dataset.</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canción es «I'm Good (Blue)». Aparece en dos releases distintos, con popularidad 0 en uno y 98 en el otro. La diferencia no puede venir del audio, porque las trece variables de audio son idénticas: es literalmente la misma grabación.</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Detectamos 3.022 grupos así. En 466 de ellos el rango de popularidad entre releases es de 30 puntos o más, o sea no es ruido menor.</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Y esto explica algo que veremos en la próxima slide: el 54% de las canciones con popularidad cero pertenece a estos grupos. Es decir, buena parte del pico en cero no significa «esta canción no se escucha», significa «este release específico no se escucha».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consecuencia para el modelo es seria: la popularidad depende también del contexto de publicación —el álbum, el momento, la promoción—. Un modelo basado solo en audio y género tiene un techo de precisión inherente, por bueno que sea.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En la preparación decidimos colapsar cada grupo a una fila promediando la popularidad entre releases, en vez de quedarnos con el máximo, que habría introducido un sesgo optimista sistemático.</a:t>
            </a:r>
            <a:endParaRPr/>
          </a:p>
        </p:txBody>
      </p:sp>
      <p:sp>
        <p:nvSpPr>
          <p:cNvPr id="270" name="Google Shape;270;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8" name="Shape 288"/>
        <p:cNvGrpSpPr/>
        <p:nvPr/>
      </p:nvGrpSpPr>
      <p:grpSpPr>
        <a:xfrm>
          <a:off x="0" y="0"/>
          <a:ext cx="0" cy="0"/>
          <a:chOff x="0" y="0"/>
          <a:chExt cx="0" cy="0"/>
        </a:xfrm>
      </p:grpSpPr>
      <p:sp>
        <p:nvSpPr>
          <p:cNvPr id="289" name="Google Shape;289;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0" name="Google Shape;290;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Validamos cada columna contra los rangos que documenta Spotify en su PDF. Aparecieron cuatro señales fuera de rango, pero el criterio fue no asumir: estar fuera del rango documentado levanta una sospecha, no prueba un error. Investigamos cada caso por separado y solo dos resultaron ser errores.</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time_signature en cero, 129 filas: el 96% de ellas también tiene tempo en cero, y el 81% pertenece al género sleep, sonidos ambientales sin pulso musical detectable. No es un compás real, es que el algoritmo de Spotify no logra estimarlo y devuelve cero.</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tempo en cero, 124 filas: ninguna canción tiene cero BPM, es físicamente imposible. Es el mismo fallo.</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loudness positivo, 66 filas, hasta 4,53 decibeles: son másters muy comprimidos que superan el techo digital de cero dBFS. Es inusual, pero es real, no un error de carga. Lo tratamos como outlier, no como inválido.</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Y el caso más interesante, time_signature igual a 1, 788 filas: la tabla de rangos lo marca fuera de lo documentado, pero al investigarlo tiene tempo coherente de unos 110 BPM, géneros variados y cero casos con tempo en cero. Nada indica fallo. Lo conservamos sin cambios.</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La frase de abajo es la decisión de diseño: marcamos el valor como faltante en vez de borrar la fila. Borrar la fila descartaría también las otras doce variables de audio, que sí son válidas. Al marcarlo, el imputador del pipeline lo completa y la canción sigue aportando. Es la diferencia entre limpiar un dato y perder una observación.</a:t>
            </a:r>
            <a:endParaRPr/>
          </a:p>
        </p:txBody>
      </p:sp>
      <p:sp>
        <p:nvSpPr>
          <p:cNvPr id="291" name="Google Shape;291;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1" name="Shape 311"/>
        <p:cNvGrpSpPr/>
        <p:nvPr/>
      </p:nvGrpSpPr>
      <p:grpSpPr>
        <a:xfrm>
          <a:off x="0" y="0"/>
          <a:ext cx="0" cy="0"/>
          <a:chOff x="0" y="0"/>
          <a:chExt cx="0" cy="0"/>
        </a:xfrm>
      </p:grpSpPr>
      <p:sp>
        <p:nvSpPr>
          <p:cNvPr id="312" name="Google Shape;312;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3" name="Google Shape;313;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Este es el hallazgo central del análisis exploratorio, y es un resultado negativo.</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La correlación más alta de cualquier variable de audio con la popularidad es instrumentalness, con menos cero coma trece. Después vienen loudness con 0,07 y danceability con 0,06, y de ahí para abajo es prácticamente cero. Dicho de otro modo: cómo suena una canción no explica linealmente cuánto se escucha.</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Eso obliga a reorientar el trabajo. Descartamos que un modelo lineal sobre audio crudo vaya a funcionar, y el esfuerzo se mueve hacia dos lados: buscar señal donde sí la hay, que es el género, y construir variables derivadas que capturen relaciones que las columnas originales no pueden expresar.</a:t>
            </a:r>
            <a:endParaRPr/>
          </a:p>
          <a:p>
            <a:pPr indent="0" lvl="0" marL="0" marR="0" rtl="0" algn="l">
              <a:spcBef>
                <a:spcPts val="0"/>
              </a:spcBef>
              <a:spcAft>
                <a:spcPts val="0"/>
              </a:spcAft>
              <a:buNone/>
            </a:pPr>
            <a:r>
              <a:t/>
            </a:r>
            <a:endParaRPr sz="1200">
              <a:solidFill>
                <a:schemeClr val="dk1"/>
              </a:solidFill>
              <a:latin typeface="Arial"/>
              <a:ea typeface="Arial"/>
              <a:cs typeface="Arial"/>
              <a:sym typeface="Arial"/>
            </a:endParaRPr>
          </a:p>
          <a:p>
            <a:pPr indent="0" lvl="0" marL="0" marR="0" rtl="0" algn="l">
              <a:spcBef>
                <a:spcPts val="0"/>
              </a:spcBef>
              <a:spcAft>
                <a:spcPts val="0"/>
              </a:spcAft>
              <a:buNone/>
            </a:pPr>
            <a:r>
              <a:rPr lang="en-US" sz="1200">
                <a:solidFill>
                  <a:schemeClr val="dk1"/>
                </a:solidFill>
                <a:latin typeface="Arial"/>
                <a:ea typeface="Arial"/>
                <a:cs typeface="Arial"/>
                <a:sym typeface="Arial"/>
              </a:rPr>
              <a:t>Lo que sí correlaciona fuerte es entre las propias variables de audio: energy con loudness 0,76 —las canciones energéticas suenan más fuerte, es esperable—, y acousticness negativamente con energy y loudness. Eso es multicolinealidad. No afecta al análisis exploratorio, pero sesga el ajuste de un modelo lineal, así que lo controlamos en el pipeline con un filtro de correlación de umbral 0,9.</a:t>
            </a:r>
            <a:endParaRPr/>
          </a:p>
        </p:txBody>
      </p:sp>
      <p:sp>
        <p:nvSpPr>
          <p:cNvPr id="314" name="Google Shape;314;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Aquí sí hay señal, y es la más fuerte que encontramos.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popularidad promedio va de 2,2 puntos en iranian a 59,3 en pop-film. Es un rango enorme comparado con cualquier variable de audio. Codificado por el promedio de popularidad de su género —lo que se llama mean encoding— la correlación con popularity llega a 0,62, unas cinco veces más fuerte que la mejor variable de audio. Por eso lo incorporamos como predictor en vez de descartarlo.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Pero hay una advertencia de diseño importante. Los 114 géneros tienen casi exactamente mil canciones cada uno: media 996, mínimo 904, máximo 1.000. Eso no es una distribución orgánica de la música, es la huella del muestreo estratificado con que se construyó el dataset. Un modelo entrenado con esta variable aprende qué tan popular es un género en esta muestra, que no es lo mismo que qué tan popular es entre oyentes reales de Spotify. Es una limitación que hay que comunicar si el modelo se usa para decisiones reales.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Un detalle técnico: el género es multietiqueta, separado por punto y coma. El 82% de las canciones tiene uno solo, con un promedio de 1,27. Para analizarlo hay que explotar la columna, una fila por par canción-género.</a:t>
            </a:r>
            <a:endParaRPr/>
          </a:p>
        </p:txBody>
      </p:sp>
      <p:sp>
        <p:nvSpPr>
          <p:cNvPr id="372" name="Google Shape;372;p1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4" name="Shape 414"/>
        <p:cNvGrpSpPr/>
        <p:nvPr/>
      </p:nvGrpSpPr>
      <p:grpSpPr>
        <a:xfrm>
          <a:off x="0" y="0"/>
          <a:ext cx="0" cy="0"/>
          <a:chOff x="0" y="0"/>
          <a:chExt cx="0" cy="0"/>
        </a:xfrm>
      </p:grpSpPr>
      <p:sp>
        <p:nvSpPr>
          <p:cNvPr id="415" name="Google Shape;415;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6" name="Google Shape;416;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Probamos varias transformaciones e interacciones y solo dos pasaron el filtro. Las dos capturan relaciones que las columnas originales no pueden expresar.</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primera: la popularidad sube y baja en forma de U invertida según la duración. Es mínima en canciones muy cortas, de menos de dos minutos, con 27,95 de promedio, sube hasta 35,54 entre tres y medio y cuatro minutos —el largo típico de radio y streaming— y vuelve a caer a 27,71 en las de más de seis minutos. El problema es que la correlación lineal no puede capturar una U: con duration_ms en bruto da menos 0,02, prácticamente nada. Al medir la distancia a 3,75 minutos, la correlación sube a menos 0,09, más fuerte que la mayoría de las variables de audio originales.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La segunda sale de cruzar valence con energy, que es el modelo clásico de cuadrantes de ánimo. Tres de los cuatro cuadrantes quedan bien explicados por valence y energy por separado, con residuo cercano a cero. El cuadrante calmado positivo —valence alta, energy baja: baladas acústicas, chill— es la excepción: su popularidad real queda 2,84 puntos por debajo de lo que predice un modelo lineal simple, sobre 7.279 canciones, el 8,1% del dataset. Es señal que esas dos columnas no capturan solas.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Y tan importante como lo que agregamos es lo que descartamos: ninguna interacción entre variables de audio superó |r| de 0,06, del mismo orden que las columnas originales. No incorporamos ninguna solo por llenar el cupo.</a:t>
            </a:r>
            <a:endParaRPr/>
          </a:p>
        </p:txBody>
      </p:sp>
      <p:sp>
        <p:nvSpPr>
          <p:cNvPr id="417" name="Google Shape;417;p1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7" name="Shape 457"/>
        <p:cNvGrpSpPr/>
        <p:nvPr/>
      </p:nvGrpSpPr>
      <p:grpSpPr>
        <a:xfrm>
          <a:off x="0" y="0"/>
          <a:ext cx="0" cy="0"/>
          <a:chOff x="0" y="0"/>
          <a:chExt cx="0" cy="0"/>
        </a:xfrm>
      </p:grpSpPr>
      <p:sp>
        <p:nvSpPr>
          <p:cNvPr id="458" name="Google Shape;458;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9" name="Google Shape;459;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El pipeline tiene tres carriles según el tipo de variable y converge en un ColumnTransformer.</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carril numérico: Winsorizer para recortar los percentiles extremos —justificado por los boxplots del EDA, que mostraron outliers marcados en duración, loudness y en las variables concentradas cerca de cero—, después el imputador con la media, después el escalador. El orden importa: el recorte va antes de imputar, e ignora los NaN que introdujimos, para que el imputador siga siendo el único paso que los completa.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carril categórico: imputación por moda, que resuelve de forma natural los NaN de time_signature, y codificación one-hot.</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carril del género: el GenreMeanEncoder, un transformador que escribimos nosotros.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Tres cosas que quiero destacar. Primera: Winsorizer, CorrelationFilter y GenreMeanEncoder son transformadores propios, escritos sobre la API de scikit-learn con BaseEstimator y TransformerMixin, precisamente para poder combinarlos dentro del pipeline.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Segunda: no hay fuga de información. El encoder del género se ajusta solo con el conjunto de entrenamiento, y lo verificamos comparándolo contra una versión out-of-fold: la diferencia es de r igual a 0,002, despreciable.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Tercera: excluimos track_id, artists, album_name y track_name por cardinalidad altísima —73.261 nombres de canción distintos sobre 83.478 filas, casi cada valor aparece una sola vez—.</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resultado son 29 columnas finales, sin ningún nulo, verificado ejecutando el pipeline de punta a punta.</a:t>
            </a:r>
            <a:endParaRPr/>
          </a:p>
        </p:txBody>
      </p:sp>
      <p:sp>
        <p:nvSpPr>
          <p:cNvPr id="460" name="Google Shape;460;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3" name="Shape 493"/>
        <p:cNvGrpSpPr/>
        <p:nvPr/>
      </p:nvGrpSpPr>
      <p:grpSpPr>
        <a:xfrm>
          <a:off x="0" y="0"/>
          <a:ext cx="0" cy="0"/>
          <a:chOff x="0" y="0"/>
          <a:chExt cx="0" cy="0"/>
        </a:xfrm>
      </p:grpSpPr>
      <p:sp>
        <p:nvSpPr>
          <p:cNvPr id="494" name="Google Shape;494;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5" name="Google Shape;495;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Esta es la decisión más importante del proyecto.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Evaluamos codificar artista y álbum con la misma técnica de promedio histórico que usamos para el género. El resultado: álbum correlaciona 0,72 y artista 0,71 en el conjunto de prueba, contra 0,62 del género y 0,13 de la mejor variable de audio. Es, por lejos, la señal más fuerte de todo el dataset.</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Y decidimos no usarla, por dos razones. La primera es de negocio: predeciría principalmente qué tan famoso ya es el artista, no qué hace que una canción funcione. Un modelo así sería inútil justo para el caso de uso que motivó el proyecto, que es descubrir artistas nuevos. La segunda es ética: reforzaría un sesgo de retroalimentación, el «rich get richer». Un modelo que aprende que un artista ya famoso seguirá siendo popular perpetúa esa ventaja en vez de evaluar la canción por sus propios méritos. Usarla resolvería el problema estadístico, pero no el problema de negocio.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Este es el KPI ético de la sección 3: cero features de identidad, con la pérdida de precisión asumida y documentada.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Sobre los otros tres puntos. Privacidad: el dataset no contiene datos personales de oyentes, no hay historial de escucha ni identificadores de usuario. La única variable sobre personas es artists, que son nombres de artistas públicos de un catálogo comercial. Quiero ser preciso en algo: excluimos artists del modelo por cardinalidad, no como medida de anonimización. Es una distinción importante y está explícita en el informe.</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Sesgo de diseño: ya lo vimos, la distribución uniforme de géneros es artefacto del muestreo.</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Y sesgo de contexto: el mismo audio cambia de popularidad según el release, así que hay un techo de precisión que ningún modelo de audio y género puede superar.</a:t>
            </a:r>
            <a:endParaRPr/>
          </a:p>
        </p:txBody>
      </p:sp>
      <p:sp>
        <p:nvSpPr>
          <p:cNvPr id="496" name="Google Shape;496;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4" name="Shape 524"/>
        <p:cNvGrpSpPr/>
        <p:nvPr/>
      </p:nvGrpSpPr>
      <p:grpSpPr>
        <a:xfrm>
          <a:off x="0" y="0"/>
          <a:ext cx="0" cy="0"/>
          <a:chOff x="0" y="0"/>
          <a:chExt cx="0" cy="0"/>
        </a:xfrm>
      </p:grpSpPr>
      <p:sp>
        <p:nvSpPr>
          <p:cNvPr id="525" name="Google Shape;52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6" name="Google Shape;52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Lo entregado son cinco artefactos: el informe técnico en Markdown con las secciones que pide la pauta, los dos notebooks documentados en español celda a celda, el repositorio con estructura profesional —data, docs, notebooks, images y README— y el requirements.txt con versiones fijadas.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Un detalle de diseño que vale la pena mencionar: ambos notebooks reconstruyen su propio dataset desde el CSV crudo. Son autocontenidos, así que se pueden ejecutar en cualquier orden y la fase de modelado puede partir directamente del notebook de preprocesamiento sin depender de haber corrido el otro antes.</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El siguiente paso está definido con precisión, incluida la línea base ingenua: predecir siempre el promedio de popularidad. Es contra eso que hay que comparar cualquier modelo antes de declararlo útil, y va a ir dentro del notebook de modelado.</a:t>
            </a:r>
            <a:endParaRPr/>
          </a:p>
        </p:txBody>
      </p:sp>
      <p:sp>
        <p:nvSpPr>
          <p:cNvPr id="527" name="Google Shape;52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7" name="Google Shape;55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US" sz="1200">
                <a:solidFill>
                  <a:schemeClr val="dk1"/>
                </a:solidFill>
                <a:latin typeface="Arial"/>
                <a:ea typeface="Arial"/>
                <a:cs typeface="Arial"/>
                <a:sym typeface="Arial"/>
              </a:rPr>
              <a:t>Cierro con el mensaje central. En esta etapa el hallazgo más valioso no fue encontrar una variable predictiva, sino identificar cuál no debíamos usar y poder justificar por qué, midiendo primero lo que estábamos dejando sobre la mesa.</a:t>
            </a:r>
            <a:br>
              <a:rPr lang="en-US" sz="1200">
                <a:solidFill>
                  <a:schemeClr val="dk1"/>
                </a:solidFill>
                <a:latin typeface="Arial"/>
                <a:ea typeface="Arial"/>
                <a:cs typeface="Arial"/>
                <a:sym typeface="Arial"/>
              </a:rPr>
            </a:br>
            <a:br>
              <a:rPr lang="en-US" sz="1200">
                <a:solidFill>
                  <a:schemeClr val="dk1"/>
                </a:solidFill>
                <a:latin typeface="Arial"/>
                <a:ea typeface="Arial"/>
                <a:cs typeface="Arial"/>
                <a:sym typeface="Arial"/>
              </a:rPr>
            </a:br>
            <a:r>
              <a:rPr lang="en-US" sz="1200">
                <a:solidFill>
                  <a:schemeClr val="dk1"/>
                </a:solidFill>
                <a:latin typeface="Arial"/>
                <a:ea typeface="Arial"/>
                <a:cs typeface="Arial"/>
                <a:sym typeface="Arial"/>
              </a:rPr>
              <a:t>Quedo atento a sus preguntas.</a:t>
            </a:r>
            <a:endParaRPr/>
          </a:p>
        </p:txBody>
      </p:sp>
      <p:sp>
        <p:nvSpPr>
          <p:cNvPr id="558" name="Google Shape;55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fld id="{00000000-1234-1234-1234-123412341234}" type="slidenum">
              <a:rPr lang="en-US" sz="1800">
                <a:solidFill>
                  <a:schemeClr val="dk1"/>
                </a:solidFill>
                <a:latin typeface="Arial"/>
                <a:ea typeface="Arial"/>
                <a:cs typeface="Arial"/>
                <a:sym typeface="Arial"/>
              </a:rPr>
              <a:t>‹#›</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6"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 name="Shape 11"/>
        <p:cNvGrpSpPr/>
        <p:nvPr/>
      </p:nvGrpSpPr>
      <p:grpSpPr>
        <a:xfrm>
          <a:off x="0" y="0"/>
          <a:ext cx="0" cy="0"/>
          <a:chOff x="0" y="0"/>
          <a:chExt cx="0" cy="0"/>
        </a:xfrm>
      </p:grpSpPr>
      <p:sp>
        <p:nvSpPr>
          <p:cNvPr id="12" name="Google Shape;12;p1"/>
          <p:cNvSpPr/>
          <p:nvPr/>
        </p:nvSpPr>
        <p:spPr>
          <a:xfrm>
            <a:off x="0" y="0"/>
            <a:ext cx="12188952" cy="685800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 name="Google Shape;13;p1"/>
          <p:cNvSpPr/>
          <p:nvPr/>
        </p:nvSpPr>
        <p:spPr>
          <a:xfrm>
            <a:off x="7818120" y="3429000"/>
            <a:ext cx="82296" cy="27432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 name="Google Shape;14;p1"/>
          <p:cNvSpPr/>
          <p:nvPr/>
        </p:nvSpPr>
        <p:spPr>
          <a:xfrm>
            <a:off x="8042148" y="3314700"/>
            <a:ext cx="82296" cy="5029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 name="Google Shape;15;p1"/>
          <p:cNvSpPr/>
          <p:nvPr/>
        </p:nvSpPr>
        <p:spPr>
          <a:xfrm>
            <a:off x="8266176" y="3177540"/>
            <a:ext cx="82296" cy="7772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 name="Google Shape;16;p1"/>
          <p:cNvSpPr/>
          <p:nvPr/>
        </p:nvSpPr>
        <p:spPr>
          <a:xfrm>
            <a:off x="8490204" y="2994660"/>
            <a:ext cx="82296" cy="114300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7" name="Google Shape;17;p1"/>
          <p:cNvSpPr/>
          <p:nvPr/>
        </p:nvSpPr>
        <p:spPr>
          <a:xfrm>
            <a:off x="8714232" y="3246120"/>
            <a:ext cx="82296" cy="64008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 name="Google Shape;18;p1"/>
          <p:cNvSpPr/>
          <p:nvPr/>
        </p:nvSpPr>
        <p:spPr>
          <a:xfrm>
            <a:off x="8938260" y="2857500"/>
            <a:ext cx="82296" cy="14173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 name="Google Shape;19;p1"/>
          <p:cNvSpPr/>
          <p:nvPr/>
        </p:nvSpPr>
        <p:spPr>
          <a:xfrm>
            <a:off x="9162288" y="3086100"/>
            <a:ext cx="82296" cy="9601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 name="Google Shape;20;p1"/>
          <p:cNvSpPr/>
          <p:nvPr/>
        </p:nvSpPr>
        <p:spPr>
          <a:xfrm>
            <a:off x="9386316" y="3360420"/>
            <a:ext cx="82296" cy="41148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 name="Google Shape;21;p1"/>
          <p:cNvSpPr/>
          <p:nvPr/>
        </p:nvSpPr>
        <p:spPr>
          <a:xfrm>
            <a:off x="9610344" y="3154680"/>
            <a:ext cx="82296" cy="82296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 name="Google Shape;22;p1"/>
          <p:cNvSpPr/>
          <p:nvPr/>
        </p:nvSpPr>
        <p:spPr>
          <a:xfrm>
            <a:off x="9834372" y="2948940"/>
            <a:ext cx="82296" cy="12344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 name="Google Shape;23;p1"/>
          <p:cNvSpPr/>
          <p:nvPr/>
        </p:nvSpPr>
        <p:spPr>
          <a:xfrm>
            <a:off x="10058400" y="3282696"/>
            <a:ext cx="82296" cy="566928"/>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 name="Google Shape;24;p1"/>
          <p:cNvSpPr/>
          <p:nvPr/>
        </p:nvSpPr>
        <p:spPr>
          <a:xfrm>
            <a:off x="10282428" y="3063240"/>
            <a:ext cx="82296" cy="10058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 name="Google Shape;25;p1"/>
          <p:cNvSpPr/>
          <p:nvPr/>
        </p:nvSpPr>
        <p:spPr>
          <a:xfrm>
            <a:off x="10506456" y="3392424"/>
            <a:ext cx="82296" cy="347472"/>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6" name="Google Shape;26;p1"/>
          <p:cNvSpPr/>
          <p:nvPr/>
        </p:nvSpPr>
        <p:spPr>
          <a:xfrm>
            <a:off x="10730484" y="3200400"/>
            <a:ext cx="82296" cy="7315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 name="Google Shape;27;p1"/>
          <p:cNvSpPr/>
          <p:nvPr/>
        </p:nvSpPr>
        <p:spPr>
          <a:xfrm>
            <a:off x="10954512" y="2903220"/>
            <a:ext cx="82296" cy="132588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8" name="Google Shape;28;p1"/>
          <p:cNvSpPr/>
          <p:nvPr/>
        </p:nvSpPr>
        <p:spPr>
          <a:xfrm>
            <a:off x="11178540" y="3314700"/>
            <a:ext cx="82296" cy="5029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9" name="Google Shape;29;p1"/>
          <p:cNvSpPr/>
          <p:nvPr/>
        </p:nvSpPr>
        <p:spPr>
          <a:xfrm>
            <a:off x="11402568" y="3131820"/>
            <a:ext cx="82296" cy="86868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 name="Google Shape;30;p1"/>
          <p:cNvSpPr/>
          <p:nvPr/>
        </p:nvSpPr>
        <p:spPr>
          <a:xfrm>
            <a:off x="11626596" y="3429000"/>
            <a:ext cx="82296" cy="2743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 name="Google Shape;31;p1"/>
          <p:cNvSpPr txBox="1"/>
          <p:nvPr/>
        </p:nvSpPr>
        <p:spPr>
          <a:xfrm>
            <a:off x="640080" y="137160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1100"/>
              <a:buFont typeface="Calibri"/>
              <a:buNone/>
            </a:pPr>
            <a:r>
              <a:rPr b="1" lang="en-US" sz="1100">
                <a:solidFill>
                  <a:srgbClr val="18A558"/>
                </a:solidFill>
                <a:latin typeface="Calibri"/>
                <a:ea typeface="Calibri"/>
                <a:cs typeface="Calibri"/>
                <a:sym typeface="Calibri"/>
              </a:rPr>
              <a:t>EP2  ·  MLY1101 MACHINE LEARNING  ·  CASO C</a:t>
            </a:r>
            <a:endParaRPr sz="1100">
              <a:solidFill>
                <a:schemeClr val="dk1"/>
              </a:solidFill>
              <a:latin typeface="Calibri"/>
              <a:ea typeface="Calibri"/>
              <a:cs typeface="Calibri"/>
              <a:sym typeface="Calibri"/>
            </a:endParaRPr>
          </a:p>
        </p:txBody>
      </p:sp>
      <p:sp>
        <p:nvSpPr>
          <p:cNvPr id="32" name="Google Shape;32;p1"/>
          <p:cNvSpPr txBox="1"/>
          <p:nvPr/>
        </p:nvSpPr>
        <p:spPr>
          <a:xfrm>
            <a:off x="640080" y="1828800"/>
            <a:ext cx="7132320" cy="2194560"/>
          </a:xfrm>
          <a:prstGeom prst="rect">
            <a:avLst/>
          </a:prstGeom>
          <a:noFill/>
          <a:ln>
            <a:noFill/>
          </a:ln>
        </p:spPr>
        <p:txBody>
          <a:bodyPr anchorCtr="0" anchor="ctr" bIns="0" lIns="0" spcFirstLastPara="1" rIns="0" wrap="square" tIns="0">
            <a:noAutofit/>
          </a:bodyPr>
          <a:lstStyle/>
          <a:p>
            <a:pPr indent="0" lvl="0" marL="0" marR="0" rtl="0" algn="l">
              <a:lnSpc>
                <a:spcPct val="102000"/>
              </a:lnSpc>
              <a:spcBef>
                <a:spcPts val="0"/>
              </a:spcBef>
              <a:spcAft>
                <a:spcPts val="0"/>
              </a:spcAft>
              <a:buClr>
                <a:srgbClr val="FFFFFF"/>
              </a:buClr>
              <a:buSzPts val="4000"/>
              <a:buFont typeface="Cambria"/>
              <a:buNone/>
            </a:pPr>
            <a:r>
              <a:rPr b="1" lang="en-US" sz="4000">
                <a:solidFill>
                  <a:srgbClr val="FFFFFF"/>
                </a:solidFill>
                <a:latin typeface="Cambria"/>
                <a:ea typeface="Cambria"/>
                <a:cs typeface="Cambria"/>
                <a:sym typeface="Cambria"/>
              </a:rPr>
              <a:t>Inteligencia musical:</a:t>
            </a:r>
            <a:endParaRPr sz="4000">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4000"/>
              <a:buFont typeface="Cambria"/>
              <a:buNone/>
            </a:pPr>
            <a:r>
              <a:rPr b="1" lang="en-US" sz="4000">
                <a:solidFill>
                  <a:srgbClr val="FFFFFF"/>
                </a:solidFill>
                <a:latin typeface="Cambria"/>
                <a:ea typeface="Cambria"/>
                <a:cs typeface="Cambria"/>
                <a:sym typeface="Cambria"/>
              </a:rPr>
              <a:t>¿qué hace popular</a:t>
            </a:r>
            <a:endParaRPr sz="4000">
              <a:solidFill>
                <a:schemeClr val="dk1"/>
              </a:solidFill>
              <a:latin typeface="Calibri"/>
              <a:ea typeface="Calibri"/>
              <a:cs typeface="Calibri"/>
              <a:sym typeface="Calibri"/>
            </a:endParaRPr>
          </a:p>
          <a:p>
            <a:pPr indent="0" lvl="0" marL="0" marR="0" rtl="0" algn="l">
              <a:lnSpc>
                <a:spcPct val="102000"/>
              </a:lnSpc>
              <a:spcBef>
                <a:spcPts val="0"/>
              </a:spcBef>
              <a:spcAft>
                <a:spcPts val="0"/>
              </a:spcAft>
              <a:buClr>
                <a:srgbClr val="FFFFFF"/>
              </a:buClr>
              <a:buSzPts val="4000"/>
              <a:buFont typeface="Cambria"/>
              <a:buNone/>
            </a:pPr>
            <a:r>
              <a:rPr b="1" lang="en-US" sz="4000">
                <a:solidFill>
                  <a:srgbClr val="FFFFFF"/>
                </a:solidFill>
                <a:latin typeface="Cambria"/>
                <a:ea typeface="Cambria"/>
                <a:cs typeface="Cambria"/>
                <a:sym typeface="Cambria"/>
              </a:rPr>
              <a:t>a una canción?</a:t>
            </a:r>
            <a:endParaRPr sz="4000">
              <a:solidFill>
                <a:schemeClr val="dk1"/>
              </a:solidFill>
              <a:latin typeface="Calibri"/>
              <a:ea typeface="Calibri"/>
              <a:cs typeface="Calibri"/>
              <a:sym typeface="Calibri"/>
            </a:endParaRPr>
          </a:p>
        </p:txBody>
      </p:sp>
      <p:sp>
        <p:nvSpPr>
          <p:cNvPr id="33" name="Google Shape;33;p1"/>
          <p:cNvSpPr/>
          <p:nvPr/>
        </p:nvSpPr>
        <p:spPr>
          <a:xfrm>
            <a:off x="640080" y="4206240"/>
            <a:ext cx="1005840" cy="32004"/>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 name="Google Shape;34;p1"/>
          <p:cNvSpPr txBox="1"/>
          <p:nvPr/>
        </p:nvSpPr>
        <p:spPr>
          <a:xfrm>
            <a:off x="640080" y="4480560"/>
            <a:ext cx="68580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9D3CD"/>
              </a:buClr>
              <a:buSzPts val="1500"/>
              <a:buFont typeface="Calibri"/>
              <a:buNone/>
            </a:pPr>
            <a:r>
              <a:rPr lang="en-US" sz="1500">
                <a:solidFill>
                  <a:srgbClr val="C9D3CD"/>
                </a:solidFill>
                <a:latin typeface="Calibri"/>
                <a:ea typeface="Calibri"/>
                <a:cs typeface="Calibri"/>
                <a:sym typeface="Calibri"/>
              </a:rPr>
              <a:t>114.000 canciones de Spotify  ·  CRISP-DM, fases 1 a 5</a:t>
            </a:r>
            <a:endParaRPr sz="1500">
              <a:solidFill>
                <a:schemeClr val="dk1"/>
              </a:solidFill>
              <a:latin typeface="Calibri"/>
              <a:ea typeface="Calibri"/>
              <a:cs typeface="Calibri"/>
              <a:sym typeface="Calibri"/>
            </a:endParaRPr>
          </a:p>
        </p:txBody>
      </p:sp>
      <p:sp>
        <p:nvSpPr>
          <p:cNvPr id="35" name="Google Shape;35;p1"/>
          <p:cNvSpPr txBox="1"/>
          <p:nvPr/>
        </p:nvSpPr>
        <p:spPr>
          <a:xfrm>
            <a:off x="640080" y="539496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400"/>
              <a:buFont typeface="Calibri"/>
              <a:buNone/>
            </a:pPr>
            <a:r>
              <a:rPr b="1" lang="en-US" sz="1400">
                <a:solidFill>
                  <a:srgbClr val="FFFFFF"/>
                </a:solidFill>
                <a:latin typeface="Calibri"/>
                <a:ea typeface="Calibri"/>
                <a:cs typeface="Calibri"/>
                <a:sym typeface="Calibri"/>
              </a:rPr>
              <a:t>Felipe Ahumada Silva – Francisca Carrasco Lozano</a:t>
            </a:r>
            <a:endParaRPr sz="1400">
              <a:solidFill>
                <a:schemeClr val="dk1"/>
              </a:solidFill>
              <a:latin typeface="Calibri"/>
              <a:ea typeface="Calibri"/>
              <a:cs typeface="Calibri"/>
              <a:sym typeface="Calibri"/>
            </a:endParaRPr>
          </a:p>
        </p:txBody>
      </p:sp>
      <p:sp>
        <p:nvSpPr>
          <p:cNvPr id="36" name="Google Shape;36;p1"/>
          <p:cNvSpPr txBox="1"/>
          <p:nvPr/>
        </p:nvSpPr>
        <p:spPr>
          <a:xfrm>
            <a:off x="640080" y="5687568"/>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A69A"/>
              </a:buClr>
              <a:buSzPts val="1100"/>
              <a:buFont typeface="Calibri"/>
              <a:buNone/>
            </a:pPr>
            <a:r>
              <a:rPr lang="en-US" sz="1100">
                <a:solidFill>
                  <a:srgbClr val="8FA69A"/>
                </a:solidFill>
                <a:latin typeface="Calibri"/>
                <a:ea typeface="Calibri"/>
                <a:cs typeface="Calibri"/>
                <a:sym typeface="Calibri"/>
              </a:rPr>
              <a:t>Duoc UC</a:t>
            </a:r>
            <a:endParaRPr sz="1100">
              <a:solidFill>
                <a:schemeClr val="dk1"/>
              </a:solidFill>
              <a:latin typeface="Calibri"/>
              <a:ea typeface="Calibri"/>
              <a:cs typeface="Calibri"/>
              <a:sym typeface="Calibri"/>
            </a:endParaRPr>
          </a:p>
        </p:txBody>
      </p:sp>
      <p:pic>
        <p:nvPicPr>
          <p:cNvPr descr="Archivo:Logo DuocUC.svg - Wikipedia, la enciclopedia libre" id="37" name="Google Shape;37;p1"/>
          <p:cNvPicPr preferRelativeResize="0"/>
          <p:nvPr/>
        </p:nvPicPr>
        <p:blipFill rotWithShape="1">
          <a:blip r:embed="rId3">
            <a:alphaModFix/>
          </a:blip>
          <a:srcRect b="0" l="0" r="0" t="0"/>
          <a:stretch/>
        </p:blipFill>
        <p:spPr>
          <a:xfrm>
            <a:off x="640080" y="388959"/>
            <a:ext cx="2639992" cy="648998"/>
          </a:xfrm>
          <a:prstGeom prst="rect">
            <a:avLst/>
          </a:prstGeom>
          <a:noFill/>
          <a:ln>
            <a:noFill/>
          </a:ln>
        </p:spPr>
      </p:pic>
      <p:pic>
        <p:nvPicPr>
          <p:cNvPr descr="Archivo:Spotify logo with text.svg - Wikipedia, la enciclopedia libre" id="38" name="Google Shape;38;p1"/>
          <p:cNvPicPr preferRelativeResize="0"/>
          <p:nvPr/>
        </p:nvPicPr>
        <p:blipFill rotWithShape="1">
          <a:blip r:embed="rId4">
            <a:alphaModFix/>
          </a:blip>
          <a:srcRect b="0" l="0" r="0" t="0"/>
          <a:stretch/>
        </p:blipFill>
        <p:spPr>
          <a:xfrm>
            <a:off x="8342715" y="1828800"/>
            <a:ext cx="2965704" cy="889711"/>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sp>
        <p:nvSpPr>
          <p:cNvPr id="44" name="Google Shape;44;p2"/>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PROBLEMA DE NEGOCIO</a:t>
            </a:r>
            <a:endParaRPr sz="1000">
              <a:solidFill>
                <a:schemeClr val="dk1"/>
              </a:solidFill>
              <a:latin typeface="Calibri"/>
              <a:ea typeface="Calibri"/>
              <a:cs typeface="Calibri"/>
              <a:sym typeface="Calibri"/>
            </a:endParaRPr>
          </a:p>
        </p:txBody>
      </p:sp>
      <p:sp>
        <p:nvSpPr>
          <p:cNvPr id="45" name="Google Shape;45;p2"/>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Hoy se prioriza por la fama del artista, no por la canción</a:t>
            </a:r>
            <a:endParaRPr sz="2600">
              <a:solidFill>
                <a:schemeClr val="dk1"/>
              </a:solidFill>
              <a:latin typeface="Calibri"/>
              <a:ea typeface="Calibri"/>
              <a:cs typeface="Calibri"/>
              <a:sym typeface="Calibri"/>
            </a:endParaRPr>
          </a:p>
        </p:txBody>
      </p:sp>
      <p:sp>
        <p:nvSpPr>
          <p:cNvPr id="46" name="Google Shape;46;p2"/>
          <p:cNvSpPr/>
          <p:nvPr/>
        </p:nvSpPr>
        <p:spPr>
          <a:xfrm>
            <a:off x="640080" y="1965960"/>
            <a:ext cx="5120640" cy="338328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 name="Google Shape;47;p2"/>
          <p:cNvSpPr txBox="1"/>
          <p:nvPr/>
        </p:nvSpPr>
        <p:spPr>
          <a:xfrm>
            <a:off x="1051560" y="2331720"/>
            <a:ext cx="42976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050"/>
              <a:buFont typeface="Calibri"/>
              <a:buNone/>
            </a:pPr>
            <a:r>
              <a:rPr b="1" lang="en-US" sz="1050">
                <a:solidFill>
                  <a:srgbClr val="767676"/>
                </a:solidFill>
                <a:latin typeface="Calibri"/>
                <a:ea typeface="Calibri"/>
                <a:cs typeface="Calibri"/>
                <a:sym typeface="Calibri"/>
              </a:rPr>
              <a:t>SITUACIÓN</a:t>
            </a:r>
            <a:endParaRPr sz="1050">
              <a:solidFill>
                <a:schemeClr val="dk1"/>
              </a:solidFill>
              <a:latin typeface="Calibri"/>
              <a:ea typeface="Calibri"/>
              <a:cs typeface="Calibri"/>
              <a:sym typeface="Calibri"/>
            </a:endParaRPr>
          </a:p>
        </p:txBody>
      </p:sp>
      <p:sp>
        <p:nvSpPr>
          <p:cNvPr id="48" name="Google Shape;48;p2"/>
          <p:cNvSpPr txBox="1"/>
          <p:nvPr/>
        </p:nvSpPr>
        <p:spPr>
          <a:xfrm>
            <a:off x="1051560" y="2651760"/>
            <a:ext cx="4297680" cy="7772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C1C1C"/>
              </a:buClr>
              <a:buSzPts val="1900"/>
              <a:buFont typeface="Cambria"/>
              <a:buNone/>
            </a:pPr>
            <a:r>
              <a:rPr lang="en-US" sz="1900">
                <a:solidFill>
                  <a:srgbClr val="1C1C1C"/>
                </a:solidFill>
                <a:latin typeface="Cambria"/>
                <a:ea typeface="Cambria"/>
                <a:cs typeface="Cambria"/>
                <a:sym typeface="Cambria"/>
              </a:rPr>
              <a:t>Hay que decidir en qué canciones invertir promoción.</a:t>
            </a:r>
            <a:endParaRPr sz="1900">
              <a:solidFill>
                <a:schemeClr val="dk1"/>
              </a:solidFill>
              <a:latin typeface="Calibri"/>
              <a:ea typeface="Calibri"/>
              <a:cs typeface="Calibri"/>
              <a:sym typeface="Calibri"/>
            </a:endParaRPr>
          </a:p>
        </p:txBody>
      </p:sp>
      <p:sp>
        <p:nvSpPr>
          <p:cNvPr id="49" name="Google Shape;49;p2"/>
          <p:cNvSpPr txBox="1"/>
          <p:nvPr/>
        </p:nvSpPr>
        <p:spPr>
          <a:xfrm>
            <a:off x="1051560" y="3657600"/>
            <a:ext cx="42976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050"/>
              <a:buFont typeface="Calibri"/>
              <a:buNone/>
            </a:pPr>
            <a:r>
              <a:rPr b="1" lang="en-US" sz="1050">
                <a:solidFill>
                  <a:srgbClr val="C0392B"/>
                </a:solidFill>
                <a:latin typeface="Calibri"/>
                <a:ea typeface="Calibri"/>
                <a:cs typeface="Calibri"/>
                <a:sym typeface="Calibri"/>
              </a:rPr>
              <a:t>COMPLICACIÓN</a:t>
            </a:r>
            <a:endParaRPr sz="1050">
              <a:solidFill>
                <a:schemeClr val="dk1"/>
              </a:solidFill>
              <a:latin typeface="Calibri"/>
              <a:ea typeface="Calibri"/>
              <a:cs typeface="Calibri"/>
              <a:sym typeface="Calibri"/>
            </a:endParaRPr>
          </a:p>
        </p:txBody>
      </p:sp>
      <p:sp>
        <p:nvSpPr>
          <p:cNvPr id="50" name="Google Shape;50;p2"/>
          <p:cNvSpPr txBox="1"/>
          <p:nvPr/>
        </p:nvSpPr>
        <p:spPr>
          <a:xfrm>
            <a:off x="1051560" y="3977640"/>
            <a:ext cx="4297680" cy="7772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C1C1C"/>
              </a:buClr>
              <a:buSzPts val="1900"/>
              <a:buFont typeface="Cambria"/>
              <a:buNone/>
            </a:pPr>
            <a:r>
              <a:rPr lang="en-US" sz="1900">
                <a:solidFill>
                  <a:srgbClr val="1C1C1C"/>
                </a:solidFill>
                <a:latin typeface="Cambria"/>
                <a:ea typeface="Cambria"/>
                <a:cs typeface="Cambria"/>
                <a:sym typeface="Cambria"/>
              </a:rPr>
              <a:t>El artista nuevo no tiene trayectoria que mostrar.</a:t>
            </a:r>
            <a:endParaRPr sz="1900">
              <a:solidFill>
                <a:schemeClr val="dk1"/>
              </a:solidFill>
              <a:latin typeface="Calibri"/>
              <a:ea typeface="Calibri"/>
              <a:cs typeface="Calibri"/>
              <a:sym typeface="Calibri"/>
            </a:endParaRPr>
          </a:p>
        </p:txBody>
      </p:sp>
      <p:sp>
        <p:nvSpPr>
          <p:cNvPr id="51" name="Google Shape;51;p2"/>
          <p:cNvSpPr/>
          <p:nvPr/>
        </p:nvSpPr>
        <p:spPr>
          <a:xfrm>
            <a:off x="6126480" y="1965960"/>
            <a:ext cx="5422392" cy="338328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 name="Google Shape;52;p2"/>
          <p:cNvSpPr txBox="1"/>
          <p:nvPr/>
        </p:nvSpPr>
        <p:spPr>
          <a:xfrm>
            <a:off x="6537960" y="2331720"/>
            <a:ext cx="4572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1050"/>
              <a:buFont typeface="Calibri"/>
              <a:buNone/>
            </a:pPr>
            <a:r>
              <a:rPr b="1" lang="en-US" sz="1050">
                <a:solidFill>
                  <a:srgbClr val="18A558"/>
                </a:solidFill>
                <a:latin typeface="Calibri"/>
                <a:ea typeface="Calibri"/>
                <a:cs typeface="Calibri"/>
                <a:sym typeface="Calibri"/>
              </a:rPr>
              <a:t>PREGUNTA</a:t>
            </a:r>
            <a:endParaRPr sz="1050">
              <a:solidFill>
                <a:schemeClr val="dk1"/>
              </a:solidFill>
              <a:latin typeface="Calibri"/>
              <a:ea typeface="Calibri"/>
              <a:cs typeface="Calibri"/>
              <a:sym typeface="Calibri"/>
            </a:endParaRPr>
          </a:p>
        </p:txBody>
      </p:sp>
      <p:sp>
        <p:nvSpPr>
          <p:cNvPr id="53" name="Google Shape;53;p2"/>
          <p:cNvSpPr txBox="1"/>
          <p:nvPr/>
        </p:nvSpPr>
        <p:spPr>
          <a:xfrm>
            <a:off x="6537960" y="2743200"/>
            <a:ext cx="4617720" cy="1645920"/>
          </a:xfrm>
          <a:prstGeom prst="rect">
            <a:avLst/>
          </a:prstGeom>
          <a:noFill/>
          <a:ln>
            <a:noFill/>
          </a:ln>
        </p:spPr>
        <p:txBody>
          <a:bodyPr anchorCtr="0" anchor="ctr" bIns="0" lIns="0" spcFirstLastPara="1" rIns="0" wrap="square" tIns="0">
            <a:noAutofit/>
          </a:bodyPr>
          <a:lstStyle/>
          <a:p>
            <a:pPr indent="0" lvl="0" marL="0" marR="0" rtl="0" algn="l">
              <a:lnSpc>
                <a:spcPct val="108000"/>
              </a:lnSpc>
              <a:spcBef>
                <a:spcPts val="0"/>
              </a:spcBef>
              <a:spcAft>
                <a:spcPts val="0"/>
              </a:spcAft>
              <a:buClr>
                <a:srgbClr val="FFFFFF"/>
              </a:buClr>
              <a:buSzPts val="2800"/>
              <a:buFont typeface="Cambria"/>
              <a:buNone/>
            </a:pPr>
            <a:r>
              <a:rPr b="1" lang="en-US" sz="2800">
                <a:solidFill>
                  <a:srgbClr val="FFFFFF"/>
                </a:solidFill>
                <a:latin typeface="Cambria"/>
                <a:ea typeface="Cambria"/>
                <a:cs typeface="Cambria"/>
                <a:sym typeface="Cambria"/>
              </a:rPr>
              <a:t>¿Cuánta popularidad explica la canción misma?</a:t>
            </a:r>
            <a:endParaRPr sz="2800">
              <a:solidFill>
                <a:schemeClr val="dk1"/>
              </a:solidFill>
              <a:latin typeface="Calibri"/>
              <a:ea typeface="Calibri"/>
              <a:cs typeface="Calibri"/>
              <a:sym typeface="Calibri"/>
            </a:endParaRPr>
          </a:p>
        </p:txBody>
      </p:sp>
      <p:sp>
        <p:nvSpPr>
          <p:cNvPr id="54" name="Google Shape;54;p2"/>
          <p:cNvSpPr txBox="1"/>
          <p:nvPr/>
        </p:nvSpPr>
        <p:spPr>
          <a:xfrm>
            <a:off x="6537960" y="4434840"/>
            <a:ext cx="4617720" cy="5486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A9BAB0"/>
              </a:buClr>
              <a:buSzPts val="1350"/>
              <a:buFont typeface="Calibri"/>
              <a:buNone/>
            </a:pPr>
            <a:r>
              <a:rPr lang="en-US" sz="1350">
                <a:solidFill>
                  <a:srgbClr val="A9BAB0"/>
                </a:solidFill>
                <a:latin typeface="Calibri"/>
                <a:ea typeface="Calibri"/>
                <a:cs typeface="Calibri"/>
                <a:sym typeface="Calibri"/>
              </a:rPr>
              <a:t>Su sonido y su género, con independencia de quién la interpreta.</a:t>
            </a:r>
            <a:endParaRPr sz="135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sp>
        <p:nvSpPr>
          <p:cNvPr id="60" name="Google Shape;60;p3"/>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OBJETIVOS</a:t>
            </a:r>
            <a:endParaRPr sz="1000">
              <a:solidFill>
                <a:schemeClr val="dk1"/>
              </a:solidFill>
              <a:latin typeface="Calibri"/>
              <a:ea typeface="Calibri"/>
              <a:cs typeface="Calibri"/>
              <a:sym typeface="Calibri"/>
            </a:endParaRPr>
          </a:p>
        </p:txBody>
      </p:sp>
      <p:sp>
        <p:nvSpPr>
          <p:cNvPr id="61" name="Google Shape;61;p3"/>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Cuatro objetivos, los cuatro cubiertos en esta entrega</a:t>
            </a:r>
            <a:endParaRPr sz="2600">
              <a:solidFill>
                <a:schemeClr val="dk1"/>
              </a:solidFill>
              <a:latin typeface="Calibri"/>
              <a:ea typeface="Calibri"/>
              <a:cs typeface="Calibri"/>
              <a:sym typeface="Calibri"/>
            </a:endParaRPr>
          </a:p>
        </p:txBody>
      </p:sp>
      <p:sp>
        <p:nvSpPr>
          <p:cNvPr id="62" name="Google Shape;62;p3"/>
          <p:cNvSpPr/>
          <p:nvPr/>
        </p:nvSpPr>
        <p:spPr>
          <a:xfrm>
            <a:off x="640080" y="2011680"/>
            <a:ext cx="5317236" cy="137160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3" name="Google Shape;63;p3"/>
          <p:cNvSpPr txBox="1"/>
          <p:nvPr/>
        </p:nvSpPr>
        <p:spPr>
          <a:xfrm>
            <a:off x="1005840" y="2331720"/>
            <a:ext cx="7315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200"/>
              <a:buFont typeface="Cambria"/>
              <a:buNone/>
            </a:pPr>
            <a:r>
              <a:rPr b="1" lang="en-US" sz="2200">
                <a:solidFill>
                  <a:srgbClr val="18A558"/>
                </a:solidFill>
                <a:latin typeface="Cambria"/>
                <a:ea typeface="Cambria"/>
                <a:cs typeface="Cambria"/>
                <a:sym typeface="Cambria"/>
              </a:rPr>
              <a:t>01</a:t>
            </a:r>
            <a:endParaRPr sz="2200">
              <a:solidFill>
                <a:schemeClr val="dk1"/>
              </a:solidFill>
              <a:latin typeface="Calibri"/>
              <a:ea typeface="Calibri"/>
              <a:cs typeface="Calibri"/>
              <a:sym typeface="Calibri"/>
            </a:endParaRPr>
          </a:p>
        </p:txBody>
      </p:sp>
      <p:sp>
        <p:nvSpPr>
          <p:cNvPr id="64" name="Google Shape;64;p3"/>
          <p:cNvSpPr txBox="1"/>
          <p:nvPr/>
        </p:nvSpPr>
        <p:spPr>
          <a:xfrm>
            <a:off x="1783080" y="2313432"/>
            <a:ext cx="2939796"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1C1C"/>
              </a:buClr>
              <a:buSzPts val="1700"/>
              <a:buFont typeface="Cambria"/>
              <a:buNone/>
            </a:pPr>
            <a:r>
              <a:rPr b="1" lang="en-US" sz="1700">
                <a:solidFill>
                  <a:srgbClr val="1C1C1C"/>
                </a:solidFill>
                <a:latin typeface="Cambria"/>
                <a:ea typeface="Cambria"/>
                <a:cs typeface="Cambria"/>
                <a:sym typeface="Cambria"/>
              </a:rPr>
              <a:t>Calidad y estructura del dataset</a:t>
            </a:r>
            <a:endParaRPr sz="1700">
              <a:solidFill>
                <a:schemeClr val="dk1"/>
              </a:solidFill>
              <a:latin typeface="Calibri"/>
              <a:ea typeface="Calibri"/>
              <a:cs typeface="Calibri"/>
              <a:sym typeface="Calibri"/>
            </a:endParaRPr>
          </a:p>
        </p:txBody>
      </p:sp>
      <p:sp>
        <p:nvSpPr>
          <p:cNvPr id="65" name="Google Shape;65;p3"/>
          <p:cNvSpPr/>
          <p:nvPr/>
        </p:nvSpPr>
        <p:spPr>
          <a:xfrm>
            <a:off x="4814316" y="2542032"/>
            <a:ext cx="868680" cy="310896"/>
          </a:xfrm>
          <a:prstGeom prst="roundRect">
            <a:avLst>
              <a:gd fmla="val 47059" name="adj"/>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6" name="Google Shape;66;p3"/>
          <p:cNvSpPr txBox="1"/>
          <p:nvPr/>
        </p:nvSpPr>
        <p:spPr>
          <a:xfrm>
            <a:off x="4814316" y="2606040"/>
            <a:ext cx="86868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Cubierto</a:t>
            </a:r>
            <a:endParaRPr sz="1000">
              <a:solidFill>
                <a:schemeClr val="dk1"/>
              </a:solidFill>
              <a:latin typeface="Calibri"/>
              <a:ea typeface="Calibri"/>
              <a:cs typeface="Calibri"/>
              <a:sym typeface="Calibri"/>
            </a:endParaRPr>
          </a:p>
        </p:txBody>
      </p:sp>
      <p:sp>
        <p:nvSpPr>
          <p:cNvPr id="67" name="Google Shape;67;p3"/>
          <p:cNvSpPr/>
          <p:nvPr/>
        </p:nvSpPr>
        <p:spPr>
          <a:xfrm>
            <a:off x="6231636" y="2011680"/>
            <a:ext cx="5317236" cy="137160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68" name="Google Shape;68;p3"/>
          <p:cNvSpPr txBox="1"/>
          <p:nvPr/>
        </p:nvSpPr>
        <p:spPr>
          <a:xfrm>
            <a:off x="6597396" y="2331720"/>
            <a:ext cx="7315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200"/>
              <a:buFont typeface="Cambria"/>
              <a:buNone/>
            </a:pPr>
            <a:r>
              <a:rPr b="1" lang="en-US" sz="2200">
                <a:solidFill>
                  <a:srgbClr val="18A558"/>
                </a:solidFill>
                <a:latin typeface="Cambria"/>
                <a:ea typeface="Cambria"/>
                <a:cs typeface="Cambria"/>
                <a:sym typeface="Cambria"/>
              </a:rPr>
              <a:t>02</a:t>
            </a:r>
            <a:endParaRPr sz="2200">
              <a:solidFill>
                <a:schemeClr val="dk1"/>
              </a:solidFill>
              <a:latin typeface="Calibri"/>
              <a:ea typeface="Calibri"/>
              <a:cs typeface="Calibri"/>
              <a:sym typeface="Calibri"/>
            </a:endParaRPr>
          </a:p>
        </p:txBody>
      </p:sp>
      <p:sp>
        <p:nvSpPr>
          <p:cNvPr id="69" name="Google Shape;69;p3"/>
          <p:cNvSpPr txBox="1"/>
          <p:nvPr/>
        </p:nvSpPr>
        <p:spPr>
          <a:xfrm>
            <a:off x="7374636" y="2313432"/>
            <a:ext cx="2939796"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1C1C"/>
              </a:buClr>
              <a:buSzPts val="1700"/>
              <a:buFont typeface="Cambria"/>
              <a:buNone/>
            </a:pPr>
            <a:r>
              <a:rPr b="1" lang="en-US" sz="1700">
                <a:solidFill>
                  <a:srgbClr val="1C1C1C"/>
                </a:solidFill>
                <a:latin typeface="Cambria"/>
                <a:ea typeface="Cambria"/>
                <a:cs typeface="Cambria"/>
                <a:sym typeface="Cambria"/>
              </a:rPr>
              <a:t>Qué atributos se asocian con la popularidad</a:t>
            </a:r>
            <a:endParaRPr sz="1700">
              <a:solidFill>
                <a:schemeClr val="dk1"/>
              </a:solidFill>
              <a:latin typeface="Calibri"/>
              <a:ea typeface="Calibri"/>
              <a:cs typeface="Calibri"/>
              <a:sym typeface="Calibri"/>
            </a:endParaRPr>
          </a:p>
        </p:txBody>
      </p:sp>
      <p:sp>
        <p:nvSpPr>
          <p:cNvPr id="70" name="Google Shape;70;p3"/>
          <p:cNvSpPr/>
          <p:nvPr/>
        </p:nvSpPr>
        <p:spPr>
          <a:xfrm>
            <a:off x="10405872" y="2542032"/>
            <a:ext cx="868680" cy="310896"/>
          </a:xfrm>
          <a:prstGeom prst="roundRect">
            <a:avLst>
              <a:gd fmla="val 47059" name="adj"/>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1" name="Google Shape;71;p3"/>
          <p:cNvSpPr txBox="1"/>
          <p:nvPr/>
        </p:nvSpPr>
        <p:spPr>
          <a:xfrm>
            <a:off x="10405872" y="2606040"/>
            <a:ext cx="86868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Cubierto</a:t>
            </a:r>
            <a:endParaRPr sz="1000">
              <a:solidFill>
                <a:schemeClr val="dk1"/>
              </a:solidFill>
              <a:latin typeface="Calibri"/>
              <a:ea typeface="Calibri"/>
              <a:cs typeface="Calibri"/>
              <a:sym typeface="Calibri"/>
            </a:endParaRPr>
          </a:p>
        </p:txBody>
      </p:sp>
      <p:sp>
        <p:nvSpPr>
          <p:cNvPr id="72" name="Google Shape;72;p3"/>
          <p:cNvSpPr/>
          <p:nvPr/>
        </p:nvSpPr>
        <p:spPr>
          <a:xfrm>
            <a:off x="640080" y="3657600"/>
            <a:ext cx="5317236" cy="137160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3" name="Google Shape;73;p3"/>
          <p:cNvSpPr txBox="1"/>
          <p:nvPr/>
        </p:nvSpPr>
        <p:spPr>
          <a:xfrm>
            <a:off x="1005840" y="3977640"/>
            <a:ext cx="7315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200"/>
              <a:buFont typeface="Cambria"/>
              <a:buNone/>
            </a:pPr>
            <a:r>
              <a:rPr b="1" lang="en-US" sz="2200">
                <a:solidFill>
                  <a:srgbClr val="18A558"/>
                </a:solidFill>
                <a:latin typeface="Cambria"/>
                <a:ea typeface="Cambria"/>
                <a:cs typeface="Cambria"/>
                <a:sym typeface="Cambria"/>
              </a:rPr>
              <a:t>03</a:t>
            </a:r>
            <a:endParaRPr sz="2200">
              <a:solidFill>
                <a:schemeClr val="dk1"/>
              </a:solidFill>
              <a:latin typeface="Calibri"/>
              <a:ea typeface="Calibri"/>
              <a:cs typeface="Calibri"/>
              <a:sym typeface="Calibri"/>
            </a:endParaRPr>
          </a:p>
        </p:txBody>
      </p:sp>
      <p:sp>
        <p:nvSpPr>
          <p:cNvPr id="74" name="Google Shape;74;p3"/>
          <p:cNvSpPr txBox="1"/>
          <p:nvPr/>
        </p:nvSpPr>
        <p:spPr>
          <a:xfrm>
            <a:off x="1783080" y="3959352"/>
            <a:ext cx="2939796"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1C1C"/>
              </a:buClr>
              <a:buSzPts val="1700"/>
              <a:buFont typeface="Cambria"/>
              <a:buNone/>
            </a:pPr>
            <a:r>
              <a:rPr b="1" lang="en-US" sz="1700">
                <a:solidFill>
                  <a:srgbClr val="1C1C1C"/>
                </a:solidFill>
                <a:latin typeface="Cambria"/>
                <a:ea typeface="Cambria"/>
                <a:cs typeface="Cambria"/>
                <a:sym typeface="Cambria"/>
              </a:rPr>
              <a:t>Pipeline de preparación reproducible</a:t>
            </a:r>
            <a:endParaRPr sz="1700">
              <a:solidFill>
                <a:schemeClr val="dk1"/>
              </a:solidFill>
              <a:latin typeface="Calibri"/>
              <a:ea typeface="Calibri"/>
              <a:cs typeface="Calibri"/>
              <a:sym typeface="Calibri"/>
            </a:endParaRPr>
          </a:p>
        </p:txBody>
      </p:sp>
      <p:sp>
        <p:nvSpPr>
          <p:cNvPr id="75" name="Google Shape;75;p3"/>
          <p:cNvSpPr/>
          <p:nvPr/>
        </p:nvSpPr>
        <p:spPr>
          <a:xfrm>
            <a:off x="4814316" y="4187952"/>
            <a:ext cx="868680" cy="310896"/>
          </a:xfrm>
          <a:prstGeom prst="roundRect">
            <a:avLst>
              <a:gd fmla="val 47059" name="adj"/>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6" name="Google Shape;76;p3"/>
          <p:cNvSpPr txBox="1"/>
          <p:nvPr/>
        </p:nvSpPr>
        <p:spPr>
          <a:xfrm>
            <a:off x="4814316" y="4251960"/>
            <a:ext cx="86868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Cubierto</a:t>
            </a:r>
            <a:endParaRPr sz="1000">
              <a:solidFill>
                <a:schemeClr val="dk1"/>
              </a:solidFill>
              <a:latin typeface="Calibri"/>
              <a:ea typeface="Calibri"/>
              <a:cs typeface="Calibri"/>
              <a:sym typeface="Calibri"/>
            </a:endParaRPr>
          </a:p>
        </p:txBody>
      </p:sp>
      <p:sp>
        <p:nvSpPr>
          <p:cNvPr id="77" name="Google Shape;77;p3"/>
          <p:cNvSpPr/>
          <p:nvPr/>
        </p:nvSpPr>
        <p:spPr>
          <a:xfrm>
            <a:off x="6231636" y="3657600"/>
            <a:ext cx="5317236" cy="137160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78" name="Google Shape;78;p3"/>
          <p:cNvSpPr txBox="1"/>
          <p:nvPr/>
        </p:nvSpPr>
        <p:spPr>
          <a:xfrm>
            <a:off x="6597396" y="3977640"/>
            <a:ext cx="73152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200"/>
              <a:buFont typeface="Cambria"/>
              <a:buNone/>
            </a:pPr>
            <a:r>
              <a:rPr b="1" lang="en-US" sz="2200">
                <a:solidFill>
                  <a:srgbClr val="18A558"/>
                </a:solidFill>
                <a:latin typeface="Cambria"/>
                <a:ea typeface="Cambria"/>
                <a:cs typeface="Cambria"/>
                <a:sym typeface="Cambria"/>
              </a:rPr>
              <a:t>04</a:t>
            </a:r>
            <a:endParaRPr sz="2200">
              <a:solidFill>
                <a:schemeClr val="dk1"/>
              </a:solidFill>
              <a:latin typeface="Calibri"/>
              <a:ea typeface="Calibri"/>
              <a:cs typeface="Calibri"/>
              <a:sym typeface="Calibri"/>
            </a:endParaRPr>
          </a:p>
        </p:txBody>
      </p:sp>
      <p:sp>
        <p:nvSpPr>
          <p:cNvPr id="79" name="Google Shape;79;p3"/>
          <p:cNvSpPr txBox="1"/>
          <p:nvPr/>
        </p:nvSpPr>
        <p:spPr>
          <a:xfrm>
            <a:off x="7374636" y="3959352"/>
            <a:ext cx="2939796"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C1C1C"/>
              </a:buClr>
              <a:buSzPts val="1700"/>
              <a:buFont typeface="Cambria"/>
              <a:buNone/>
            </a:pPr>
            <a:r>
              <a:rPr b="1" lang="en-US" sz="1700">
                <a:solidFill>
                  <a:srgbClr val="1C1C1C"/>
                </a:solidFill>
                <a:latin typeface="Cambria"/>
                <a:ea typeface="Cambria"/>
                <a:cs typeface="Cambria"/>
                <a:sym typeface="Cambria"/>
              </a:rPr>
              <a:t>Sesgos y limitaciones éticas</a:t>
            </a:r>
            <a:endParaRPr sz="1700">
              <a:solidFill>
                <a:schemeClr val="dk1"/>
              </a:solidFill>
              <a:latin typeface="Calibri"/>
              <a:ea typeface="Calibri"/>
              <a:cs typeface="Calibri"/>
              <a:sym typeface="Calibri"/>
            </a:endParaRPr>
          </a:p>
        </p:txBody>
      </p:sp>
      <p:sp>
        <p:nvSpPr>
          <p:cNvPr id="80" name="Google Shape;80;p3"/>
          <p:cNvSpPr/>
          <p:nvPr/>
        </p:nvSpPr>
        <p:spPr>
          <a:xfrm>
            <a:off x="10405872" y="4187952"/>
            <a:ext cx="868680" cy="310896"/>
          </a:xfrm>
          <a:prstGeom prst="roundRect">
            <a:avLst>
              <a:gd fmla="val 47059" name="adj"/>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81" name="Google Shape;81;p3"/>
          <p:cNvSpPr txBox="1"/>
          <p:nvPr/>
        </p:nvSpPr>
        <p:spPr>
          <a:xfrm>
            <a:off x="10405872" y="4251960"/>
            <a:ext cx="868680" cy="21945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Cubierto</a:t>
            </a:r>
            <a:endParaRPr sz="10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6" name="Shape 86"/>
        <p:cNvGrpSpPr/>
        <p:nvPr/>
      </p:nvGrpSpPr>
      <p:grpSpPr>
        <a:xfrm>
          <a:off x="0" y="0"/>
          <a:ext cx="0" cy="0"/>
          <a:chOff x="0" y="0"/>
          <a:chExt cx="0" cy="0"/>
        </a:xfrm>
      </p:grpSpPr>
      <p:sp>
        <p:nvSpPr>
          <p:cNvPr id="87" name="Google Shape;87;p4"/>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METODOLOGÍA</a:t>
            </a:r>
            <a:endParaRPr sz="1000">
              <a:solidFill>
                <a:schemeClr val="dk1"/>
              </a:solidFill>
              <a:latin typeface="Calibri"/>
              <a:ea typeface="Calibri"/>
              <a:cs typeface="Calibri"/>
              <a:sym typeface="Calibri"/>
            </a:endParaRPr>
          </a:p>
        </p:txBody>
      </p:sp>
      <p:sp>
        <p:nvSpPr>
          <p:cNvPr id="88" name="Google Shape;88;p4"/>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CRISP-DM: esta entrega cierra cinco de las seis fases</a:t>
            </a:r>
            <a:endParaRPr sz="2600">
              <a:solidFill>
                <a:schemeClr val="dk1"/>
              </a:solidFill>
              <a:latin typeface="Calibri"/>
              <a:ea typeface="Calibri"/>
              <a:cs typeface="Calibri"/>
              <a:sym typeface="Calibri"/>
            </a:endParaRPr>
          </a:p>
        </p:txBody>
      </p:sp>
      <p:sp>
        <p:nvSpPr>
          <p:cNvPr id="89" name="Google Shape;89;p4"/>
          <p:cNvSpPr/>
          <p:nvPr/>
        </p:nvSpPr>
        <p:spPr>
          <a:xfrm>
            <a:off x="640080" y="2148840"/>
            <a:ext cx="1635252" cy="228600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0" name="Google Shape;90;p4"/>
          <p:cNvSpPr txBox="1"/>
          <p:nvPr/>
        </p:nvSpPr>
        <p:spPr>
          <a:xfrm>
            <a:off x="868680" y="2423160"/>
            <a:ext cx="1178052"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1000"/>
              <a:buFont typeface="Calibri"/>
              <a:buNone/>
            </a:pPr>
            <a:r>
              <a:rPr b="1" lang="en-US" sz="1000">
                <a:solidFill>
                  <a:srgbClr val="18A558"/>
                </a:solidFill>
                <a:latin typeface="Calibri"/>
                <a:ea typeface="Calibri"/>
                <a:cs typeface="Calibri"/>
                <a:sym typeface="Calibri"/>
              </a:rPr>
              <a:t>FASE 1</a:t>
            </a:r>
            <a:endParaRPr sz="1000">
              <a:solidFill>
                <a:schemeClr val="dk1"/>
              </a:solidFill>
              <a:latin typeface="Calibri"/>
              <a:ea typeface="Calibri"/>
              <a:cs typeface="Calibri"/>
              <a:sym typeface="Calibri"/>
            </a:endParaRPr>
          </a:p>
        </p:txBody>
      </p:sp>
      <p:sp>
        <p:nvSpPr>
          <p:cNvPr id="91" name="Google Shape;91;p4"/>
          <p:cNvSpPr txBox="1"/>
          <p:nvPr/>
        </p:nvSpPr>
        <p:spPr>
          <a:xfrm>
            <a:off x="868679" y="2788920"/>
            <a:ext cx="1292629" cy="1005840"/>
          </a:xfrm>
          <a:prstGeom prst="rect">
            <a:avLst/>
          </a:prstGeom>
          <a:noFill/>
          <a:ln>
            <a:noFill/>
          </a:ln>
        </p:spPr>
        <p:txBody>
          <a:bodyPr anchorCtr="0" anchor="ctr" bIns="0" lIns="0" spcFirstLastPara="1" rIns="0" wrap="square" tIns="0">
            <a:noAutofit/>
          </a:bodyPr>
          <a:lstStyle/>
          <a:p>
            <a:pPr indent="0" lvl="0" marL="0" marR="0" rtl="0" algn="l">
              <a:lnSpc>
                <a:spcPct val="104000"/>
              </a:lnSpc>
              <a:spcBef>
                <a:spcPts val="0"/>
              </a:spcBef>
              <a:spcAft>
                <a:spcPts val="0"/>
              </a:spcAft>
              <a:buClr>
                <a:srgbClr val="FFFFFF"/>
              </a:buClr>
              <a:buSzPts val="1600"/>
              <a:buFont typeface="Cambria"/>
              <a:buNone/>
            </a:pPr>
            <a:r>
              <a:rPr b="1" lang="en-US" sz="1600">
                <a:solidFill>
                  <a:srgbClr val="FFFFFF"/>
                </a:solidFill>
                <a:latin typeface="Cambria"/>
                <a:ea typeface="Cambria"/>
                <a:cs typeface="Cambria"/>
                <a:sym typeface="Cambria"/>
              </a:rPr>
              <a:t>Comprensión</a:t>
            </a:r>
            <a:endParaRPr sz="1600">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FFFFFF"/>
              </a:buClr>
              <a:buSzPts val="1600"/>
              <a:buFont typeface="Cambria"/>
              <a:buNone/>
            </a:pPr>
            <a:r>
              <a:rPr b="1" lang="en-US" sz="1600">
                <a:solidFill>
                  <a:srgbClr val="FFFFFF"/>
                </a:solidFill>
                <a:latin typeface="Cambria"/>
                <a:ea typeface="Cambria"/>
                <a:cs typeface="Cambria"/>
                <a:sym typeface="Cambria"/>
              </a:rPr>
              <a:t>del negocio</a:t>
            </a:r>
            <a:endParaRPr sz="1600">
              <a:solidFill>
                <a:schemeClr val="dk1"/>
              </a:solidFill>
              <a:latin typeface="Calibri"/>
              <a:ea typeface="Calibri"/>
              <a:cs typeface="Calibri"/>
              <a:sym typeface="Calibri"/>
            </a:endParaRPr>
          </a:p>
        </p:txBody>
      </p:sp>
      <p:sp>
        <p:nvSpPr>
          <p:cNvPr id="92" name="Google Shape;92;p4"/>
          <p:cNvSpPr txBox="1"/>
          <p:nvPr/>
        </p:nvSpPr>
        <p:spPr>
          <a:xfrm>
            <a:off x="2293620" y="3154680"/>
            <a:ext cx="1828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600"/>
              <a:buFont typeface="Calibri"/>
              <a:buNone/>
            </a:pPr>
            <a:r>
              <a:rPr lang="en-US" sz="1600">
                <a:solidFill>
                  <a:srgbClr val="AFAFAF"/>
                </a:solidFill>
                <a:latin typeface="Calibri"/>
                <a:ea typeface="Calibri"/>
                <a:cs typeface="Calibri"/>
                <a:sym typeface="Calibri"/>
              </a:rPr>
              <a:t>›</a:t>
            </a:r>
            <a:endParaRPr sz="1600">
              <a:solidFill>
                <a:schemeClr val="dk1"/>
              </a:solidFill>
              <a:latin typeface="Calibri"/>
              <a:ea typeface="Calibri"/>
              <a:cs typeface="Calibri"/>
              <a:sym typeface="Calibri"/>
            </a:endParaRPr>
          </a:p>
        </p:txBody>
      </p:sp>
      <p:sp>
        <p:nvSpPr>
          <p:cNvPr id="93" name="Google Shape;93;p4"/>
          <p:cNvSpPr/>
          <p:nvPr/>
        </p:nvSpPr>
        <p:spPr>
          <a:xfrm>
            <a:off x="2494788" y="2148840"/>
            <a:ext cx="1635252" cy="228600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4" name="Google Shape;94;p4"/>
          <p:cNvSpPr txBox="1"/>
          <p:nvPr/>
        </p:nvSpPr>
        <p:spPr>
          <a:xfrm>
            <a:off x="2723388" y="2423160"/>
            <a:ext cx="1178052"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1000"/>
              <a:buFont typeface="Calibri"/>
              <a:buNone/>
            </a:pPr>
            <a:r>
              <a:rPr b="1" lang="en-US" sz="1000">
                <a:solidFill>
                  <a:srgbClr val="18A558"/>
                </a:solidFill>
                <a:latin typeface="Calibri"/>
                <a:ea typeface="Calibri"/>
                <a:cs typeface="Calibri"/>
                <a:sym typeface="Calibri"/>
              </a:rPr>
              <a:t>FASE 2</a:t>
            </a:r>
            <a:endParaRPr sz="1000">
              <a:solidFill>
                <a:schemeClr val="dk1"/>
              </a:solidFill>
              <a:latin typeface="Calibri"/>
              <a:ea typeface="Calibri"/>
              <a:cs typeface="Calibri"/>
              <a:sym typeface="Calibri"/>
            </a:endParaRPr>
          </a:p>
        </p:txBody>
      </p:sp>
      <p:sp>
        <p:nvSpPr>
          <p:cNvPr id="95" name="Google Shape;95;p4"/>
          <p:cNvSpPr txBox="1"/>
          <p:nvPr/>
        </p:nvSpPr>
        <p:spPr>
          <a:xfrm>
            <a:off x="2723387" y="2788920"/>
            <a:ext cx="1308285" cy="1005840"/>
          </a:xfrm>
          <a:prstGeom prst="rect">
            <a:avLst/>
          </a:prstGeom>
          <a:noFill/>
          <a:ln>
            <a:noFill/>
          </a:ln>
        </p:spPr>
        <p:txBody>
          <a:bodyPr anchorCtr="0" anchor="ctr" bIns="0" lIns="0" spcFirstLastPara="1" rIns="0" wrap="square" tIns="0">
            <a:noAutofit/>
          </a:bodyPr>
          <a:lstStyle/>
          <a:p>
            <a:pPr indent="0" lvl="0" marL="0" marR="0" rtl="0" algn="l">
              <a:lnSpc>
                <a:spcPct val="104000"/>
              </a:lnSpc>
              <a:spcBef>
                <a:spcPts val="0"/>
              </a:spcBef>
              <a:spcAft>
                <a:spcPts val="0"/>
              </a:spcAft>
              <a:buClr>
                <a:srgbClr val="FFFFFF"/>
              </a:buClr>
              <a:buSzPts val="1600"/>
              <a:buFont typeface="Cambria"/>
              <a:buNone/>
            </a:pPr>
            <a:r>
              <a:rPr b="1" lang="en-US" sz="1600">
                <a:solidFill>
                  <a:srgbClr val="FFFFFF"/>
                </a:solidFill>
                <a:latin typeface="Cambria"/>
                <a:ea typeface="Cambria"/>
                <a:cs typeface="Cambria"/>
                <a:sym typeface="Cambria"/>
              </a:rPr>
              <a:t>Comprensión</a:t>
            </a:r>
            <a:endParaRPr sz="1600">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FFFFFF"/>
              </a:buClr>
              <a:buSzPts val="1600"/>
              <a:buFont typeface="Cambria"/>
              <a:buNone/>
            </a:pPr>
            <a:r>
              <a:rPr b="1" lang="en-US" sz="1600">
                <a:solidFill>
                  <a:srgbClr val="FFFFFF"/>
                </a:solidFill>
                <a:latin typeface="Cambria"/>
                <a:ea typeface="Cambria"/>
                <a:cs typeface="Cambria"/>
                <a:sym typeface="Cambria"/>
              </a:rPr>
              <a:t>de los datos</a:t>
            </a:r>
            <a:endParaRPr sz="1600">
              <a:solidFill>
                <a:schemeClr val="dk1"/>
              </a:solidFill>
              <a:latin typeface="Calibri"/>
              <a:ea typeface="Calibri"/>
              <a:cs typeface="Calibri"/>
              <a:sym typeface="Calibri"/>
            </a:endParaRPr>
          </a:p>
        </p:txBody>
      </p:sp>
      <p:sp>
        <p:nvSpPr>
          <p:cNvPr id="96" name="Google Shape;96;p4"/>
          <p:cNvSpPr txBox="1"/>
          <p:nvPr/>
        </p:nvSpPr>
        <p:spPr>
          <a:xfrm>
            <a:off x="4148328" y="3154680"/>
            <a:ext cx="1828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600"/>
              <a:buFont typeface="Calibri"/>
              <a:buNone/>
            </a:pPr>
            <a:r>
              <a:rPr lang="en-US" sz="1600">
                <a:solidFill>
                  <a:srgbClr val="AFAFAF"/>
                </a:solidFill>
                <a:latin typeface="Calibri"/>
                <a:ea typeface="Calibri"/>
                <a:cs typeface="Calibri"/>
                <a:sym typeface="Calibri"/>
              </a:rPr>
              <a:t>›</a:t>
            </a:r>
            <a:endParaRPr sz="1600">
              <a:solidFill>
                <a:schemeClr val="dk1"/>
              </a:solidFill>
              <a:latin typeface="Calibri"/>
              <a:ea typeface="Calibri"/>
              <a:cs typeface="Calibri"/>
              <a:sym typeface="Calibri"/>
            </a:endParaRPr>
          </a:p>
        </p:txBody>
      </p:sp>
      <p:sp>
        <p:nvSpPr>
          <p:cNvPr id="97" name="Google Shape;97;p4"/>
          <p:cNvSpPr/>
          <p:nvPr/>
        </p:nvSpPr>
        <p:spPr>
          <a:xfrm>
            <a:off x="4349496" y="2148840"/>
            <a:ext cx="1635252" cy="228600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98" name="Google Shape;98;p4"/>
          <p:cNvSpPr txBox="1"/>
          <p:nvPr/>
        </p:nvSpPr>
        <p:spPr>
          <a:xfrm>
            <a:off x="4578096" y="2423160"/>
            <a:ext cx="1178052"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1000"/>
              <a:buFont typeface="Calibri"/>
              <a:buNone/>
            </a:pPr>
            <a:r>
              <a:rPr b="1" lang="en-US" sz="1000">
                <a:solidFill>
                  <a:srgbClr val="18A558"/>
                </a:solidFill>
                <a:latin typeface="Calibri"/>
                <a:ea typeface="Calibri"/>
                <a:cs typeface="Calibri"/>
                <a:sym typeface="Calibri"/>
              </a:rPr>
              <a:t>FASE 3</a:t>
            </a:r>
            <a:endParaRPr sz="1000">
              <a:solidFill>
                <a:schemeClr val="dk1"/>
              </a:solidFill>
              <a:latin typeface="Calibri"/>
              <a:ea typeface="Calibri"/>
              <a:cs typeface="Calibri"/>
              <a:sym typeface="Calibri"/>
            </a:endParaRPr>
          </a:p>
        </p:txBody>
      </p:sp>
      <p:sp>
        <p:nvSpPr>
          <p:cNvPr id="99" name="Google Shape;99;p4"/>
          <p:cNvSpPr txBox="1"/>
          <p:nvPr/>
        </p:nvSpPr>
        <p:spPr>
          <a:xfrm>
            <a:off x="4578096" y="2788920"/>
            <a:ext cx="1178052" cy="1005840"/>
          </a:xfrm>
          <a:prstGeom prst="rect">
            <a:avLst/>
          </a:prstGeom>
          <a:noFill/>
          <a:ln>
            <a:noFill/>
          </a:ln>
        </p:spPr>
        <p:txBody>
          <a:bodyPr anchorCtr="0" anchor="ctr" bIns="0" lIns="0" spcFirstLastPara="1" rIns="0" wrap="square" tIns="0">
            <a:noAutofit/>
          </a:bodyPr>
          <a:lstStyle/>
          <a:p>
            <a:pPr indent="0" lvl="0" marL="0" marR="0" rtl="0" algn="l">
              <a:lnSpc>
                <a:spcPct val="104000"/>
              </a:lnSpc>
              <a:spcBef>
                <a:spcPts val="0"/>
              </a:spcBef>
              <a:spcAft>
                <a:spcPts val="0"/>
              </a:spcAft>
              <a:buClr>
                <a:srgbClr val="FFFFFF"/>
              </a:buClr>
              <a:buSzPts val="1600"/>
              <a:buFont typeface="Cambria"/>
              <a:buNone/>
            </a:pPr>
            <a:r>
              <a:rPr b="1" lang="en-US" sz="1600">
                <a:solidFill>
                  <a:srgbClr val="FFFFFF"/>
                </a:solidFill>
                <a:latin typeface="Cambria"/>
                <a:ea typeface="Cambria"/>
                <a:cs typeface="Cambria"/>
                <a:sym typeface="Cambria"/>
              </a:rPr>
              <a:t>Preparación</a:t>
            </a:r>
            <a:endParaRPr sz="1600">
              <a:solidFill>
                <a:schemeClr val="dk1"/>
              </a:solidFill>
              <a:latin typeface="Calibri"/>
              <a:ea typeface="Calibri"/>
              <a:cs typeface="Calibri"/>
              <a:sym typeface="Calibri"/>
            </a:endParaRPr>
          </a:p>
          <a:p>
            <a:pPr indent="0" lvl="0" marL="0" marR="0" rtl="0" algn="l">
              <a:lnSpc>
                <a:spcPct val="104000"/>
              </a:lnSpc>
              <a:spcBef>
                <a:spcPts val="0"/>
              </a:spcBef>
              <a:spcAft>
                <a:spcPts val="0"/>
              </a:spcAft>
              <a:buClr>
                <a:srgbClr val="FFFFFF"/>
              </a:buClr>
              <a:buSzPts val="1600"/>
              <a:buFont typeface="Cambria"/>
              <a:buNone/>
            </a:pPr>
            <a:r>
              <a:rPr b="1" lang="en-US" sz="1600">
                <a:solidFill>
                  <a:srgbClr val="FFFFFF"/>
                </a:solidFill>
                <a:latin typeface="Cambria"/>
                <a:ea typeface="Cambria"/>
                <a:cs typeface="Cambria"/>
                <a:sym typeface="Cambria"/>
              </a:rPr>
              <a:t>de los datos</a:t>
            </a:r>
            <a:endParaRPr sz="1600">
              <a:solidFill>
                <a:schemeClr val="dk1"/>
              </a:solidFill>
              <a:latin typeface="Calibri"/>
              <a:ea typeface="Calibri"/>
              <a:cs typeface="Calibri"/>
              <a:sym typeface="Calibri"/>
            </a:endParaRPr>
          </a:p>
        </p:txBody>
      </p:sp>
      <p:sp>
        <p:nvSpPr>
          <p:cNvPr id="100" name="Google Shape;100;p4"/>
          <p:cNvSpPr txBox="1"/>
          <p:nvPr/>
        </p:nvSpPr>
        <p:spPr>
          <a:xfrm>
            <a:off x="6003036" y="3154680"/>
            <a:ext cx="1828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600"/>
              <a:buFont typeface="Calibri"/>
              <a:buNone/>
            </a:pPr>
            <a:r>
              <a:rPr lang="en-US" sz="1600">
                <a:solidFill>
                  <a:srgbClr val="AFAFAF"/>
                </a:solidFill>
                <a:latin typeface="Calibri"/>
                <a:ea typeface="Calibri"/>
                <a:cs typeface="Calibri"/>
                <a:sym typeface="Calibri"/>
              </a:rPr>
              <a:t>›</a:t>
            </a:r>
            <a:endParaRPr sz="1600">
              <a:solidFill>
                <a:schemeClr val="dk1"/>
              </a:solidFill>
              <a:latin typeface="Calibri"/>
              <a:ea typeface="Calibri"/>
              <a:cs typeface="Calibri"/>
              <a:sym typeface="Calibri"/>
            </a:endParaRPr>
          </a:p>
        </p:txBody>
      </p:sp>
      <p:sp>
        <p:nvSpPr>
          <p:cNvPr id="101" name="Google Shape;101;p4"/>
          <p:cNvSpPr/>
          <p:nvPr/>
        </p:nvSpPr>
        <p:spPr>
          <a:xfrm>
            <a:off x="6204204" y="2148840"/>
            <a:ext cx="1635252" cy="228600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2" name="Google Shape;102;p4"/>
          <p:cNvSpPr txBox="1"/>
          <p:nvPr/>
        </p:nvSpPr>
        <p:spPr>
          <a:xfrm>
            <a:off x="6432804" y="2423160"/>
            <a:ext cx="1178052"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000"/>
              <a:buFont typeface="Calibri"/>
              <a:buNone/>
            </a:pPr>
            <a:r>
              <a:rPr b="1" lang="en-US" sz="1000">
                <a:solidFill>
                  <a:srgbClr val="18A558"/>
                </a:solidFill>
                <a:latin typeface="Calibri"/>
                <a:ea typeface="Calibri"/>
                <a:cs typeface="Calibri"/>
                <a:sym typeface="Calibri"/>
              </a:rPr>
              <a:t>FASE 4</a:t>
            </a:r>
            <a:endParaRPr sz="1000">
              <a:solidFill>
                <a:schemeClr val="dk1"/>
              </a:solidFill>
              <a:latin typeface="Calibri"/>
              <a:ea typeface="Calibri"/>
              <a:cs typeface="Calibri"/>
              <a:sym typeface="Calibri"/>
            </a:endParaRPr>
          </a:p>
        </p:txBody>
      </p:sp>
      <p:sp>
        <p:nvSpPr>
          <p:cNvPr id="103" name="Google Shape;103;p4"/>
          <p:cNvSpPr txBox="1"/>
          <p:nvPr/>
        </p:nvSpPr>
        <p:spPr>
          <a:xfrm>
            <a:off x="6432804" y="2788920"/>
            <a:ext cx="1178052" cy="1005840"/>
          </a:xfrm>
          <a:prstGeom prst="rect">
            <a:avLst/>
          </a:prstGeom>
          <a:noFill/>
          <a:ln>
            <a:noFill/>
          </a:ln>
        </p:spPr>
        <p:txBody>
          <a:bodyPr anchorCtr="0" anchor="ctr" bIns="0" lIns="0" spcFirstLastPara="1" rIns="0" wrap="square" tIns="0">
            <a:noAutofit/>
          </a:bodyPr>
          <a:lstStyle/>
          <a:p>
            <a:pPr indent="0" lvl="0" marL="0" marR="0" rtl="0" algn="l">
              <a:lnSpc>
                <a:spcPct val="104000"/>
              </a:lnSpc>
              <a:spcBef>
                <a:spcPts val="0"/>
              </a:spcBef>
              <a:spcAft>
                <a:spcPts val="0"/>
              </a:spcAft>
              <a:buClr>
                <a:srgbClr val="767676"/>
              </a:buClr>
              <a:buSzPts val="1600"/>
              <a:buFont typeface="Cambria"/>
              <a:buNone/>
            </a:pPr>
            <a:r>
              <a:rPr b="1" lang="en-US" sz="1600">
                <a:solidFill>
                  <a:srgbClr val="FFFFFF"/>
                </a:solidFill>
                <a:latin typeface="Cambria"/>
                <a:ea typeface="Cambria"/>
                <a:cs typeface="Cambria"/>
                <a:sym typeface="Cambria"/>
              </a:rPr>
              <a:t>Modelado</a:t>
            </a:r>
            <a:endParaRPr sz="1600">
              <a:solidFill>
                <a:schemeClr val="dk1"/>
              </a:solidFill>
              <a:latin typeface="Calibri"/>
              <a:ea typeface="Calibri"/>
              <a:cs typeface="Calibri"/>
              <a:sym typeface="Calibri"/>
            </a:endParaRPr>
          </a:p>
        </p:txBody>
      </p:sp>
      <p:sp>
        <p:nvSpPr>
          <p:cNvPr id="104" name="Google Shape;104;p4"/>
          <p:cNvSpPr txBox="1"/>
          <p:nvPr/>
        </p:nvSpPr>
        <p:spPr>
          <a:xfrm>
            <a:off x="7857744" y="3154680"/>
            <a:ext cx="1828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600"/>
              <a:buFont typeface="Calibri"/>
              <a:buNone/>
            </a:pPr>
            <a:r>
              <a:rPr lang="en-US" sz="1600">
                <a:solidFill>
                  <a:srgbClr val="AFAFAF"/>
                </a:solidFill>
                <a:latin typeface="Calibri"/>
                <a:ea typeface="Calibri"/>
                <a:cs typeface="Calibri"/>
                <a:sym typeface="Calibri"/>
              </a:rPr>
              <a:t>›</a:t>
            </a:r>
            <a:endParaRPr sz="1600">
              <a:solidFill>
                <a:schemeClr val="dk1"/>
              </a:solidFill>
              <a:latin typeface="Calibri"/>
              <a:ea typeface="Calibri"/>
              <a:cs typeface="Calibri"/>
              <a:sym typeface="Calibri"/>
            </a:endParaRPr>
          </a:p>
        </p:txBody>
      </p:sp>
      <p:sp>
        <p:nvSpPr>
          <p:cNvPr id="105" name="Google Shape;105;p4"/>
          <p:cNvSpPr/>
          <p:nvPr/>
        </p:nvSpPr>
        <p:spPr>
          <a:xfrm>
            <a:off x="8058912" y="2148840"/>
            <a:ext cx="1635252" cy="228600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06" name="Google Shape;106;p4"/>
          <p:cNvSpPr txBox="1"/>
          <p:nvPr/>
        </p:nvSpPr>
        <p:spPr>
          <a:xfrm>
            <a:off x="8287512" y="2423160"/>
            <a:ext cx="1178052"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000"/>
              <a:buFont typeface="Calibri"/>
              <a:buNone/>
            </a:pPr>
            <a:r>
              <a:rPr b="1" lang="en-US" sz="1000">
                <a:solidFill>
                  <a:srgbClr val="18A558"/>
                </a:solidFill>
                <a:latin typeface="Calibri"/>
                <a:ea typeface="Calibri"/>
                <a:cs typeface="Calibri"/>
                <a:sym typeface="Calibri"/>
              </a:rPr>
              <a:t>FASE 5</a:t>
            </a:r>
            <a:endParaRPr sz="1000">
              <a:solidFill>
                <a:schemeClr val="dk1"/>
              </a:solidFill>
              <a:latin typeface="Calibri"/>
              <a:ea typeface="Calibri"/>
              <a:cs typeface="Calibri"/>
              <a:sym typeface="Calibri"/>
            </a:endParaRPr>
          </a:p>
        </p:txBody>
      </p:sp>
      <p:sp>
        <p:nvSpPr>
          <p:cNvPr id="107" name="Google Shape;107;p4"/>
          <p:cNvSpPr txBox="1"/>
          <p:nvPr/>
        </p:nvSpPr>
        <p:spPr>
          <a:xfrm>
            <a:off x="8287512" y="2788920"/>
            <a:ext cx="1178052" cy="1005840"/>
          </a:xfrm>
          <a:prstGeom prst="rect">
            <a:avLst/>
          </a:prstGeom>
          <a:noFill/>
          <a:ln>
            <a:noFill/>
          </a:ln>
        </p:spPr>
        <p:txBody>
          <a:bodyPr anchorCtr="0" anchor="ctr" bIns="0" lIns="0" spcFirstLastPara="1" rIns="0" wrap="square" tIns="0">
            <a:noAutofit/>
          </a:bodyPr>
          <a:lstStyle/>
          <a:p>
            <a:pPr indent="0" lvl="0" marL="0" marR="0" rtl="0" algn="l">
              <a:lnSpc>
                <a:spcPct val="104000"/>
              </a:lnSpc>
              <a:spcBef>
                <a:spcPts val="0"/>
              </a:spcBef>
              <a:spcAft>
                <a:spcPts val="0"/>
              </a:spcAft>
              <a:buClr>
                <a:srgbClr val="767676"/>
              </a:buClr>
              <a:buSzPts val="1600"/>
              <a:buFont typeface="Cambria"/>
              <a:buNone/>
            </a:pPr>
            <a:r>
              <a:rPr b="1" lang="en-US" sz="1600">
                <a:solidFill>
                  <a:srgbClr val="FFFFFF"/>
                </a:solidFill>
                <a:latin typeface="Cambria"/>
                <a:ea typeface="Cambria"/>
                <a:cs typeface="Cambria"/>
                <a:sym typeface="Cambria"/>
              </a:rPr>
              <a:t>Evaluación</a:t>
            </a:r>
            <a:endParaRPr sz="1600">
              <a:solidFill>
                <a:schemeClr val="dk1"/>
              </a:solidFill>
              <a:latin typeface="Calibri"/>
              <a:ea typeface="Calibri"/>
              <a:cs typeface="Calibri"/>
              <a:sym typeface="Calibri"/>
            </a:endParaRPr>
          </a:p>
        </p:txBody>
      </p:sp>
      <p:sp>
        <p:nvSpPr>
          <p:cNvPr id="108" name="Google Shape;108;p4"/>
          <p:cNvSpPr txBox="1"/>
          <p:nvPr/>
        </p:nvSpPr>
        <p:spPr>
          <a:xfrm>
            <a:off x="9712452" y="3154680"/>
            <a:ext cx="182880"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600"/>
              <a:buFont typeface="Calibri"/>
              <a:buNone/>
            </a:pPr>
            <a:r>
              <a:rPr lang="en-US" sz="1600">
                <a:solidFill>
                  <a:srgbClr val="AFAFAF"/>
                </a:solidFill>
                <a:latin typeface="Calibri"/>
                <a:ea typeface="Calibri"/>
                <a:cs typeface="Calibri"/>
                <a:sym typeface="Calibri"/>
              </a:rPr>
              <a:t>›</a:t>
            </a:r>
            <a:endParaRPr sz="1600">
              <a:solidFill>
                <a:schemeClr val="dk1"/>
              </a:solidFill>
              <a:latin typeface="Calibri"/>
              <a:ea typeface="Calibri"/>
              <a:cs typeface="Calibri"/>
              <a:sym typeface="Calibri"/>
            </a:endParaRPr>
          </a:p>
        </p:txBody>
      </p:sp>
      <p:sp>
        <p:nvSpPr>
          <p:cNvPr id="109" name="Google Shape;109;p4"/>
          <p:cNvSpPr/>
          <p:nvPr/>
        </p:nvSpPr>
        <p:spPr>
          <a:xfrm>
            <a:off x="9913620" y="2148840"/>
            <a:ext cx="1635252" cy="228600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0" name="Google Shape;110;p4"/>
          <p:cNvSpPr txBox="1"/>
          <p:nvPr/>
        </p:nvSpPr>
        <p:spPr>
          <a:xfrm>
            <a:off x="10142220" y="2423160"/>
            <a:ext cx="1178052"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000"/>
              <a:buFont typeface="Calibri"/>
              <a:buNone/>
            </a:pPr>
            <a:r>
              <a:rPr b="1" lang="en-US" sz="1000">
                <a:solidFill>
                  <a:srgbClr val="AFAFAF"/>
                </a:solidFill>
                <a:latin typeface="Calibri"/>
                <a:ea typeface="Calibri"/>
                <a:cs typeface="Calibri"/>
                <a:sym typeface="Calibri"/>
              </a:rPr>
              <a:t>FASE 6</a:t>
            </a:r>
            <a:endParaRPr sz="1000">
              <a:solidFill>
                <a:schemeClr val="dk1"/>
              </a:solidFill>
              <a:latin typeface="Calibri"/>
              <a:ea typeface="Calibri"/>
              <a:cs typeface="Calibri"/>
              <a:sym typeface="Calibri"/>
            </a:endParaRPr>
          </a:p>
        </p:txBody>
      </p:sp>
      <p:sp>
        <p:nvSpPr>
          <p:cNvPr id="111" name="Google Shape;111;p4"/>
          <p:cNvSpPr txBox="1"/>
          <p:nvPr/>
        </p:nvSpPr>
        <p:spPr>
          <a:xfrm>
            <a:off x="10142220" y="2788920"/>
            <a:ext cx="1178052" cy="1005840"/>
          </a:xfrm>
          <a:prstGeom prst="rect">
            <a:avLst/>
          </a:prstGeom>
          <a:noFill/>
          <a:ln>
            <a:noFill/>
          </a:ln>
        </p:spPr>
        <p:txBody>
          <a:bodyPr anchorCtr="0" anchor="ctr" bIns="0" lIns="0" spcFirstLastPara="1" rIns="0" wrap="square" tIns="0">
            <a:noAutofit/>
          </a:bodyPr>
          <a:lstStyle/>
          <a:p>
            <a:pPr indent="0" lvl="0" marL="0" marR="0" rtl="0" algn="l">
              <a:lnSpc>
                <a:spcPct val="104000"/>
              </a:lnSpc>
              <a:spcBef>
                <a:spcPts val="0"/>
              </a:spcBef>
              <a:spcAft>
                <a:spcPts val="0"/>
              </a:spcAft>
              <a:buClr>
                <a:srgbClr val="767676"/>
              </a:buClr>
              <a:buSzPts val="1600"/>
              <a:buFont typeface="Cambria"/>
              <a:buNone/>
            </a:pPr>
            <a:r>
              <a:rPr b="1" lang="en-US" sz="1600">
                <a:solidFill>
                  <a:srgbClr val="767676"/>
                </a:solidFill>
                <a:latin typeface="Cambria"/>
                <a:ea typeface="Cambria"/>
                <a:cs typeface="Cambria"/>
                <a:sym typeface="Cambria"/>
              </a:rPr>
              <a:t>Despliegue</a:t>
            </a:r>
            <a:endParaRPr sz="1600">
              <a:solidFill>
                <a:schemeClr val="dk1"/>
              </a:solidFill>
              <a:latin typeface="Calibri"/>
              <a:ea typeface="Calibri"/>
              <a:cs typeface="Calibri"/>
              <a:sym typeface="Calibri"/>
            </a:endParaRPr>
          </a:p>
        </p:txBody>
      </p:sp>
      <p:sp>
        <p:nvSpPr>
          <p:cNvPr id="112" name="Google Shape;112;p4"/>
          <p:cNvSpPr/>
          <p:nvPr/>
        </p:nvSpPr>
        <p:spPr>
          <a:xfrm>
            <a:off x="640080" y="4617720"/>
            <a:ext cx="9054084" cy="32004"/>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3" name="Google Shape;113;p4"/>
          <p:cNvSpPr txBox="1"/>
          <p:nvPr/>
        </p:nvSpPr>
        <p:spPr>
          <a:xfrm>
            <a:off x="640080" y="4727448"/>
            <a:ext cx="905408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ALCANCE DE ESTA ENTREGA</a:t>
            </a:r>
            <a:endParaRPr sz="1050">
              <a:solidFill>
                <a:schemeClr val="dk1"/>
              </a:solidFill>
              <a:latin typeface="Calibri"/>
              <a:ea typeface="Calibri"/>
              <a:cs typeface="Calibri"/>
              <a:sym typeface="Calibri"/>
            </a:endParaRPr>
          </a:p>
        </p:txBody>
      </p:sp>
      <p:sp>
        <p:nvSpPr>
          <p:cNvPr id="114" name="Google Shape;114;p4"/>
          <p:cNvSpPr/>
          <p:nvPr/>
        </p:nvSpPr>
        <p:spPr>
          <a:xfrm>
            <a:off x="9913620" y="4617720"/>
            <a:ext cx="1635252" cy="32004"/>
          </a:xfrm>
          <a:prstGeom prst="rect">
            <a:avLst/>
          </a:prstGeom>
          <a:solidFill>
            <a:srgbClr val="D6DAD8"/>
          </a:solidFill>
          <a:ln cap="flat" cmpd="sng" w="12700">
            <a:solidFill>
              <a:srgbClr val="D6DA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15" name="Google Shape;115;p4"/>
          <p:cNvSpPr txBox="1"/>
          <p:nvPr/>
        </p:nvSpPr>
        <p:spPr>
          <a:xfrm>
            <a:off x="9913620" y="4727448"/>
            <a:ext cx="1635252"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050"/>
              <a:buFont typeface="Calibri"/>
              <a:buNone/>
            </a:pPr>
            <a:r>
              <a:rPr b="1" lang="en-US" sz="1050">
                <a:solidFill>
                  <a:srgbClr val="AFAFAF"/>
                </a:solidFill>
                <a:latin typeface="Calibri"/>
                <a:ea typeface="Calibri"/>
                <a:cs typeface="Calibri"/>
                <a:sym typeface="Calibri"/>
              </a:rPr>
              <a:t>TRABAJO FUTURO</a:t>
            </a:r>
            <a:endParaRPr sz="1050">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0" name="Shape 120"/>
        <p:cNvGrpSpPr/>
        <p:nvPr/>
      </p:nvGrpSpPr>
      <p:grpSpPr>
        <a:xfrm>
          <a:off x="0" y="0"/>
          <a:ext cx="0" cy="0"/>
          <a:chOff x="0" y="0"/>
          <a:chExt cx="0" cy="0"/>
        </a:xfrm>
      </p:grpSpPr>
      <p:sp>
        <p:nvSpPr>
          <p:cNvPr id="121" name="Google Shape;121;p5"/>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FUENTES Y HERRAMIENTAS</a:t>
            </a:r>
            <a:endParaRPr sz="1000">
              <a:solidFill>
                <a:schemeClr val="dk1"/>
              </a:solidFill>
              <a:latin typeface="Calibri"/>
              <a:ea typeface="Calibri"/>
              <a:cs typeface="Calibri"/>
              <a:sym typeface="Calibri"/>
            </a:endParaRPr>
          </a:p>
        </p:txBody>
      </p:sp>
      <p:sp>
        <p:nvSpPr>
          <p:cNvPr id="122" name="Google Shape;122;p5"/>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Una fuente pública documentada, versionada en Git</a:t>
            </a:r>
            <a:endParaRPr sz="2600">
              <a:solidFill>
                <a:schemeClr val="dk1"/>
              </a:solidFill>
              <a:latin typeface="Calibri"/>
              <a:ea typeface="Calibri"/>
              <a:cs typeface="Calibri"/>
              <a:sym typeface="Calibri"/>
            </a:endParaRPr>
          </a:p>
        </p:txBody>
      </p:sp>
      <p:sp>
        <p:nvSpPr>
          <p:cNvPr id="123" name="Google Shape;123;p5"/>
          <p:cNvSpPr/>
          <p:nvPr/>
        </p:nvSpPr>
        <p:spPr>
          <a:xfrm>
            <a:off x="640080" y="1965960"/>
            <a:ext cx="6309360" cy="356616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4" name="Google Shape;124;p5"/>
          <p:cNvSpPr txBox="1"/>
          <p:nvPr/>
        </p:nvSpPr>
        <p:spPr>
          <a:xfrm>
            <a:off x="1051560" y="2286000"/>
            <a:ext cx="4572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050"/>
              <a:buFont typeface="Calibri"/>
              <a:buNone/>
            </a:pPr>
            <a:r>
              <a:rPr b="1" lang="en-US" sz="1050">
                <a:solidFill>
                  <a:srgbClr val="767676"/>
                </a:solidFill>
                <a:latin typeface="Calibri"/>
                <a:ea typeface="Calibri"/>
                <a:cs typeface="Calibri"/>
                <a:sym typeface="Calibri"/>
              </a:rPr>
              <a:t>FUENTE DE DATOS</a:t>
            </a:r>
            <a:endParaRPr sz="1050">
              <a:solidFill>
                <a:schemeClr val="dk1"/>
              </a:solidFill>
              <a:latin typeface="Calibri"/>
              <a:ea typeface="Calibri"/>
              <a:cs typeface="Calibri"/>
              <a:sym typeface="Calibri"/>
            </a:endParaRPr>
          </a:p>
        </p:txBody>
      </p:sp>
      <p:sp>
        <p:nvSpPr>
          <p:cNvPr id="125" name="Google Shape;125;p5"/>
          <p:cNvSpPr txBox="1"/>
          <p:nvPr/>
        </p:nvSpPr>
        <p:spPr>
          <a:xfrm>
            <a:off x="1051560" y="2587752"/>
            <a:ext cx="5486400"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400"/>
              <a:buFont typeface="Cambria"/>
              <a:buNone/>
            </a:pPr>
            <a:r>
              <a:rPr b="1" lang="en-US" sz="2400">
                <a:solidFill>
                  <a:srgbClr val="1C1C1C"/>
                </a:solidFill>
                <a:latin typeface="Cambria"/>
                <a:ea typeface="Cambria"/>
                <a:cs typeface="Cambria"/>
                <a:sym typeface="Cambria"/>
              </a:rPr>
              <a:t>Spotify Tracks Dataset</a:t>
            </a:r>
            <a:endParaRPr sz="2400">
              <a:solidFill>
                <a:schemeClr val="dk1"/>
              </a:solidFill>
              <a:latin typeface="Calibri"/>
              <a:ea typeface="Calibri"/>
              <a:cs typeface="Calibri"/>
              <a:sym typeface="Calibri"/>
            </a:endParaRPr>
          </a:p>
        </p:txBody>
      </p:sp>
      <p:sp>
        <p:nvSpPr>
          <p:cNvPr id="126" name="Google Shape;126;p5"/>
          <p:cNvSpPr txBox="1"/>
          <p:nvPr/>
        </p:nvSpPr>
        <p:spPr>
          <a:xfrm>
            <a:off x="1051560" y="3063240"/>
            <a:ext cx="54864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50"/>
              <a:buFont typeface="Calibri"/>
              <a:buNone/>
            </a:pPr>
            <a:r>
              <a:rPr lang="en-US" sz="1350">
                <a:solidFill>
                  <a:srgbClr val="767676"/>
                </a:solidFill>
                <a:latin typeface="Calibri"/>
                <a:ea typeface="Calibri"/>
                <a:cs typeface="Calibri"/>
                <a:sym typeface="Calibri"/>
              </a:rPr>
              <a:t>114.000 filas  ×  20 columnas</a:t>
            </a:r>
            <a:endParaRPr sz="1350">
              <a:solidFill>
                <a:schemeClr val="dk1"/>
              </a:solidFill>
              <a:latin typeface="Calibri"/>
              <a:ea typeface="Calibri"/>
              <a:cs typeface="Calibri"/>
              <a:sym typeface="Calibri"/>
            </a:endParaRPr>
          </a:p>
        </p:txBody>
      </p:sp>
      <p:sp>
        <p:nvSpPr>
          <p:cNvPr id="127" name="Google Shape;127;p5"/>
          <p:cNvSpPr/>
          <p:nvPr/>
        </p:nvSpPr>
        <p:spPr>
          <a:xfrm>
            <a:off x="1051560" y="3520440"/>
            <a:ext cx="502920" cy="347472"/>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28" name="Google Shape;128;p5"/>
          <p:cNvSpPr txBox="1"/>
          <p:nvPr/>
        </p:nvSpPr>
        <p:spPr>
          <a:xfrm>
            <a:off x="1051560" y="3584448"/>
            <a:ext cx="50292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13</a:t>
            </a:r>
            <a:endParaRPr sz="1300">
              <a:solidFill>
                <a:schemeClr val="dk1"/>
              </a:solidFill>
              <a:latin typeface="Calibri"/>
              <a:ea typeface="Calibri"/>
              <a:cs typeface="Calibri"/>
              <a:sym typeface="Calibri"/>
            </a:endParaRPr>
          </a:p>
        </p:txBody>
      </p:sp>
      <p:sp>
        <p:nvSpPr>
          <p:cNvPr id="129" name="Google Shape;129;p5"/>
          <p:cNvSpPr txBox="1"/>
          <p:nvPr/>
        </p:nvSpPr>
        <p:spPr>
          <a:xfrm>
            <a:off x="1691640" y="3566160"/>
            <a:ext cx="5029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características de audio</a:t>
            </a:r>
            <a:endParaRPr sz="1400">
              <a:solidFill>
                <a:schemeClr val="dk1"/>
              </a:solidFill>
              <a:latin typeface="Calibri"/>
              <a:ea typeface="Calibri"/>
              <a:cs typeface="Calibri"/>
              <a:sym typeface="Calibri"/>
            </a:endParaRPr>
          </a:p>
        </p:txBody>
      </p:sp>
      <p:sp>
        <p:nvSpPr>
          <p:cNvPr id="130" name="Google Shape;130;p5"/>
          <p:cNvSpPr/>
          <p:nvPr/>
        </p:nvSpPr>
        <p:spPr>
          <a:xfrm>
            <a:off x="1051560" y="3977640"/>
            <a:ext cx="502920" cy="347472"/>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1" name="Google Shape;131;p5"/>
          <p:cNvSpPr txBox="1"/>
          <p:nvPr/>
        </p:nvSpPr>
        <p:spPr>
          <a:xfrm>
            <a:off x="1051560" y="4041648"/>
            <a:ext cx="50292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5</a:t>
            </a:r>
            <a:endParaRPr sz="1300">
              <a:solidFill>
                <a:schemeClr val="dk1"/>
              </a:solidFill>
              <a:latin typeface="Calibri"/>
              <a:ea typeface="Calibri"/>
              <a:cs typeface="Calibri"/>
              <a:sym typeface="Calibri"/>
            </a:endParaRPr>
          </a:p>
        </p:txBody>
      </p:sp>
      <p:sp>
        <p:nvSpPr>
          <p:cNvPr id="132" name="Google Shape;132;p5"/>
          <p:cNvSpPr txBox="1"/>
          <p:nvPr/>
        </p:nvSpPr>
        <p:spPr>
          <a:xfrm>
            <a:off x="1691640" y="4023360"/>
            <a:ext cx="5029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metadatos</a:t>
            </a:r>
            <a:endParaRPr sz="1400">
              <a:solidFill>
                <a:schemeClr val="dk1"/>
              </a:solidFill>
              <a:latin typeface="Calibri"/>
              <a:ea typeface="Calibri"/>
              <a:cs typeface="Calibri"/>
              <a:sym typeface="Calibri"/>
            </a:endParaRPr>
          </a:p>
        </p:txBody>
      </p:sp>
      <p:sp>
        <p:nvSpPr>
          <p:cNvPr id="133" name="Google Shape;133;p5"/>
          <p:cNvSpPr/>
          <p:nvPr/>
        </p:nvSpPr>
        <p:spPr>
          <a:xfrm>
            <a:off x="1051560" y="4434840"/>
            <a:ext cx="502920" cy="347472"/>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4" name="Google Shape;134;p5"/>
          <p:cNvSpPr txBox="1"/>
          <p:nvPr/>
        </p:nvSpPr>
        <p:spPr>
          <a:xfrm>
            <a:off x="1051560" y="4498848"/>
            <a:ext cx="50292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1</a:t>
            </a:r>
            <a:endParaRPr sz="1300">
              <a:solidFill>
                <a:schemeClr val="dk1"/>
              </a:solidFill>
              <a:latin typeface="Calibri"/>
              <a:ea typeface="Calibri"/>
              <a:cs typeface="Calibri"/>
              <a:sym typeface="Calibri"/>
            </a:endParaRPr>
          </a:p>
        </p:txBody>
      </p:sp>
      <p:sp>
        <p:nvSpPr>
          <p:cNvPr id="135" name="Google Shape;135;p5"/>
          <p:cNvSpPr txBox="1"/>
          <p:nvPr/>
        </p:nvSpPr>
        <p:spPr>
          <a:xfrm>
            <a:off x="1691640" y="4480560"/>
            <a:ext cx="5029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popularity — variable objetivo</a:t>
            </a:r>
            <a:endParaRPr sz="1400">
              <a:solidFill>
                <a:schemeClr val="dk1"/>
              </a:solidFill>
              <a:latin typeface="Calibri"/>
              <a:ea typeface="Calibri"/>
              <a:cs typeface="Calibri"/>
              <a:sym typeface="Calibri"/>
            </a:endParaRPr>
          </a:p>
        </p:txBody>
      </p:sp>
      <p:sp>
        <p:nvSpPr>
          <p:cNvPr id="136" name="Google Shape;136;p5"/>
          <p:cNvSpPr/>
          <p:nvPr/>
        </p:nvSpPr>
        <p:spPr>
          <a:xfrm>
            <a:off x="1051560" y="4892040"/>
            <a:ext cx="502920" cy="347472"/>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37" name="Google Shape;137;p5"/>
          <p:cNvSpPr txBox="1"/>
          <p:nvPr/>
        </p:nvSpPr>
        <p:spPr>
          <a:xfrm>
            <a:off x="1051560" y="4956048"/>
            <a:ext cx="50292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Calibri"/>
              <a:buNone/>
            </a:pPr>
            <a:r>
              <a:rPr b="1" lang="en-US" sz="1300">
                <a:solidFill>
                  <a:srgbClr val="FFFFFF"/>
                </a:solidFill>
                <a:latin typeface="Calibri"/>
                <a:ea typeface="Calibri"/>
                <a:cs typeface="Calibri"/>
                <a:sym typeface="Calibri"/>
              </a:rPr>
              <a:t>1</a:t>
            </a:r>
            <a:endParaRPr sz="1300">
              <a:solidFill>
                <a:schemeClr val="dk1"/>
              </a:solidFill>
              <a:latin typeface="Calibri"/>
              <a:ea typeface="Calibri"/>
              <a:cs typeface="Calibri"/>
              <a:sym typeface="Calibri"/>
            </a:endParaRPr>
          </a:p>
        </p:txBody>
      </p:sp>
      <p:sp>
        <p:nvSpPr>
          <p:cNvPr id="138" name="Google Shape;138;p5"/>
          <p:cNvSpPr txBox="1"/>
          <p:nvPr/>
        </p:nvSpPr>
        <p:spPr>
          <a:xfrm>
            <a:off x="1691640" y="4937760"/>
            <a:ext cx="5029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explicit</a:t>
            </a:r>
            <a:endParaRPr sz="1400">
              <a:solidFill>
                <a:schemeClr val="dk1"/>
              </a:solidFill>
              <a:latin typeface="Calibri"/>
              <a:ea typeface="Calibri"/>
              <a:cs typeface="Calibri"/>
              <a:sym typeface="Calibri"/>
            </a:endParaRPr>
          </a:p>
        </p:txBody>
      </p:sp>
      <p:sp>
        <p:nvSpPr>
          <p:cNvPr id="139" name="Google Shape;139;p5"/>
          <p:cNvSpPr txBox="1"/>
          <p:nvPr/>
        </p:nvSpPr>
        <p:spPr>
          <a:xfrm>
            <a:off x="7360920" y="2286000"/>
            <a:ext cx="41148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050"/>
              <a:buFont typeface="Calibri"/>
              <a:buNone/>
            </a:pPr>
            <a:r>
              <a:rPr b="1" lang="en-US" sz="1050">
                <a:solidFill>
                  <a:srgbClr val="767676"/>
                </a:solidFill>
                <a:latin typeface="Calibri"/>
                <a:ea typeface="Calibri"/>
                <a:cs typeface="Calibri"/>
                <a:sym typeface="Calibri"/>
              </a:rPr>
              <a:t>HERRAMIENTAS</a:t>
            </a:r>
            <a:endParaRPr sz="1050">
              <a:solidFill>
                <a:schemeClr val="dk1"/>
              </a:solidFill>
              <a:latin typeface="Calibri"/>
              <a:ea typeface="Calibri"/>
              <a:cs typeface="Calibri"/>
              <a:sym typeface="Calibri"/>
            </a:endParaRPr>
          </a:p>
        </p:txBody>
      </p:sp>
      <p:sp>
        <p:nvSpPr>
          <p:cNvPr id="140" name="Google Shape;140;p5"/>
          <p:cNvSpPr/>
          <p:nvPr/>
        </p:nvSpPr>
        <p:spPr>
          <a:xfrm>
            <a:off x="7360920" y="2798064"/>
            <a:ext cx="109728" cy="109728"/>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1" name="Google Shape;141;p5"/>
          <p:cNvSpPr txBox="1"/>
          <p:nvPr/>
        </p:nvSpPr>
        <p:spPr>
          <a:xfrm>
            <a:off x="7680960" y="2697480"/>
            <a:ext cx="402336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C1C1C"/>
              </a:buClr>
              <a:buSzPts val="1450"/>
              <a:buFont typeface="Calibri"/>
              <a:buNone/>
            </a:pPr>
            <a:r>
              <a:rPr lang="en-US" sz="1450">
                <a:solidFill>
                  <a:srgbClr val="1C1C1C"/>
                </a:solidFill>
                <a:latin typeface="Calibri"/>
                <a:ea typeface="Calibri"/>
                <a:cs typeface="Calibri"/>
                <a:sym typeface="Calibri"/>
              </a:rPr>
              <a:t>Documentación de columnas de Spotify (PDF)</a:t>
            </a:r>
            <a:endParaRPr sz="1450">
              <a:solidFill>
                <a:schemeClr val="dk1"/>
              </a:solidFill>
              <a:latin typeface="Calibri"/>
              <a:ea typeface="Calibri"/>
              <a:cs typeface="Calibri"/>
              <a:sym typeface="Calibri"/>
            </a:endParaRPr>
          </a:p>
        </p:txBody>
      </p:sp>
      <p:sp>
        <p:nvSpPr>
          <p:cNvPr id="142" name="Google Shape;142;p5"/>
          <p:cNvSpPr/>
          <p:nvPr/>
        </p:nvSpPr>
        <p:spPr>
          <a:xfrm>
            <a:off x="7360920" y="3456432"/>
            <a:ext cx="109728" cy="109728"/>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3" name="Google Shape;143;p5"/>
          <p:cNvSpPr txBox="1"/>
          <p:nvPr/>
        </p:nvSpPr>
        <p:spPr>
          <a:xfrm>
            <a:off x="7680960" y="3355848"/>
            <a:ext cx="402336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C1C1C"/>
              </a:buClr>
              <a:buSzPts val="1450"/>
              <a:buFont typeface="Calibri"/>
              <a:buNone/>
            </a:pPr>
            <a:r>
              <a:rPr lang="en-US" sz="1450">
                <a:solidFill>
                  <a:srgbClr val="1C1C1C"/>
                </a:solidFill>
                <a:latin typeface="Calibri"/>
                <a:ea typeface="Calibri"/>
                <a:cs typeface="Calibri"/>
                <a:sym typeface="Calibri"/>
              </a:rPr>
              <a:t>Python · pandas · scikit-learn · Jupyter</a:t>
            </a:r>
            <a:endParaRPr sz="1450">
              <a:solidFill>
                <a:schemeClr val="dk1"/>
              </a:solidFill>
              <a:latin typeface="Calibri"/>
              <a:ea typeface="Calibri"/>
              <a:cs typeface="Calibri"/>
              <a:sym typeface="Calibri"/>
            </a:endParaRPr>
          </a:p>
        </p:txBody>
      </p:sp>
      <p:sp>
        <p:nvSpPr>
          <p:cNvPr id="144" name="Google Shape;144;p5"/>
          <p:cNvSpPr/>
          <p:nvPr/>
        </p:nvSpPr>
        <p:spPr>
          <a:xfrm>
            <a:off x="7360920" y="4114800"/>
            <a:ext cx="109728" cy="109728"/>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45" name="Google Shape;145;p5"/>
          <p:cNvSpPr txBox="1"/>
          <p:nvPr/>
        </p:nvSpPr>
        <p:spPr>
          <a:xfrm>
            <a:off x="7680960" y="4014216"/>
            <a:ext cx="4023360" cy="54864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1C1C1C"/>
              </a:buClr>
              <a:buSzPts val="1450"/>
              <a:buFont typeface="Calibri"/>
              <a:buNone/>
            </a:pPr>
            <a:r>
              <a:rPr lang="en-US" sz="1450">
                <a:solidFill>
                  <a:srgbClr val="1C1C1C"/>
                </a:solidFill>
                <a:latin typeface="Calibri"/>
                <a:ea typeface="Calibri"/>
                <a:cs typeface="Calibri"/>
                <a:sym typeface="Calibri"/>
              </a:rPr>
              <a:t>Git y GitHub</a:t>
            </a:r>
            <a:endParaRPr sz="145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6"/>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SÍNTESIS</a:t>
            </a:r>
            <a:endParaRPr sz="1000">
              <a:solidFill>
                <a:schemeClr val="dk1"/>
              </a:solidFill>
              <a:latin typeface="Calibri"/>
              <a:ea typeface="Calibri"/>
              <a:cs typeface="Calibri"/>
              <a:sym typeface="Calibri"/>
            </a:endParaRPr>
          </a:p>
        </p:txBody>
      </p:sp>
      <p:sp>
        <p:nvSpPr>
          <p:cNvPr id="152" name="Google Shape;152;p6"/>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Tres hallazgos ordenan todo el proyecto</a:t>
            </a:r>
            <a:endParaRPr sz="2600">
              <a:solidFill>
                <a:schemeClr val="dk1"/>
              </a:solidFill>
              <a:latin typeface="Calibri"/>
              <a:ea typeface="Calibri"/>
              <a:cs typeface="Calibri"/>
              <a:sym typeface="Calibri"/>
            </a:endParaRPr>
          </a:p>
        </p:txBody>
      </p:sp>
      <p:sp>
        <p:nvSpPr>
          <p:cNvPr id="153" name="Google Shape;153;p6"/>
          <p:cNvSpPr txBox="1"/>
          <p:nvPr/>
        </p:nvSpPr>
        <p:spPr>
          <a:xfrm>
            <a:off x="11000232" y="6419088"/>
            <a:ext cx="5486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900"/>
              <a:buFont typeface="Calibri"/>
              <a:buNone/>
            </a:pPr>
            <a:r>
              <a:t/>
            </a:r>
            <a:endParaRPr sz="900">
              <a:solidFill>
                <a:schemeClr val="dk1"/>
              </a:solidFill>
              <a:latin typeface="Calibri"/>
              <a:ea typeface="Calibri"/>
              <a:cs typeface="Calibri"/>
              <a:sym typeface="Calibri"/>
            </a:endParaRPr>
          </a:p>
        </p:txBody>
      </p:sp>
      <p:sp>
        <p:nvSpPr>
          <p:cNvPr id="154" name="Google Shape;154;p6"/>
          <p:cNvSpPr/>
          <p:nvPr/>
        </p:nvSpPr>
        <p:spPr>
          <a:xfrm>
            <a:off x="640080"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5" name="Google Shape;155;p6"/>
          <p:cNvSpPr txBox="1"/>
          <p:nvPr/>
        </p:nvSpPr>
        <p:spPr>
          <a:xfrm>
            <a:off x="1005840"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01</a:t>
            </a:r>
            <a:endParaRPr sz="2600">
              <a:solidFill>
                <a:schemeClr val="dk1"/>
              </a:solidFill>
              <a:latin typeface="Calibri"/>
              <a:ea typeface="Calibri"/>
              <a:cs typeface="Calibri"/>
              <a:sym typeface="Calibri"/>
            </a:endParaRPr>
          </a:p>
        </p:txBody>
      </p:sp>
      <p:sp>
        <p:nvSpPr>
          <p:cNvPr id="156" name="Google Shape;156;p6"/>
          <p:cNvSpPr txBox="1"/>
          <p:nvPr/>
        </p:nvSpPr>
        <p:spPr>
          <a:xfrm>
            <a:off x="1005840"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CALIDAD</a:t>
            </a:r>
            <a:endParaRPr sz="1100">
              <a:solidFill>
                <a:schemeClr val="dk1"/>
              </a:solidFill>
              <a:latin typeface="Calibri"/>
              <a:ea typeface="Calibri"/>
              <a:cs typeface="Calibri"/>
              <a:sym typeface="Calibri"/>
            </a:endParaRPr>
          </a:p>
        </p:txBody>
      </p:sp>
      <p:sp>
        <p:nvSpPr>
          <p:cNvPr id="157" name="Google Shape;157;p6"/>
          <p:cNvSpPr txBox="1"/>
          <p:nvPr/>
        </p:nvSpPr>
        <p:spPr>
          <a:xfrm>
            <a:off x="1005840"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114.000 → 83.478</a:t>
            </a:r>
            <a:endParaRPr sz="2700">
              <a:solidFill>
                <a:schemeClr val="dk1"/>
              </a:solidFill>
              <a:latin typeface="Calibri"/>
              <a:ea typeface="Calibri"/>
              <a:cs typeface="Calibri"/>
              <a:sym typeface="Calibri"/>
            </a:endParaRPr>
          </a:p>
        </p:txBody>
      </p:sp>
      <p:sp>
        <p:nvSpPr>
          <p:cNvPr id="158" name="Google Shape;158;p6"/>
          <p:cNvSpPr txBox="1"/>
          <p:nvPr/>
        </p:nvSpPr>
        <p:spPr>
          <a:xfrm>
            <a:off x="1005840"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Las filas no son canciones</a:t>
            </a:r>
            <a:endParaRPr sz="1500">
              <a:solidFill>
                <a:schemeClr val="dk1"/>
              </a:solidFill>
              <a:latin typeface="Calibri"/>
              <a:ea typeface="Calibri"/>
              <a:cs typeface="Calibri"/>
              <a:sym typeface="Calibri"/>
            </a:endParaRPr>
          </a:p>
        </p:txBody>
      </p:sp>
      <p:sp>
        <p:nvSpPr>
          <p:cNvPr id="159" name="Google Shape;159;p6"/>
          <p:cNvSpPr/>
          <p:nvPr/>
        </p:nvSpPr>
        <p:spPr>
          <a:xfrm>
            <a:off x="4352544"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6"/>
          <p:cNvSpPr txBox="1"/>
          <p:nvPr/>
        </p:nvSpPr>
        <p:spPr>
          <a:xfrm>
            <a:off x="4718304"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02</a:t>
            </a:r>
            <a:endParaRPr sz="2600">
              <a:solidFill>
                <a:schemeClr val="dk1"/>
              </a:solidFill>
              <a:latin typeface="Calibri"/>
              <a:ea typeface="Calibri"/>
              <a:cs typeface="Calibri"/>
              <a:sym typeface="Calibri"/>
            </a:endParaRPr>
          </a:p>
        </p:txBody>
      </p:sp>
      <p:sp>
        <p:nvSpPr>
          <p:cNvPr id="161" name="Google Shape;161;p6"/>
          <p:cNvSpPr txBox="1"/>
          <p:nvPr/>
        </p:nvSpPr>
        <p:spPr>
          <a:xfrm>
            <a:off x="4718304"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SEÑAL</a:t>
            </a:r>
            <a:endParaRPr sz="1100">
              <a:solidFill>
                <a:schemeClr val="dk1"/>
              </a:solidFill>
              <a:latin typeface="Calibri"/>
              <a:ea typeface="Calibri"/>
              <a:cs typeface="Calibri"/>
              <a:sym typeface="Calibri"/>
            </a:endParaRPr>
          </a:p>
        </p:txBody>
      </p:sp>
      <p:sp>
        <p:nvSpPr>
          <p:cNvPr id="162" name="Google Shape;162;p6"/>
          <p:cNvSpPr txBox="1"/>
          <p:nvPr/>
        </p:nvSpPr>
        <p:spPr>
          <a:xfrm>
            <a:off x="4718304"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0,13  vs  0,62</a:t>
            </a:r>
            <a:endParaRPr sz="2700">
              <a:solidFill>
                <a:schemeClr val="dk1"/>
              </a:solidFill>
              <a:latin typeface="Calibri"/>
              <a:ea typeface="Calibri"/>
              <a:cs typeface="Calibri"/>
              <a:sym typeface="Calibri"/>
            </a:endParaRPr>
          </a:p>
        </p:txBody>
      </p:sp>
      <p:sp>
        <p:nvSpPr>
          <p:cNvPr id="163" name="Google Shape;163;p6"/>
          <p:cNvSpPr txBox="1"/>
          <p:nvPr/>
        </p:nvSpPr>
        <p:spPr>
          <a:xfrm>
            <a:off x="4718304"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El audio no explica; el género sí</a:t>
            </a:r>
            <a:endParaRPr sz="1500">
              <a:solidFill>
                <a:schemeClr val="dk1"/>
              </a:solidFill>
              <a:latin typeface="Calibri"/>
              <a:ea typeface="Calibri"/>
              <a:cs typeface="Calibri"/>
              <a:sym typeface="Calibri"/>
            </a:endParaRPr>
          </a:p>
        </p:txBody>
      </p:sp>
      <p:sp>
        <p:nvSpPr>
          <p:cNvPr id="164" name="Google Shape;164;p6"/>
          <p:cNvSpPr/>
          <p:nvPr/>
        </p:nvSpPr>
        <p:spPr>
          <a:xfrm>
            <a:off x="8065008"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5" name="Google Shape;165;p6"/>
          <p:cNvSpPr txBox="1"/>
          <p:nvPr/>
        </p:nvSpPr>
        <p:spPr>
          <a:xfrm>
            <a:off x="8430768"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03</a:t>
            </a:r>
            <a:endParaRPr sz="2600">
              <a:solidFill>
                <a:schemeClr val="dk1"/>
              </a:solidFill>
              <a:latin typeface="Calibri"/>
              <a:ea typeface="Calibri"/>
              <a:cs typeface="Calibri"/>
              <a:sym typeface="Calibri"/>
            </a:endParaRPr>
          </a:p>
        </p:txBody>
      </p:sp>
      <p:sp>
        <p:nvSpPr>
          <p:cNvPr id="166" name="Google Shape;166;p6"/>
          <p:cNvSpPr txBox="1"/>
          <p:nvPr/>
        </p:nvSpPr>
        <p:spPr>
          <a:xfrm>
            <a:off x="8430768"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ÉTICA</a:t>
            </a:r>
            <a:endParaRPr sz="1100">
              <a:solidFill>
                <a:schemeClr val="dk1"/>
              </a:solidFill>
              <a:latin typeface="Calibri"/>
              <a:ea typeface="Calibri"/>
              <a:cs typeface="Calibri"/>
              <a:sym typeface="Calibri"/>
            </a:endParaRPr>
          </a:p>
        </p:txBody>
      </p:sp>
      <p:sp>
        <p:nvSpPr>
          <p:cNvPr id="167" name="Google Shape;167;p6"/>
          <p:cNvSpPr txBox="1"/>
          <p:nvPr/>
        </p:nvSpPr>
        <p:spPr>
          <a:xfrm>
            <a:off x="8430768"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r = 0,72, excluida</a:t>
            </a:r>
            <a:endParaRPr sz="2700">
              <a:solidFill>
                <a:schemeClr val="dk1"/>
              </a:solidFill>
              <a:latin typeface="Calibri"/>
              <a:ea typeface="Calibri"/>
              <a:cs typeface="Calibri"/>
              <a:sym typeface="Calibri"/>
            </a:endParaRPr>
          </a:p>
        </p:txBody>
      </p:sp>
      <p:sp>
        <p:nvSpPr>
          <p:cNvPr id="168" name="Google Shape;168;p6"/>
          <p:cNvSpPr txBox="1"/>
          <p:nvPr/>
        </p:nvSpPr>
        <p:spPr>
          <a:xfrm>
            <a:off x="8430768"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La mejor variable se descartó</a:t>
            </a:r>
            <a:endParaRPr sz="1500">
              <a:solidFill>
                <a:schemeClr val="dk1"/>
              </a:solidFill>
              <a:latin typeface="Calibri"/>
              <a:ea typeface="Calibri"/>
              <a:cs typeface="Calibri"/>
              <a:sym typeface="Calibri"/>
            </a:endParaRPr>
          </a:p>
        </p:txBody>
      </p:sp>
      <p:sp>
        <p:nvSpPr>
          <p:cNvPr id="169" name="Google Shape;169;p6"/>
          <p:cNvSpPr txBox="1"/>
          <p:nvPr/>
        </p:nvSpPr>
        <p:spPr>
          <a:xfrm>
            <a:off x="640080" y="5349240"/>
            <a:ext cx="1090879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500"/>
              <a:buFont typeface="Calibri"/>
              <a:buNone/>
            </a:pPr>
            <a:r>
              <a:rPr b="1" lang="en-US" sz="1500">
                <a:solidFill>
                  <a:srgbClr val="0E6B39"/>
                </a:solidFill>
                <a:latin typeface="Calibri"/>
                <a:ea typeface="Calibri"/>
                <a:cs typeface="Calibri"/>
                <a:sym typeface="Calibri"/>
              </a:rPr>
              <a:t>Entregable: 83.478 canciones  →  29 columnas preparadas  ·  0 nulos</a:t>
            </a:r>
            <a:endParaRPr sz="1500">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7"/>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KPIS</a:t>
            </a:r>
            <a:endParaRPr sz="1000">
              <a:solidFill>
                <a:schemeClr val="dk1"/>
              </a:solidFill>
              <a:latin typeface="Calibri"/>
              <a:ea typeface="Calibri"/>
              <a:cs typeface="Calibri"/>
              <a:sym typeface="Calibri"/>
            </a:endParaRPr>
          </a:p>
        </p:txBody>
      </p:sp>
      <p:sp>
        <p:nvSpPr>
          <p:cNvPr id="176" name="Google Shape;176;p7"/>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Responden directamente la pregunta de negocio</a:t>
            </a:r>
            <a:endParaRPr sz="2600">
              <a:solidFill>
                <a:schemeClr val="dk1"/>
              </a:solidFill>
              <a:latin typeface="Calibri"/>
              <a:ea typeface="Calibri"/>
              <a:cs typeface="Calibri"/>
              <a:sym typeface="Calibri"/>
            </a:endParaRPr>
          </a:p>
        </p:txBody>
      </p:sp>
      <p:graphicFrame>
        <p:nvGraphicFramePr>
          <p:cNvPr id="177" name="Google Shape;177;p7"/>
          <p:cNvGraphicFramePr/>
          <p:nvPr/>
        </p:nvGraphicFramePr>
        <p:xfrm>
          <a:off x="640080" y="2011680"/>
          <a:ext cx="3000000" cy="3000000"/>
        </p:xfrm>
        <a:graphic>
          <a:graphicData uri="http://schemas.openxmlformats.org/drawingml/2006/table">
            <a:tbl>
              <a:tblPr>
                <a:noFill/>
                <a:tableStyleId>{D5596F70-3E84-48C9-8163-9B32549E12F5}</a:tableStyleId>
              </a:tblPr>
              <a:tblGrid>
                <a:gridCol w="4206250"/>
                <a:gridCol w="2011675"/>
                <a:gridCol w="4690875"/>
              </a:tblGrid>
              <a:tr h="566925">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KPI</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Meta</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Resultado</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Techo de señal sin usar identidad de artista/álbum</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audio 0,13  ·  género 0,62</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Features de identidad de artista/álbum en el modelo</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0</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excluidas pese a r ≈ 0,72</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 de popularidad=0 explicado por contexto, no por calidad</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54% (5.088/9.413) por duplicados de audio</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sp>
        <p:nvSpPr>
          <p:cNvPr id="183" name="Google Shape;183;p8"/>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CALIDAD DE LOS DATOS</a:t>
            </a:r>
            <a:endParaRPr sz="1000">
              <a:solidFill>
                <a:schemeClr val="dk1"/>
              </a:solidFill>
              <a:latin typeface="Calibri"/>
              <a:ea typeface="Calibri"/>
              <a:cs typeface="Calibri"/>
              <a:sym typeface="Calibri"/>
            </a:endParaRPr>
          </a:p>
        </p:txBody>
      </p:sp>
      <p:sp>
        <p:nvSpPr>
          <p:cNvPr id="184" name="Google Shape;184;p8"/>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Las 114.000 filas son en realidad 83.478 canciones</a:t>
            </a:r>
            <a:endParaRPr sz="2600">
              <a:solidFill>
                <a:schemeClr val="dk1"/>
              </a:solidFill>
              <a:latin typeface="Calibri"/>
              <a:ea typeface="Calibri"/>
              <a:cs typeface="Calibri"/>
              <a:sym typeface="Calibri"/>
            </a:endParaRPr>
          </a:p>
        </p:txBody>
      </p:sp>
      <p:sp>
        <p:nvSpPr>
          <p:cNvPr id="185" name="Google Shape;185;p8"/>
          <p:cNvSpPr/>
          <p:nvPr/>
        </p:nvSpPr>
        <p:spPr>
          <a:xfrm>
            <a:off x="640080" y="2148840"/>
            <a:ext cx="3392424" cy="233172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86" name="Google Shape;186;p8"/>
          <p:cNvSpPr txBox="1"/>
          <p:nvPr/>
        </p:nvSpPr>
        <p:spPr>
          <a:xfrm>
            <a:off x="914400" y="2368296"/>
            <a:ext cx="2843784"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3200"/>
              <a:buFont typeface="Cambria"/>
              <a:buNone/>
            </a:pPr>
            <a:r>
              <a:rPr b="1" lang="en-US" sz="3200">
                <a:solidFill>
                  <a:srgbClr val="1C1C1C"/>
                </a:solidFill>
                <a:latin typeface="Cambria"/>
                <a:ea typeface="Cambria"/>
                <a:cs typeface="Cambria"/>
                <a:sym typeface="Cambria"/>
              </a:rPr>
              <a:t>114.000</a:t>
            </a:r>
            <a:endParaRPr sz="3200">
              <a:solidFill>
                <a:schemeClr val="dk1"/>
              </a:solidFill>
              <a:latin typeface="Calibri"/>
              <a:ea typeface="Calibri"/>
              <a:cs typeface="Calibri"/>
              <a:sym typeface="Calibri"/>
            </a:endParaRPr>
          </a:p>
        </p:txBody>
      </p:sp>
      <p:sp>
        <p:nvSpPr>
          <p:cNvPr id="187" name="Google Shape;187;p8"/>
          <p:cNvSpPr txBox="1"/>
          <p:nvPr/>
        </p:nvSpPr>
        <p:spPr>
          <a:xfrm>
            <a:off x="914400" y="4636008"/>
            <a:ext cx="2843784" cy="3657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767676"/>
              </a:buClr>
              <a:buSzPts val="1400"/>
              <a:buFont typeface="Calibri"/>
              <a:buNone/>
            </a:pPr>
            <a:r>
              <a:rPr lang="en-US" sz="1400">
                <a:solidFill>
                  <a:srgbClr val="767676"/>
                </a:solidFill>
                <a:latin typeface="Calibri"/>
                <a:ea typeface="Calibri"/>
                <a:cs typeface="Calibri"/>
                <a:sym typeface="Calibri"/>
              </a:rPr>
              <a:t>filas del dataset crudo</a:t>
            </a:r>
            <a:endParaRPr sz="1400">
              <a:solidFill>
                <a:schemeClr val="dk1"/>
              </a:solidFill>
              <a:latin typeface="Calibri"/>
              <a:ea typeface="Calibri"/>
              <a:cs typeface="Calibri"/>
              <a:sym typeface="Calibri"/>
            </a:endParaRPr>
          </a:p>
        </p:txBody>
      </p:sp>
      <p:sp>
        <p:nvSpPr>
          <p:cNvPr id="188" name="Google Shape;188;p8"/>
          <p:cNvSpPr txBox="1"/>
          <p:nvPr/>
        </p:nvSpPr>
        <p:spPr>
          <a:xfrm>
            <a:off x="4069080" y="3977640"/>
            <a:ext cx="292608"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600"/>
              <a:buFont typeface="Calibri"/>
              <a:buNone/>
            </a:pPr>
            <a:r>
              <a:rPr lang="en-US" sz="1600">
                <a:solidFill>
                  <a:srgbClr val="AFAFAF"/>
                </a:solidFill>
                <a:latin typeface="Calibri"/>
                <a:ea typeface="Calibri"/>
                <a:cs typeface="Calibri"/>
                <a:sym typeface="Calibri"/>
              </a:rPr>
              <a:t>→</a:t>
            </a:r>
            <a:endParaRPr sz="1600">
              <a:solidFill>
                <a:schemeClr val="dk1"/>
              </a:solidFill>
              <a:latin typeface="Calibri"/>
              <a:ea typeface="Calibri"/>
              <a:cs typeface="Calibri"/>
              <a:sym typeface="Calibri"/>
            </a:endParaRPr>
          </a:p>
        </p:txBody>
      </p:sp>
      <p:sp>
        <p:nvSpPr>
          <p:cNvPr id="189" name="Google Shape;189;p8"/>
          <p:cNvSpPr/>
          <p:nvPr/>
        </p:nvSpPr>
        <p:spPr>
          <a:xfrm>
            <a:off x="4398264" y="2499103"/>
            <a:ext cx="3392424" cy="198145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0" name="Google Shape;190;p8"/>
          <p:cNvSpPr txBox="1"/>
          <p:nvPr/>
        </p:nvSpPr>
        <p:spPr>
          <a:xfrm>
            <a:off x="4672584" y="2718559"/>
            <a:ext cx="2843784"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3200"/>
              <a:buFont typeface="Cambria"/>
              <a:buNone/>
            </a:pPr>
            <a:r>
              <a:rPr b="1" lang="en-US" sz="3200">
                <a:solidFill>
                  <a:srgbClr val="1C1C1C"/>
                </a:solidFill>
                <a:latin typeface="Cambria"/>
                <a:ea typeface="Cambria"/>
                <a:cs typeface="Cambria"/>
                <a:sym typeface="Cambria"/>
              </a:rPr>
              <a:t>89.740</a:t>
            </a:r>
            <a:endParaRPr sz="3200">
              <a:solidFill>
                <a:schemeClr val="dk1"/>
              </a:solidFill>
              <a:latin typeface="Calibri"/>
              <a:ea typeface="Calibri"/>
              <a:cs typeface="Calibri"/>
              <a:sym typeface="Calibri"/>
            </a:endParaRPr>
          </a:p>
        </p:txBody>
      </p:sp>
      <p:sp>
        <p:nvSpPr>
          <p:cNvPr id="191" name="Google Shape;191;p8"/>
          <p:cNvSpPr txBox="1"/>
          <p:nvPr/>
        </p:nvSpPr>
        <p:spPr>
          <a:xfrm>
            <a:off x="4672584" y="4636008"/>
            <a:ext cx="2843784" cy="3657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767676"/>
              </a:buClr>
              <a:buSzPts val="1400"/>
              <a:buFont typeface="Calibri"/>
              <a:buNone/>
            </a:pPr>
            <a:r>
              <a:rPr lang="en-US" sz="1400">
                <a:solidFill>
                  <a:srgbClr val="767676"/>
                </a:solidFill>
                <a:latin typeface="Calibri"/>
                <a:ea typeface="Calibri"/>
                <a:cs typeface="Calibri"/>
                <a:sym typeface="Calibri"/>
              </a:rPr>
              <a:t>−24.259  ·  duplicado por género</a:t>
            </a:r>
            <a:endParaRPr sz="1400">
              <a:solidFill>
                <a:schemeClr val="dk1"/>
              </a:solidFill>
              <a:latin typeface="Calibri"/>
              <a:ea typeface="Calibri"/>
              <a:cs typeface="Calibri"/>
              <a:sym typeface="Calibri"/>
            </a:endParaRPr>
          </a:p>
        </p:txBody>
      </p:sp>
      <p:sp>
        <p:nvSpPr>
          <p:cNvPr id="192" name="Google Shape;192;p8"/>
          <p:cNvSpPr txBox="1"/>
          <p:nvPr/>
        </p:nvSpPr>
        <p:spPr>
          <a:xfrm>
            <a:off x="7827264" y="3977640"/>
            <a:ext cx="292608" cy="27432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600"/>
              <a:buFont typeface="Calibri"/>
              <a:buNone/>
            </a:pPr>
            <a:r>
              <a:rPr lang="en-US" sz="1600">
                <a:solidFill>
                  <a:srgbClr val="AFAFAF"/>
                </a:solidFill>
                <a:latin typeface="Calibri"/>
                <a:ea typeface="Calibri"/>
                <a:cs typeface="Calibri"/>
                <a:sym typeface="Calibri"/>
              </a:rPr>
              <a:t>→</a:t>
            </a:r>
            <a:endParaRPr sz="1600">
              <a:solidFill>
                <a:schemeClr val="dk1"/>
              </a:solidFill>
              <a:latin typeface="Calibri"/>
              <a:ea typeface="Calibri"/>
              <a:cs typeface="Calibri"/>
              <a:sym typeface="Calibri"/>
            </a:endParaRPr>
          </a:p>
        </p:txBody>
      </p:sp>
      <p:sp>
        <p:nvSpPr>
          <p:cNvPr id="193" name="Google Shape;193;p8"/>
          <p:cNvSpPr/>
          <p:nvPr/>
        </p:nvSpPr>
        <p:spPr>
          <a:xfrm>
            <a:off x="8156448" y="2589513"/>
            <a:ext cx="3392424" cy="1891047"/>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94" name="Google Shape;194;p8"/>
          <p:cNvSpPr txBox="1"/>
          <p:nvPr/>
        </p:nvSpPr>
        <p:spPr>
          <a:xfrm>
            <a:off x="8430768" y="2808969"/>
            <a:ext cx="2843784"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200"/>
              <a:buFont typeface="Cambria"/>
              <a:buNone/>
            </a:pPr>
            <a:r>
              <a:rPr b="1" lang="en-US" sz="3200">
                <a:solidFill>
                  <a:srgbClr val="FFFFFF"/>
                </a:solidFill>
                <a:latin typeface="Cambria"/>
                <a:ea typeface="Cambria"/>
                <a:cs typeface="Cambria"/>
                <a:sym typeface="Cambria"/>
              </a:rPr>
              <a:t>83.478</a:t>
            </a:r>
            <a:endParaRPr sz="3200">
              <a:solidFill>
                <a:schemeClr val="dk1"/>
              </a:solidFill>
              <a:latin typeface="Calibri"/>
              <a:ea typeface="Calibri"/>
              <a:cs typeface="Calibri"/>
              <a:sym typeface="Calibri"/>
            </a:endParaRPr>
          </a:p>
        </p:txBody>
      </p:sp>
      <p:sp>
        <p:nvSpPr>
          <p:cNvPr id="195" name="Google Shape;195;p8"/>
          <p:cNvSpPr txBox="1"/>
          <p:nvPr/>
        </p:nvSpPr>
        <p:spPr>
          <a:xfrm>
            <a:off x="8430768" y="4636008"/>
            <a:ext cx="2843784" cy="36576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767676"/>
              </a:buClr>
              <a:buSzPts val="1400"/>
              <a:buFont typeface="Calibri"/>
              <a:buNone/>
            </a:pPr>
            <a:r>
              <a:rPr lang="en-US" sz="1400">
                <a:solidFill>
                  <a:srgbClr val="767676"/>
                </a:solidFill>
                <a:latin typeface="Calibri"/>
                <a:ea typeface="Calibri"/>
                <a:cs typeface="Calibri"/>
                <a:sym typeface="Calibri"/>
              </a:rPr>
              <a:t>−6.262  ·  duplicado por release</a:t>
            </a:r>
            <a:endParaRPr sz="1400">
              <a:solidFill>
                <a:schemeClr val="dk1"/>
              </a:solidFill>
              <a:latin typeface="Calibri"/>
              <a:ea typeface="Calibri"/>
              <a:cs typeface="Calibri"/>
              <a:sym typeface="Calibri"/>
            </a:endParaRPr>
          </a:p>
        </p:txBody>
      </p:sp>
      <p:sp>
        <p:nvSpPr>
          <p:cNvPr id="196" name="Google Shape;196;p8"/>
          <p:cNvSpPr txBox="1"/>
          <p:nvPr/>
        </p:nvSpPr>
        <p:spPr>
          <a:xfrm>
            <a:off x="640080" y="5257800"/>
            <a:ext cx="10908792"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200"/>
              <a:buFont typeface="Cambria"/>
              <a:buNone/>
            </a:pPr>
            <a:r>
              <a:rPr b="1" lang="en-US" sz="2200">
                <a:solidFill>
                  <a:srgbClr val="0E6B39"/>
                </a:solidFill>
                <a:latin typeface="Cambria"/>
                <a:ea typeface="Cambria"/>
                <a:cs typeface="Cambria"/>
                <a:sym typeface="Cambria"/>
              </a:rPr>
              <a:t>26,8% del dataset eran canciones repetidas</a:t>
            </a:r>
            <a:endParaRPr sz="22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1" name="Shape 201"/>
        <p:cNvGrpSpPr/>
        <p:nvPr/>
      </p:nvGrpSpPr>
      <p:grpSpPr>
        <a:xfrm>
          <a:off x="0" y="0"/>
          <a:ext cx="0" cy="0"/>
          <a:chOff x="0" y="0"/>
          <a:chExt cx="0" cy="0"/>
        </a:xfrm>
      </p:grpSpPr>
      <p:sp>
        <p:nvSpPr>
          <p:cNvPr id="202" name="Google Shape;202;p11"/>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ANÁLISIS EXPLORATORIO</a:t>
            </a:r>
            <a:endParaRPr sz="1000">
              <a:solidFill>
                <a:schemeClr val="dk1"/>
              </a:solidFill>
              <a:latin typeface="Calibri"/>
              <a:ea typeface="Calibri"/>
              <a:cs typeface="Calibri"/>
              <a:sym typeface="Calibri"/>
            </a:endParaRPr>
          </a:p>
        </p:txBody>
      </p:sp>
      <p:sp>
        <p:nvSpPr>
          <p:cNvPr id="203" name="Google Shape;203;p11"/>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El 10,5% de las canciones tiene popularidad exactamente cero</a:t>
            </a:r>
            <a:endParaRPr sz="2600">
              <a:solidFill>
                <a:schemeClr val="dk1"/>
              </a:solidFill>
              <a:latin typeface="Calibri"/>
              <a:ea typeface="Calibri"/>
              <a:cs typeface="Calibri"/>
              <a:sym typeface="Calibri"/>
            </a:endParaRPr>
          </a:p>
        </p:txBody>
      </p:sp>
      <p:sp>
        <p:nvSpPr>
          <p:cNvPr id="204" name="Google Shape;204;p11"/>
          <p:cNvSpPr/>
          <p:nvPr/>
        </p:nvSpPr>
        <p:spPr>
          <a:xfrm>
            <a:off x="640080" y="5120640"/>
            <a:ext cx="7772400" cy="10973"/>
          </a:xfrm>
          <a:prstGeom prst="rect">
            <a:avLst/>
          </a:prstGeom>
          <a:solidFill>
            <a:srgbClr val="D6DAD8"/>
          </a:solidFill>
          <a:ln cap="flat" cmpd="sng" w="12700">
            <a:solidFill>
              <a:srgbClr val="D6DA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5" name="Google Shape;205;p11"/>
          <p:cNvSpPr/>
          <p:nvPr/>
        </p:nvSpPr>
        <p:spPr>
          <a:xfrm>
            <a:off x="640080" y="2377440"/>
            <a:ext cx="127467" cy="274320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6" name="Google Shape;206;p11"/>
          <p:cNvSpPr/>
          <p:nvPr/>
        </p:nvSpPr>
        <p:spPr>
          <a:xfrm>
            <a:off x="795528" y="4908961"/>
            <a:ext cx="127467" cy="21167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7" name="Google Shape;207;p11"/>
          <p:cNvSpPr/>
          <p:nvPr/>
        </p:nvSpPr>
        <p:spPr>
          <a:xfrm>
            <a:off x="950976" y="4926470"/>
            <a:ext cx="127467" cy="19417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8" name="Google Shape;208;p11"/>
          <p:cNvSpPr/>
          <p:nvPr/>
        </p:nvSpPr>
        <p:spPr>
          <a:xfrm>
            <a:off x="1106424" y="4912881"/>
            <a:ext cx="127467" cy="20775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09" name="Google Shape;209;p11"/>
          <p:cNvSpPr/>
          <p:nvPr/>
        </p:nvSpPr>
        <p:spPr>
          <a:xfrm>
            <a:off x="1261872" y="4857218"/>
            <a:ext cx="127467" cy="26342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0" name="Google Shape;210;p11"/>
          <p:cNvSpPr/>
          <p:nvPr/>
        </p:nvSpPr>
        <p:spPr>
          <a:xfrm>
            <a:off x="1417320" y="4731778"/>
            <a:ext cx="127467" cy="38886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1" name="Google Shape;211;p11"/>
          <p:cNvSpPr/>
          <p:nvPr/>
        </p:nvSpPr>
        <p:spPr>
          <a:xfrm>
            <a:off x="1572768" y="4734653"/>
            <a:ext cx="127467" cy="38598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2" name="Google Shape;212;p11"/>
          <p:cNvSpPr/>
          <p:nvPr/>
        </p:nvSpPr>
        <p:spPr>
          <a:xfrm>
            <a:off x="1728216" y="4824812"/>
            <a:ext cx="127467" cy="29582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3" name="Google Shape;213;p11"/>
          <p:cNvSpPr/>
          <p:nvPr/>
        </p:nvSpPr>
        <p:spPr>
          <a:xfrm>
            <a:off x="1883664" y="4584387"/>
            <a:ext cx="127467" cy="53625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4" name="Google Shape;214;p11"/>
          <p:cNvSpPr/>
          <p:nvPr/>
        </p:nvSpPr>
        <p:spPr>
          <a:xfrm>
            <a:off x="2039112" y="4328543"/>
            <a:ext cx="127467" cy="79209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5" name="Google Shape;215;p11"/>
          <p:cNvSpPr/>
          <p:nvPr/>
        </p:nvSpPr>
        <p:spPr>
          <a:xfrm>
            <a:off x="2194560" y="3989596"/>
            <a:ext cx="127467" cy="11310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6" name="Google Shape;216;p11"/>
          <p:cNvSpPr/>
          <p:nvPr/>
        </p:nvSpPr>
        <p:spPr>
          <a:xfrm>
            <a:off x="2350008" y="3997697"/>
            <a:ext cx="127467" cy="112294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7" name="Google Shape;217;p11"/>
          <p:cNvSpPr/>
          <p:nvPr/>
        </p:nvSpPr>
        <p:spPr>
          <a:xfrm>
            <a:off x="2505456" y="4278368"/>
            <a:ext cx="127467" cy="84227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8" name="Google Shape;218;p11"/>
          <p:cNvSpPr/>
          <p:nvPr/>
        </p:nvSpPr>
        <p:spPr>
          <a:xfrm>
            <a:off x="2660904" y="4360948"/>
            <a:ext cx="127467" cy="75969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19" name="Google Shape;219;p11"/>
          <p:cNvSpPr/>
          <p:nvPr/>
        </p:nvSpPr>
        <p:spPr>
          <a:xfrm>
            <a:off x="2816352" y="4418703"/>
            <a:ext cx="127467" cy="70193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0" name="Google Shape;220;p11"/>
          <p:cNvSpPr/>
          <p:nvPr/>
        </p:nvSpPr>
        <p:spPr>
          <a:xfrm>
            <a:off x="2971800" y="4522713"/>
            <a:ext cx="127467" cy="59792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1" name="Google Shape;221;p11"/>
          <p:cNvSpPr/>
          <p:nvPr/>
        </p:nvSpPr>
        <p:spPr>
          <a:xfrm>
            <a:off x="3127248" y="4494750"/>
            <a:ext cx="127467" cy="62589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2" name="Google Shape;222;p11"/>
          <p:cNvSpPr/>
          <p:nvPr/>
        </p:nvSpPr>
        <p:spPr>
          <a:xfrm>
            <a:off x="3282696" y="4457641"/>
            <a:ext cx="127467" cy="66299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3" name="Google Shape;223;p11"/>
          <p:cNvSpPr/>
          <p:nvPr/>
        </p:nvSpPr>
        <p:spPr>
          <a:xfrm>
            <a:off x="3438144" y="4404591"/>
            <a:ext cx="127467" cy="71604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4" name="Google Shape;224;p11"/>
          <p:cNvSpPr/>
          <p:nvPr/>
        </p:nvSpPr>
        <p:spPr>
          <a:xfrm>
            <a:off x="3593592" y="4302671"/>
            <a:ext cx="127467" cy="81796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5" name="Google Shape;225;p11"/>
          <p:cNvSpPr/>
          <p:nvPr/>
        </p:nvSpPr>
        <p:spPr>
          <a:xfrm>
            <a:off x="3749040" y="4292741"/>
            <a:ext cx="127467" cy="82789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6" name="Google Shape;226;p11"/>
          <p:cNvSpPr/>
          <p:nvPr/>
        </p:nvSpPr>
        <p:spPr>
          <a:xfrm>
            <a:off x="3904488" y="4301103"/>
            <a:ext cx="127467" cy="81953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7" name="Google Shape;227;p11"/>
          <p:cNvSpPr/>
          <p:nvPr/>
        </p:nvSpPr>
        <p:spPr>
          <a:xfrm>
            <a:off x="4059936" y="4272618"/>
            <a:ext cx="127467" cy="84802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8" name="Google Shape;228;p11"/>
          <p:cNvSpPr/>
          <p:nvPr/>
        </p:nvSpPr>
        <p:spPr>
          <a:xfrm>
            <a:off x="4215384" y="4385514"/>
            <a:ext cx="127467" cy="73512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29" name="Google Shape;229;p11"/>
          <p:cNvSpPr/>
          <p:nvPr/>
        </p:nvSpPr>
        <p:spPr>
          <a:xfrm>
            <a:off x="4370832" y="4439609"/>
            <a:ext cx="127467" cy="681031"/>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0" name="Google Shape;230;p11"/>
          <p:cNvSpPr/>
          <p:nvPr/>
        </p:nvSpPr>
        <p:spPr>
          <a:xfrm>
            <a:off x="4526280" y="4482990"/>
            <a:ext cx="127467" cy="63765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1" name="Google Shape;231;p11"/>
          <p:cNvSpPr/>
          <p:nvPr/>
        </p:nvSpPr>
        <p:spPr>
          <a:xfrm>
            <a:off x="4681728" y="4525587"/>
            <a:ext cx="127467" cy="59505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2" name="Google Shape;232;p11"/>
          <p:cNvSpPr/>
          <p:nvPr/>
        </p:nvSpPr>
        <p:spPr>
          <a:xfrm>
            <a:off x="4837176" y="4522713"/>
            <a:ext cx="127467" cy="597927"/>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3" name="Google Shape;233;p11"/>
          <p:cNvSpPr/>
          <p:nvPr/>
        </p:nvSpPr>
        <p:spPr>
          <a:xfrm>
            <a:off x="4992624" y="4518009"/>
            <a:ext cx="127467" cy="602631"/>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4" name="Google Shape;234;p11"/>
          <p:cNvSpPr/>
          <p:nvPr/>
        </p:nvSpPr>
        <p:spPr>
          <a:xfrm>
            <a:off x="5148072" y="4574979"/>
            <a:ext cx="127467" cy="545661"/>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5" name="Google Shape;235;p11"/>
          <p:cNvSpPr/>
          <p:nvPr/>
        </p:nvSpPr>
        <p:spPr>
          <a:xfrm>
            <a:off x="5303520" y="4652072"/>
            <a:ext cx="127467" cy="46856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6" name="Google Shape;236;p11"/>
          <p:cNvSpPr/>
          <p:nvPr/>
        </p:nvSpPr>
        <p:spPr>
          <a:xfrm>
            <a:off x="5458968" y="4710872"/>
            <a:ext cx="127467" cy="40976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7" name="Google Shape;237;p11"/>
          <p:cNvSpPr/>
          <p:nvPr/>
        </p:nvSpPr>
        <p:spPr>
          <a:xfrm>
            <a:off x="5614416" y="4770978"/>
            <a:ext cx="127467" cy="349662"/>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8" name="Google Shape;238;p11"/>
          <p:cNvSpPr/>
          <p:nvPr/>
        </p:nvSpPr>
        <p:spPr>
          <a:xfrm>
            <a:off x="5769864" y="4821415"/>
            <a:ext cx="127467" cy="299225"/>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39" name="Google Shape;239;p11"/>
          <p:cNvSpPr/>
          <p:nvPr/>
        </p:nvSpPr>
        <p:spPr>
          <a:xfrm>
            <a:off x="5925312" y="4901905"/>
            <a:ext cx="127467" cy="218735"/>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0" name="Google Shape;240;p11"/>
          <p:cNvSpPr/>
          <p:nvPr/>
        </p:nvSpPr>
        <p:spPr>
          <a:xfrm>
            <a:off x="6080760" y="4922289"/>
            <a:ext cx="127467" cy="198351"/>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1" name="Google Shape;241;p11"/>
          <p:cNvSpPr/>
          <p:nvPr/>
        </p:nvSpPr>
        <p:spPr>
          <a:xfrm>
            <a:off x="6236208" y="4972204"/>
            <a:ext cx="127467" cy="1484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2" name="Google Shape;242;p11"/>
          <p:cNvSpPr/>
          <p:nvPr/>
        </p:nvSpPr>
        <p:spPr>
          <a:xfrm>
            <a:off x="6391656" y="4984747"/>
            <a:ext cx="127467" cy="13589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3" name="Google Shape;243;p11"/>
          <p:cNvSpPr/>
          <p:nvPr/>
        </p:nvSpPr>
        <p:spPr>
          <a:xfrm>
            <a:off x="6547104" y="5021857"/>
            <a:ext cx="127467" cy="9878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4" name="Google Shape;244;p11"/>
          <p:cNvSpPr/>
          <p:nvPr/>
        </p:nvSpPr>
        <p:spPr>
          <a:xfrm>
            <a:off x="6702552" y="5048512"/>
            <a:ext cx="127467" cy="7212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5" name="Google Shape;245;p11"/>
          <p:cNvSpPr/>
          <p:nvPr/>
        </p:nvSpPr>
        <p:spPr>
          <a:xfrm>
            <a:off x="6858000" y="5063670"/>
            <a:ext cx="127467" cy="5697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6" name="Google Shape;246;p11"/>
          <p:cNvSpPr/>
          <p:nvPr/>
        </p:nvSpPr>
        <p:spPr>
          <a:xfrm>
            <a:off x="7013448" y="5075691"/>
            <a:ext cx="127467" cy="4494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7" name="Google Shape;247;p11"/>
          <p:cNvSpPr/>
          <p:nvPr/>
        </p:nvSpPr>
        <p:spPr>
          <a:xfrm>
            <a:off x="7168896" y="5094507"/>
            <a:ext cx="127467" cy="26133"/>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8" name="Google Shape;248;p11"/>
          <p:cNvSpPr/>
          <p:nvPr/>
        </p:nvSpPr>
        <p:spPr>
          <a:xfrm>
            <a:off x="7324344" y="5107312"/>
            <a:ext cx="127467" cy="1332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49" name="Google Shape;249;p11"/>
          <p:cNvSpPr/>
          <p:nvPr/>
        </p:nvSpPr>
        <p:spPr>
          <a:xfrm>
            <a:off x="7479792" y="5109141"/>
            <a:ext cx="127467" cy="11499"/>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0" name="Google Shape;250;p11"/>
          <p:cNvSpPr/>
          <p:nvPr/>
        </p:nvSpPr>
        <p:spPr>
          <a:xfrm>
            <a:off x="7635240" y="5115675"/>
            <a:ext cx="127467" cy="91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1" name="Google Shape;251;p11"/>
          <p:cNvSpPr/>
          <p:nvPr/>
        </p:nvSpPr>
        <p:spPr>
          <a:xfrm>
            <a:off x="7790688" y="5118027"/>
            <a:ext cx="127467" cy="91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2" name="Google Shape;252;p11"/>
          <p:cNvSpPr/>
          <p:nvPr/>
        </p:nvSpPr>
        <p:spPr>
          <a:xfrm>
            <a:off x="7946136" y="5119595"/>
            <a:ext cx="127467" cy="91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3" name="Google Shape;253;p11"/>
          <p:cNvSpPr/>
          <p:nvPr/>
        </p:nvSpPr>
        <p:spPr>
          <a:xfrm>
            <a:off x="8101584" y="5119333"/>
            <a:ext cx="127467" cy="91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4" name="Google Shape;254;p11"/>
          <p:cNvSpPr/>
          <p:nvPr/>
        </p:nvSpPr>
        <p:spPr>
          <a:xfrm>
            <a:off x="8257032" y="5119595"/>
            <a:ext cx="127467" cy="9144"/>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55" name="Google Shape;255;p11"/>
          <p:cNvSpPr txBox="1"/>
          <p:nvPr/>
        </p:nvSpPr>
        <p:spPr>
          <a:xfrm>
            <a:off x="365760" y="5212080"/>
            <a:ext cx="5486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100"/>
              <a:buFont typeface="Calibri"/>
              <a:buNone/>
            </a:pPr>
            <a:r>
              <a:rPr lang="en-US" sz="1100">
                <a:solidFill>
                  <a:srgbClr val="767676"/>
                </a:solidFill>
                <a:latin typeface="Calibri"/>
                <a:ea typeface="Calibri"/>
                <a:cs typeface="Calibri"/>
                <a:sym typeface="Calibri"/>
              </a:rPr>
              <a:t>0</a:t>
            </a:r>
            <a:endParaRPr sz="1100">
              <a:solidFill>
                <a:schemeClr val="dk1"/>
              </a:solidFill>
              <a:latin typeface="Calibri"/>
              <a:ea typeface="Calibri"/>
              <a:cs typeface="Calibri"/>
              <a:sym typeface="Calibri"/>
            </a:endParaRPr>
          </a:p>
        </p:txBody>
      </p:sp>
      <p:sp>
        <p:nvSpPr>
          <p:cNvPr id="256" name="Google Shape;256;p11"/>
          <p:cNvSpPr txBox="1"/>
          <p:nvPr/>
        </p:nvSpPr>
        <p:spPr>
          <a:xfrm>
            <a:off x="2308860" y="5212080"/>
            <a:ext cx="5486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100"/>
              <a:buFont typeface="Calibri"/>
              <a:buNone/>
            </a:pPr>
            <a:r>
              <a:rPr lang="en-US" sz="1100">
                <a:solidFill>
                  <a:srgbClr val="767676"/>
                </a:solidFill>
                <a:latin typeface="Calibri"/>
                <a:ea typeface="Calibri"/>
                <a:cs typeface="Calibri"/>
                <a:sym typeface="Calibri"/>
              </a:rPr>
              <a:t>25</a:t>
            </a:r>
            <a:endParaRPr sz="1100">
              <a:solidFill>
                <a:schemeClr val="dk1"/>
              </a:solidFill>
              <a:latin typeface="Calibri"/>
              <a:ea typeface="Calibri"/>
              <a:cs typeface="Calibri"/>
              <a:sym typeface="Calibri"/>
            </a:endParaRPr>
          </a:p>
        </p:txBody>
      </p:sp>
      <p:sp>
        <p:nvSpPr>
          <p:cNvPr id="257" name="Google Shape;257;p11"/>
          <p:cNvSpPr txBox="1"/>
          <p:nvPr/>
        </p:nvSpPr>
        <p:spPr>
          <a:xfrm>
            <a:off x="4251960" y="5212080"/>
            <a:ext cx="5486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100"/>
              <a:buFont typeface="Calibri"/>
              <a:buNone/>
            </a:pPr>
            <a:r>
              <a:rPr lang="en-US" sz="1100">
                <a:solidFill>
                  <a:srgbClr val="767676"/>
                </a:solidFill>
                <a:latin typeface="Calibri"/>
                <a:ea typeface="Calibri"/>
                <a:cs typeface="Calibri"/>
                <a:sym typeface="Calibri"/>
              </a:rPr>
              <a:t>50</a:t>
            </a:r>
            <a:endParaRPr sz="1100">
              <a:solidFill>
                <a:schemeClr val="dk1"/>
              </a:solidFill>
              <a:latin typeface="Calibri"/>
              <a:ea typeface="Calibri"/>
              <a:cs typeface="Calibri"/>
              <a:sym typeface="Calibri"/>
            </a:endParaRPr>
          </a:p>
        </p:txBody>
      </p:sp>
      <p:sp>
        <p:nvSpPr>
          <p:cNvPr id="258" name="Google Shape;258;p11"/>
          <p:cNvSpPr txBox="1"/>
          <p:nvPr/>
        </p:nvSpPr>
        <p:spPr>
          <a:xfrm>
            <a:off x="6195060" y="5212080"/>
            <a:ext cx="5486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100"/>
              <a:buFont typeface="Calibri"/>
              <a:buNone/>
            </a:pPr>
            <a:r>
              <a:rPr lang="en-US" sz="1100">
                <a:solidFill>
                  <a:srgbClr val="767676"/>
                </a:solidFill>
                <a:latin typeface="Calibri"/>
                <a:ea typeface="Calibri"/>
                <a:cs typeface="Calibri"/>
                <a:sym typeface="Calibri"/>
              </a:rPr>
              <a:t>75</a:t>
            </a:r>
            <a:endParaRPr sz="1100">
              <a:solidFill>
                <a:schemeClr val="dk1"/>
              </a:solidFill>
              <a:latin typeface="Calibri"/>
              <a:ea typeface="Calibri"/>
              <a:cs typeface="Calibri"/>
              <a:sym typeface="Calibri"/>
            </a:endParaRPr>
          </a:p>
        </p:txBody>
      </p:sp>
      <p:sp>
        <p:nvSpPr>
          <p:cNvPr id="259" name="Google Shape;259;p11"/>
          <p:cNvSpPr txBox="1"/>
          <p:nvPr/>
        </p:nvSpPr>
        <p:spPr>
          <a:xfrm>
            <a:off x="8138160" y="5212080"/>
            <a:ext cx="548640"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100"/>
              <a:buFont typeface="Calibri"/>
              <a:buNone/>
            </a:pPr>
            <a:r>
              <a:rPr lang="en-US" sz="1100">
                <a:solidFill>
                  <a:srgbClr val="767676"/>
                </a:solidFill>
                <a:latin typeface="Calibri"/>
                <a:ea typeface="Calibri"/>
                <a:cs typeface="Calibri"/>
                <a:sym typeface="Calibri"/>
              </a:rPr>
              <a:t>100</a:t>
            </a:r>
            <a:endParaRPr sz="1100">
              <a:solidFill>
                <a:schemeClr val="dk1"/>
              </a:solidFill>
              <a:latin typeface="Calibri"/>
              <a:ea typeface="Calibri"/>
              <a:cs typeface="Calibri"/>
              <a:sym typeface="Calibri"/>
            </a:endParaRPr>
          </a:p>
        </p:txBody>
      </p:sp>
      <p:sp>
        <p:nvSpPr>
          <p:cNvPr id="260" name="Google Shape;260;p11"/>
          <p:cNvSpPr txBox="1"/>
          <p:nvPr/>
        </p:nvSpPr>
        <p:spPr>
          <a:xfrm>
            <a:off x="640080" y="5504688"/>
            <a:ext cx="777240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1100"/>
              <a:buFont typeface="Calibri"/>
              <a:buNone/>
            </a:pPr>
            <a:r>
              <a:rPr i="1" lang="en-US" sz="1100">
                <a:solidFill>
                  <a:srgbClr val="AFAFAF"/>
                </a:solidFill>
                <a:latin typeface="Calibri"/>
                <a:ea typeface="Calibri"/>
                <a:cs typeface="Calibri"/>
                <a:sym typeface="Calibri"/>
              </a:rPr>
              <a:t>popularity</a:t>
            </a:r>
            <a:endParaRPr sz="1100">
              <a:solidFill>
                <a:schemeClr val="dk1"/>
              </a:solidFill>
              <a:latin typeface="Calibri"/>
              <a:ea typeface="Calibri"/>
              <a:cs typeface="Calibri"/>
              <a:sym typeface="Calibri"/>
            </a:endParaRPr>
          </a:p>
        </p:txBody>
      </p:sp>
      <p:sp>
        <p:nvSpPr>
          <p:cNvPr id="261" name="Google Shape;261;p11"/>
          <p:cNvSpPr txBox="1"/>
          <p:nvPr/>
        </p:nvSpPr>
        <p:spPr>
          <a:xfrm>
            <a:off x="960120" y="2011680"/>
            <a:ext cx="201168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400"/>
              <a:buFont typeface="Calibri"/>
              <a:buNone/>
            </a:pPr>
            <a:r>
              <a:rPr b="1" lang="en-US" sz="1400">
                <a:solidFill>
                  <a:srgbClr val="0E6B39"/>
                </a:solidFill>
                <a:latin typeface="Calibri"/>
                <a:ea typeface="Calibri"/>
                <a:cs typeface="Calibri"/>
                <a:sym typeface="Calibri"/>
              </a:rPr>
              <a:t>9.413 canciones</a:t>
            </a:r>
            <a:endParaRPr sz="1400">
              <a:solidFill>
                <a:schemeClr val="dk1"/>
              </a:solidFill>
              <a:latin typeface="Calibri"/>
              <a:ea typeface="Calibri"/>
              <a:cs typeface="Calibri"/>
              <a:sym typeface="Calibri"/>
            </a:endParaRPr>
          </a:p>
        </p:txBody>
      </p:sp>
      <p:sp>
        <p:nvSpPr>
          <p:cNvPr id="262" name="Google Shape;262;p11"/>
          <p:cNvSpPr txBox="1"/>
          <p:nvPr/>
        </p:nvSpPr>
        <p:spPr>
          <a:xfrm>
            <a:off x="8961120" y="2359152"/>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050"/>
              <a:buFont typeface="Calibri"/>
              <a:buNone/>
            </a:pPr>
            <a:r>
              <a:rPr b="1" lang="en-US" sz="1050">
                <a:solidFill>
                  <a:srgbClr val="767676"/>
                </a:solidFill>
                <a:latin typeface="Calibri"/>
                <a:ea typeface="Calibri"/>
                <a:cs typeface="Calibri"/>
                <a:sym typeface="Calibri"/>
              </a:rPr>
              <a:t>DE DÓNDE VIENE</a:t>
            </a:r>
            <a:endParaRPr sz="1050">
              <a:solidFill>
                <a:schemeClr val="dk1"/>
              </a:solidFill>
              <a:latin typeface="Calibri"/>
              <a:ea typeface="Calibri"/>
              <a:cs typeface="Calibri"/>
              <a:sym typeface="Calibri"/>
            </a:endParaRPr>
          </a:p>
        </p:txBody>
      </p:sp>
      <p:sp>
        <p:nvSpPr>
          <p:cNvPr id="263" name="Google Shape;263;p11"/>
          <p:cNvSpPr txBox="1"/>
          <p:nvPr/>
        </p:nvSpPr>
        <p:spPr>
          <a:xfrm>
            <a:off x="8961120" y="2788920"/>
            <a:ext cx="2606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b="1" lang="en-US" sz="1500">
                <a:solidFill>
                  <a:srgbClr val="1C1C1C"/>
                </a:solidFill>
                <a:latin typeface="Calibri"/>
                <a:ea typeface="Calibri"/>
                <a:cs typeface="Calibri"/>
                <a:sym typeface="Calibri"/>
              </a:rPr>
              <a:t>Música de catálogo</a:t>
            </a:r>
            <a:endParaRPr sz="1500">
              <a:solidFill>
                <a:schemeClr val="dk1"/>
              </a:solidFill>
              <a:latin typeface="Calibri"/>
              <a:ea typeface="Calibri"/>
              <a:cs typeface="Calibri"/>
              <a:sym typeface="Calibri"/>
            </a:endParaRPr>
          </a:p>
        </p:txBody>
      </p:sp>
      <p:sp>
        <p:nvSpPr>
          <p:cNvPr id="264" name="Google Shape;264;p11"/>
          <p:cNvSpPr txBox="1"/>
          <p:nvPr/>
        </p:nvSpPr>
        <p:spPr>
          <a:xfrm>
            <a:off x="8961120" y="3081528"/>
            <a:ext cx="2606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00"/>
              <a:buFont typeface="Calibri"/>
              <a:buNone/>
            </a:pPr>
            <a:r>
              <a:rPr lang="en-US" sz="1300">
                <a:solidFill>
                  <a:srgbClr val="767676"/>
                </a:solidFill>
                <a:latin typeface="Calibri"/>
                <a:ea typeface="Calibri"/>
                <a:cs typeface="Calibri"/>
                <a:sym typeface="Calibri"/>
              </a:rPr>
              <a:t>ambient, sleep, stock</a:t>
            </a:r>
            <a:endParaRPr sz="1300">
              <a:solidFill>
                <a:schemeClr val="dk1"/>
              </a:solidFill>
              <a:latin typeface="Calibri"/>
              <a:ea typeface="Calibri"/>
              <a:cs typeface="Calibri"/>
              <a:sym typeface="Calibri"/>
            </a:endParaRPr>
          </a:p>
        </p:txBody>
      </p:sp>
      <p:sp>
        <p:nvSpPr>
          <p:cNvPr id="265" name="Google Shape;265;p11"/>
          <p:cNvSpPr txBox="1"/>
          <p:nvPr/>
        </p:nvSpPr>
        <p:spPr>
          <a:xfrm>
            <a:off x="8961120" y="3703320"/>
            <a:ext cx="2606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b="1" lang="en-US" sz="1500">
                <a:solidFill>
                  <a:srgbClr val="1C1C1C"/>
                </a:solidFill>
                <a:latin typeface="Calibri"/>
                <a:ea typeface="Calibri"/>
                <a:cs typeface="Calibri"/>
                <a:sym typeface="Calibri"/>
              </a:rPr>
              <a:t>Releases sin tracción</a:t>
            </a:r>
            <a:endParaRPr sz="1500">
              <a:solidFill>
                <a:schemeClr val="dk1"/>
              </a:solidFill>
              <a:latin typeface="Calibri"/>
              <a:ea typeface="Calibri"/>
              <a:cs typeface="Calibri"/>
              <a:sym typeface="Calibri"/>
            </a:endParaRPr>
          </a:p>
        </p:txBody>
      </p:sp>
      <p:sp>
        <p:nvSpPr>
          <p:cNvPr id="266" name="Google Shape;266;p11"/>
          <p:cNvSpPr txBox="1"/>
          <p:nvPr/>
        </p:nvSpPr>
        <p:spPr>
          <a:xfrm>
            <a:off x="8961120" y="3995928"/>
            <a:ext cx="26060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00"/>
              <a:buFont typeface="Calibri"/>
              <a:buNone/>
            </a:pPr>
            <a:r>
              <a:rPr lang="en-US" sz="1300">
                <a:solidFill>
                  <a:srgbClr val="767676"/>
                </a:solidFill>
                <a:latin typeface="Calibri"/>
                <a:ea typeface="Calibri"/>
                <a:cs typeface="Calibri"/>
                <a:sym typeface="Calibri"/>
              </a:rPr>
              <a:t>54% de estos ceros</a:t>
            </a:r>
            <a:endParaRPr sz="1300">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1" name="Shape 271"/>
        <p:cNvGrpSpPr/>
        <p:nvPr/>
      </p:nvGrpSpPr>
      <p:grpSpPr>
        <a:xfrm>
          <a:off x="0" y="0"/>
          <a:ext cx="0" cy="0"/>
          <a:chOff x="0" y="0"/>
          <a:chExt cx="0" cy="0"/>
        </a:xfrm>
      </p:grpSpPr>
      <p:sp>
        <p:nvSpPr>
          <p:cNvPr id="272" name="Google Shape;272;p9"/>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CALIDAD DE LOS DATOS</a:t>
            </a:r>
            <a:endParaRPr sz="1000">
              <a:solidFill>
                <a:schemeClr val="dk1"/>
              </a:solidFill>
              <a:latin typeface="Calibri"/>
              <a:ea typeface="Calibri"/>
              <a:cs typeface="Calibri"/>
              <a:sym typeface="Calibri"/>
            </a:endParaRPr>
          </a:p>
        </p:txBody>
      </p:sp>
      <p:sp>
        <p:nvSpPr>
          <p:cNvPr id="273" name="Google Shape;273;p9"/>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El mismo audio: popularidad 0 en un release, 98 en otro</a:t>
            </a:r>
            <a:endParaRPr sz="2600">
              <a:solidFill>
                <a:schemeClr val="dk1"/>
              </a:solidFill>
              <a:latin typeface="Calibri"/>
              <a:ea typeface="Calibri"/>
              <a:cs typeface="Calibri"/>
              <a:sym typeface="Calibri"/>
            </a:endParaRPr>
          </a:p>
        </p:txBody>
      </p:sp>
      <p:sp>
        <p:nvSpPr>
          <p:cNvPr id="274" name="Google Shape;274;p9"/>
          <p:cNvSpPr/>
          <p:nvPr/>
        </p:nvSpPr>
        <p:spPr>
          <a:xfrm>
            <a:off x="640080" y="2103120"/>
            <a:ext cx="5120640" cy="21031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5" name="Google Shape;275;p9"/>
          <p:cNvSpPr txBox="1"/>
          <p:nvPr/>
        </p:nvSpPr>
        <p:spPr>
          <a:xfrm>
            <a:off x="1051560" y="2359152"/>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050"/>
              <a:buFont typeface="Calibri"/>
              <a:buNone/>
            </a:pPr>
            <a:r>
              <a:rPr b="1" lang="en-US" sz="1050">
                <a:solidFill>
                  <a:srgbClr val="767676"/>
                </a:solidFill>
                <a:latin typeface="Calibri"/>
                <a:ea typeface="Calibri"/>
                <a:cs typeface="Calibri"/>
                <a:sym typeface="Calibri"/>
              </a:rPr>
              <a:t>RELEASE A</a:t>
            </a:r>
            <a:endParaRPr sz="1050">
              <a:solidFill>
                <a:schemeClr val="dk1"/>
              </a:solidFill>
              <a:latin typeface="Calibri"/>
              <a:ea typeface="Calibri"/>
              <a:cs typeface="Calibri"/>
              <a:sym typeface="Calibri"/>
            </a:endParaRPr>
          </a:p>
        </p:txBody>
      </p:sp>
      <p:sp>
        <p:nvSpPr>
          <p:cNvPr id="276" name="Google Shape;276;p9"/>
          <p:cNvSpPr txBox="1"/>
          <p:nvPr/>
        </p:nvSpPr>
        <p:spPr>
          <a:xfrm>
            <a:off x="1051560" y="2651760"/>
            <a:ext cx="219456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6600"/>
              <a:buFont typeface="Cambria"/>
              <a:buNone/>
            </a:pPr>
            <a:r>
              <a:rPr b="1" lang="en-US" sz="6600">
                <a:solidFill>
                  <a:srgbClr val="AFAFAF"/>
                </a:solidFill>
                <a:latin typeface="Cambria"/>
                <a:ea typeface="Cambria"/>
                <a:cs typeface="Cambria"/>
                <a:sym typeface="Cambria"/>
              </a:rPr>
              <a:t>0</a:t>
            </a:r>
            <a:endParaRPr sz="6600">
              <a:solidFill>
                <a:schemeClr val="dk1"/>
              </a:solidFill>
              <a:latin typeface="Calibri"/>
              <a:ea typeface="Calibri"/>
              <a:cs typeface="Calibri"/>
              <a:sym typeface="Calibri"/>
            </a:endParaRPr>
          </a:p>
        </p:txBody>
      </p:sp>
      <p:sp>
        <p:nvSpPr>
          <p:cNvPr id="277" name="Google Shape;277;p9"/>
          <p:cNvSpPr/>
          <p:nvPr/>
        </p:nvSpPr>
        <p:spPr>
          <a:xfrm>
            <a:off x="6428232" y="2103120"/>
            <a:ext cx="5120640" cy="210312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278" name="Google Shape;278;p9"/>
          <p:cNvSpPr txBox="1"/>
          <p:nvPr/>
        </p:nvSpPr>
        <p:spPr>
          <a:xfrm>
            <a:off x="6839712" y="2359152"/>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1050"/>
              <a:buFont typeface="Calibri"/>
              <a:buNone/>
            </a:pPr>
            <a:r>
              <a:rPr b="1" lang="en-US" sz="1050">
                <a:solidFill>
                  <a:srgbClr val="18A558"/>
                </a:solidFill>
                <a:latin typeface="Calibri"/>
                <a:ea typeface="Calibri"/>
                <a:cs typeface="Calibri"/>
                <a:sym typeface="Calibri"/>
              </a:rPr>
              <a:t>RELEASE B</a:t>
            </a:r>
            <a:endParaRPr sz="1050">
              <a:solidFill>
                <a:schemeClr val="dk1"/>
              </a:solidFill>
              <a:latin typeface="Calibri"/>
              <a:ea typeface="Calibri"/>
              <a:cs typeface="Calibri"/>
              <a:sym typeface="Calibri"/>
            </a:endParaRPr>
          </a:p>
        </p:txBody>
      </p:sp>
      <p:sp>
        <p:nvSpPr>
          <p:cNvPr id="279" name="Google Shape;279;p9"/>
          <p:cNvSpPr txBox="1"/>
          <p:nvPr/>
        </p:nvSpPr>
        <p:spPr>
          <a:xfrm>
            <a:off x="6839712" y="2651760"/>
            <a:ext cx="2194560" cy="10972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6600"/>
              <a:buFont typeface="Cambria"/>
              <a:buNone/>
            </a:pPr>
            <a:r>
              <a:rPr b="1" lang="en-US" sz="6600">
                <a:solidFill>
                  <a:srgbClr val="18A558"/>
                </a:solidFill>
                <a:latin typeface="Cambria"/>
                <a:ea typeface="Cambria"/>
                <a:cs typeface="Cambria"/>
                <a:sym typeface="Cambria"/>
              </a:rPr>
              <a:t>98</a:t>
            </a:r>
            <a:endParaRPr sz="6600">
              <a:solidFill>
                <a:schemeClr val="dk1"/>
              </a:solidFill>
              <a:latin typeface="Calibri"/>
              <a:ea typeface="Calibri"/>
              <a:cs typeface="Calibri"/>
              <a:sym typeface="Calibri"/>
            </a:endParaRPr>
          </a:p>
        </p:txBody>
      </p:sp>
      <p:sp>
        <p:nvSpPr>
          <p:cNvPr id="280" name="Google Shape;280;p9"/>
          <p:cNvSpPr txBox="1"/>
          <p:nvPr/>
        </p:nvSpPr>
        <p:spPr>
          <a:xfrm>
            <a:off x="5760720" y="2880360"/>
            <a:ext cx="667512"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AFAFAF"/>
              </a:buClr>
              <a:buSzPts val="2800"/>
              <a:buFont typeface="Cambria"/>
              <a:buNone/>
            </a:pPr>
            <a:r>
              <a:rPr b="1" lang="en-US" sz="2800">
                <a:solidFill>
                  <a:srgbClr val="AFAFAF"/>
                </a:solidFill>
                <a:latin typeface="Cambria"/>
                <a:ea typeface="Cambria"/>
                <a:cs typeface="Cambria"/>
                <a:sym typeface="Cambria"/>
              </a:rPr>
              <a:t>≠</a:t>
            </a:r>
            <a:endParaRPr sz="2800">
              <a:solidFill>
                <a:schemeClr val="dk1"/>
              </a:solidFill>
              <a:latin typeface="Calibri"/>
              <a:ea typeface="Calibri"/>
              <a:cs typeface="Calibri"/>
              <a:sym typeface="Calibri"/>
            </a:endParaRPr>
          </a:p>
        </p:txBody>
      </p:sp>
      <p:sp>
        <p:nvSpPr>
          <p:cNvPr id="281" name="Google Shape;281;p9"/>
          <p:cNvSpPr txBox="1"/>
          <p:nvPr/>
        </p:nvSpPr>
        <p:spPr>
          <a:xfrm>
            <a:off x="640080" y="4389120"/>
            <a:ext cx="10908792" cy="3200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1400"/>
              <a:buFont typeface="Calibri"/>
              <a:buNone/>
            </a:pPr>
            <a:r>
              <a:rPr i="1" lang="en-US" sz="1400">
                <a:solidFill>
                  <a:srgbClr val="767676"/>
                </a:solidFill>
                <a:latin typeface="Calibri"/>
                <a:ea typeface="Calibri"/>
                <a:cs typeface="Calibri"/>
                <a:sym typeface="Calibri"/>
              </a:rPr>
              <a:t>«I'm Good (Blue)»  ·  13 variables de audio idénticas</a:t>
            </a:r>
            <a:endParaRPr sz="1400">
              <a:solidFill>
                <a:schemeClr val="dk1"/>
              </a:solidFill>
              <a:latin typeface="Calibri"/>
              <a:ea typeface="Calibri"/>
              <a:cs typeface="Calibri"/>
              <a:sym typeface="Calibri"/>
            </a:endParaRPr>
          </a:p>
        </p:txBody>
      </p:sp>
      <p:sp>
        <p:nvSpPr>
          <p:cNvPr id="282" name="Google Shape;282;p9"/>
          <p:cNvSpPr txBox="1"/>
          <p:nvPr/>
        </p:nvSpPr>
        <p:spPr>
          <a:xfrm>
            <a:off x="640080" y="4892040"/>
            <a:ext cx="3392424"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800"/>
              <a:buFont typeface="Cambria"/>
              <a:buNone/>
            </a:pPr>
            <a:r>
              <a:rPr b="1" lang="en-US" sz="2800">
                <a:solidFill>
                  <a:srgbClr val="0E6B39"/>
                </a:solidFill>
                <a:latin typeface="Cambria"/>
                <a:ea typeface="Cambria"/>
                <a:cs typeface="Cambria"/>
                <a:sym typeface="Cambria"/>
              </a:rPr>
              <a:t>3.022</a:t>
            </a:r>
            <a:endParaRPr sz="2800">
              <a:solidFill>
                <a:schemeClr val="dk1"/>
              </a:solidFill>
              <a:latin typeface="Calibri"/>
              <a:ea typeface="Calibri"/>
              <a:cs typeface="Calibri"/>
              <a:sym typeface="Calibri"/>
            </a:endParaRPr>
          </a:p>
        </p:txBody>
      </p:sp>
      <p:sp>
        <p:nvSpPr>
          <p:cNvPr id="283" name="Google Shape;283;p9"/>
          <p:cNvSpPr txBox="1"/>
          <p:nvPr/>
        </p:nvSpPr>
        <p:spPr>
          <a:xfrm>
            <a:off x="640080" y="5394960"/>
            <a:ext cx="3392424"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50"/>
              <a:buFont typeface="Calibri"/>
              <a:buNone/>
            </a:pPr>
            <a:r>
              <a:rPr lang="en-US" sz="1350">
                <a:solidFill>
                  <a:srgbClr val="767676"/>
                </a:solidFill>
                <a:latin typeface="Calibri"/>
                <a:ea typeface="Calibri"/>
                <a:cs typeface="Calibri"/>
                <a:sym typeface="Calibri"/>
              </a:rPr>
              <a:t>grupos de audio idéntico</a:t>
            </a:r>
            <a:endParaRPr sz="1350">
              <a:solidFill>
                <a:schemeClr val="dk1"/>
              </a:solidFill>
              <a:latin typeface="Calibri"/>
              <a:ea typeface="Calibri"/>
              <a:cs typeface="Calibri"/>
              <a:sym typeface="Calibri"/>
            </a:endParaRPr>
          </a:p>
        </p:txBody>
      </p:sp>
      <p:sp>
        <p:nvSpPr>
          <p:cNvPr id="284" name="Google Shape;284;p9"/>
          <p:cNvSpPr txBox="1"/>
          <p:nvPr/>
        </p:nvSpPr>
        <p:spPr>
          <a:xfrm>
            <a:off x="4398264" y="4892040"/>
            <a:ext cx="3392424"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800"/>
              <a:buFont typeface="Cambria"/>
              <a:buNone/>
            </a:pPr>
            <a:r>
              <a:rPr b="1" lang="en-US" sz="2800">
                <a:solidFill>
                  <a:srgbClr val="0E6B39"/>
                </a:solidFill>
                <a:latin typeface="Cambria"/>
                <a:ea typeface="Cambria"/>
                <a:cs typeface="Cambria"/>
                <a:sym typeface="Cambria"/>
              </a:rPr>
              <a:t>466</a:t>
            </a:r>
            <a:endParaRPr sz="2800">
              <a:solidFill>
                <a:schemeClr val="dk1"/>
              </a:solidFill>
              <a:latin typeface="Calibri"/>
              <a:ea typeface="Calibri"/>
              <a:cs typeface="Calibri"/>
              <a:sym typeface="Calibri"/>
            </a:endParaRPr>
          </a:p>
        </p:txBody>
      </p:sp>
      <p:sp>
        <p:nvSpPr>
          <p:cNvPr id="285" name="Google Shape;285;p9"/>
          <p:cNvSpPr txBox="1"/>
          <p:nvPr/>
        </p:nvSpPr>
        <p:spPr>
          <a:xfrm>
            <a:off x="4398264" y="5394960"/>
            <a:ext cx="3392424"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50"/>
              <a:buFont typeface="Calibri"/>
              <a:buNone/>
            </a:pPr>
            <a:r>
              <a:rPr lang="en-US" sz="1350">
                <a:solidFill>
                  <a:srgbClr val="767676"/>
                </a:solidFill>
                <a:latin typeface="Calibri"/>
                <a:ea typeface="Calibri"/>
                <a:cs typeface="Calibri"/>
                <a:sym typeface="Calibri"/>
              </a:rPr>
              <a:t>con rango ≥ 30 puntos</a:t>
            </a:r>
            <a:endParaRPr sz="1350">
              <a:solidFill>
                <a:schemeClr val="dk1"/>
              </a:solidFill>
              <a:latin typeface="Calibri"/>
              <a:ea typeface="Calibri"/>
              <a:cs typeface="Calibri"/>
              <a:sym typeface="Calibri"/>
            </a:endParaRPr>
          </a:p>
        </p:txBody>
      </p:sp>
      <p:sp>
        <p:nvSpPr>
          <p:cNvPr id="286" name="Google Shape;286;p9"/>
          <p:cNvSpPr txBox="1"/>
          <p:nvPr/>
        </p:nvSpPr>
        <p:spPr>
          <a:xfrm>
            <a:off x="8156448" y="4892040"/>
            <a:ext cx="3392424"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800"/>
              <a:buFont typeface="Cambria"/>
              <a:buNone/>
            </a:pPr>
            <a:r>
              <a:rPr b="1" lang="en-US" sz="2800">
                <a:solidFill>
                  <a:srgbClr val="0E6B39"/>
                </a:solidFill>
                <a:latin typeface="Cambria"/>
                <a:ea typeface="Cambria"/>
                <a:cs typeface="Cambria"/>
                <a:sym typeface="Cambria"/>
              </a:rPr>
              <a:t>54%</a:t>
            </a:r>
            <a:endParaRPr sz="2800">
              <a:solidFill>
                <a:schemeClr val="dk1"/>
              </a:solidFill>
              <a:latin typeface="Calibri"/>
              <a:ea typeface="Calibri"/>
              <a:cs typeface="Calibri"/>
              <a:sym typeface="Calibri"/>
            </a:endParaRPr>
          </a:p>
        </p:txBody>
      </p:sp>
      <p:sp>
        <p:nvSpPr>
          <p:cNvPr id="287" name="Google Shape;287;p9"/>
          <p:cNvSpPr txBox="1"/>
          <p:nvPr/>
        </p:nvSpPr>
        <p:spPr>
          <a:xfrm>
            <a:off x="8156448" y="5394960"/>
            <a:ext cx="3392424"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50"/>
              <a:buFont typeface="Calibri"/>
              <a:buNone/>
            </a:pPr>
            <a:r>
              <a:rPr lang="en-US" sz="1350">
                <a:solidFill>
                  <a:srgbClr val="767676"/>
                </a:solidFill>
                <a:latin typeface="Calibri"/>
                <a:ea typeface="Calibri"/>
                <a:cs typeface="Calibri"/>
                <a:sym typeface="Calibri"/>
              </a:rPr>
              <a:t>de los ceros viene de aquí</a:t>
            </a:r>
            <a:endParaRPr sz="1350">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2" name="Shape 292"/>
        <p:cNvGrpSpPr/>
        <p:nvPr/>
      </p:nvGrpSpPr>
      <p:grpSpPr>
        <a:xfrm>
          <a:off x="0" y="0"/>
          <a:ext cx="0" cy="0"/>
          <a:chOff x="0" y="0"/>
          <a:chExt cx="0" cy="0"/>
        </a:xfrm>
      </p:grpSpPr>
      <p:sp>
        <p:nvSpPr>
          <p:cNvPr id="293" name="Google Shape;293;p10"/>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CALIDAD DE LOS DATOS</a:t>
            </a:r>
            <a:endParaRPr sz="1000">
              <a:solidFill>
                <a:schemeClr val="dk1"/>
              </a:solidFill>
              <a:latin typeface="Calibri"/>
              <a:ea typeface="Calibri"/>
              <a:cs typeface="Calibri"/>
              <a:sym typeface="Calibri"/>
            </a:endParaRPr>
          </a:p>
        </p:txBody>
      </p:sp>
      <p:sp>
        <p:nvSpPr>
          <p:cNvPr id="294" name="Google Shape;294;p10"/>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De cuatro valores fuera de rango, solo dos son errores</a:t>
            </a:r>
            <a:endParaRPr sz="2600">
              <a:solidFill>
                <a:schemeClr val="dk1"/>
              </a:solidFill>
              <a:latin typeface="Calibri"/>
              <a:ea typeface="Calibri"/>
              <a:cs typeface="Calibri"/>
              <a:sym typeface="Calibri"/>
            </a:endParaRPr>
          </a:p>
        </p:txBody>
      </p:sp>
      <p:sp>
        <p:nvSpPr>
          <p:cNvPr id="295" name="Google Shape;295;p10"/>
          <p:cNvSpPr txBox="1"/>
          <p:nvPr/>
        </p:nvSpPr>
        <p:spPr>
          <a:xfrm>
            <a:off x="640080" y="5120640"/>
            <a:ext cx="10908792" cy="4114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200"/>
              <a:buFont typeface="Cambria"/>
              <a:buNone/>
            </a:pPr>
            <a:r>
              <a:rPr b="1" lang="en-US" sz="2200">
                <a:solidFill>
                  <a:srgbClr val="0E6B39"/>
                </a:solidFill>
                <a:latin typeface="Cambria"/>
                <a:ea typeface="Cambria"/>
                <a:cs typeface="Cambria"/>
                <a:sym typeface="Cambria"/>
              </a:rPr>
              <a:t>Se marca el valor, no se elimina la fila</a:t>
            </a:r>
            <a:endParaRPr sz="2200">
              <a:solidFill>
                <a:schemeClr val="dk1"/>
              </a:solidFill>
              <a:latin typeface="Calibri"/>
              <a:ea typeface="Calibri"/>
              <a:cs typeface="Calibri"/>
              <a:sym typeface="Calibri"/>
            </a:endParaRPr>
          </a:p>
        </p:txBody>
      </p:sp>
      <p:sp>
        <p:nvSpPr>
          <p:cNvPr id="296" name="Google Shape;296;p10"/>
          <p:cNvSpPr txBox="1"/>
          <p:nvPr/>
        </p:nvSpPr>
        <p:spPr>
          <a:xfrm>
            <a:off x="640080" y="2011680"/>
            <a:ext cx="8000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0" i="1" lang="en-US" sz="1100">
                <a:solidFill>
                  <a:srgbClr val="767676"/>
                </a:solidFill>
                <a:latin typeface="Calibri"/>
                <a:ea typeface="Calibri"/>
                <a:cs typeface="Calibri"/>
                <a:sym typeface="Calibri"/>
              </a:rPr>
              <a:t>conteo de filas por hallazgo, fuera del rango documentado por Spotify</a:t>
            </a:r>
            <a:endParaRPr sz="1100">
              <a:solidFill>
                <a:schemeClr val="dk1"/>
              </a:solidFill>
              <a:latin typeface="Calibri"/>
              <a:ea typeface="Calibri"/>
              <a:cs typeface="Calibri"/>
              <a:sym typeface="Calibri"/>
            </a:endParaRPr>
          </a:p>
        </p:txBody>
      </p:sp>
      <p:sp>
        <p:nvSpPr>
          <p:cNvPr id="297" name="Google Shape;297;p10"/>
          <p:cNvSpPr txBox="1"/>
          <p:nvPr/>
        </p:nvSpPr>
        <p:spPr>
          <a:xfrm>
            <a:off x="640080" y="2351680"/>
            <a:ext cx="4000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5A5A"/>
              </a:buClr>
              <a:buSzPts val="1000"/>
              <a:buFont typeface="Calibri"/>
              <a:buNone/>
            </a:pPr>
            <a:r>
              <a:rPr b="1" i="0" lang="en-US" sz="1000">
                <a:solidFill>
                  <a:srgbClr val="5A5A5A"/>
                </a:solidFill>
                <a:latin typeface="Calibri"/>
                <a:ea typeface="Calibri"/>
                <a:cs typeface="Calibri"/>
                <a:sym typeface="Calibri"/>
              </a:rPr>
              <a:t>ERRORES DEL ALGORITMO</a:t>
            </a:r>
            <a:endParaRPr sz="1000">
              <a:solidFill>
                <a:schemeClr val="dk1"/>
              </a:solidFill>
              <a:latin typeface="Calibri"/>
              <a:ea typeface="Calibri"/>
              <a:cs typeface="Calibri"/>
              <a:sym typeface="Calibri"/>
            </a:endParaRPr>
          </a:p>
        </p:txBody>
      </p:sp>
      <p:sp>
        <p:nvSpPr>
          <p:cNvPr id="298" name="Google Shape;298;p10"/>
          <p:cNvSpPr txBox="1"/>
          <p:nvPr/>
        </p:nvSpPr>
        <p:spPr>
          <a:xfrm>
            <a:off x="640080" y="2671680"/>
            <a:ext cx="2870000" cy="280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b="0" i="0" lang="en-US" sz="1250">
                <a:solidFill>
                  <a:srgbClr val="1C1C1C"/>
                </a:solidFill>
                <a:latin typeface="Calibri"/>
                <a:ea typeface="Calibri"/>
                <a:cs typeface="Calibri"/>
                <a:sym typeface="Calibri"/>
              </a:rPr>
              <a:t>time_signature = 0</a:t>
            </a:r>
            <a:endParaRPr sz="1250">
              <a:solidFill>
                <a:schemeClr val="dk1"/>
              </a:solidFill>
              <a:latin typeface="Calibri"/>
              <a:ea typeface="Calibri"/>
              <a:cs typeface="Calibri"/>
              <a:sym typeface="Calibri"/>
            </a:endParaRPr>
          </a:p>
        </p:txBody>
      </p:sp>
      <p:sp>
        <p:nvSpPr>
          <p:cNvPr id="299" name="Google Shape;299;p10"/>
          <p:cNvSpPr/>
          <p:nvPr/>
        </p:nvSpPr>
        <p:spPr>
          <a:xfrm>
            <a:off x="3660080" y="2724812"/>
            <a:ext cx="851269" cy="173736"/>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0" name="Google Shape;300;p10"/>
          <p:cNvSpPr txBox="1"/>
          <p:nvPr/>
        </p:nvSpPr>
        <p:spPr>
          <a:xfrm>
            <a:off x="4611349" y="2671680"/>
            <a:ext cx="700000" cy="2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5A5A"/>
              </a:buClr>
              <a:buSzPts val="1200"/>
              <a:buFont typeface="Calibri"/>
              <a:buNone/>
            </a:pPr>
            <a:r>
              <a:rPr b="1" i="0" lang="en-US" sz="1200">
                <a:solidFill>
                  <a:srgbClr val="5A5A5A"/>
                </a:solidFill>
                <a:latin typeface="Calibri"/>
                <a:ea typeface="Calibri"/>
                <a:cs typeface="Calibri"/>
                <a:sym typeface="Calibri"/>
              </a:rPr>
              <a:t>129</a:t>
            </a:r>
            <a:endParaRPr sz="1200">
              <a:solidFill>
                <a:schemeClr val="dk1"/>
              </a:solidFill>
              <a:latin typeface="Calibri"/>
              <a:ea typeface="Calibri"/>
              <a:cs typeface="Calibri"/>
              <a:sym typeface="Calibri"/>
            </a:endParaRPr>
          </a:p>
        </p:txBody>
      </p:sp>
      <p:sp>
        <p:nvSpPr>
          <p:cNvPr id="301" name="Google Shape;301;p10"/>
          <p:cNvSpPr txBox="1"/>
          <p:nvPr/>
        </p:nvSpPr>
        <p:spPr>
          <a:xfrm>
            <a:off x="640080" y="3131680"/>
            <a:ext cx="2870000" cy="280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b="0" i="0" lang="en-US" sz="1250">
                <a:solidFill>
                  <a:srgbClr val="1C1C1C"/>
                </a:solidFill>
                <a:latin typeface="Calibri"/>
                <a:ea typeface="Calibri"/>
                <a:cs typeface="Calibri"/>
                <a:sym typeface="Calibri"/>
              </a:rPr>
              <a:t>tempo = 0</a:t>
            </a:r>
            <a:endParaRPr sz="1250">
              <a:solidFill>
                <a:schemeClr val="dk1"/>
              </a:solidFill>
              <a:latin typeface="Calibri"/>
              <a:ea typeface="Calibri"/>
              <a:cs typeface="Calibri"/>
              <a:sym typeface="Calibri"/>
            </a:endParaRPr>
          </a:p>
        </p:txBody>
      </p:sp>
      <p:sp>
        <p:nvSpPr>
          <p:cNvPr id="302" name="Google Shape;302;p10"/>
          <p:cNvSpPr/>
          <p:nvPr/>
        </p:nvSpPr>
        <p:spPr>
          <a:xfrm>
            <a:off x="3660080" y="3184812"/>
            <a:ext cx="818274" cy="173736"/>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3" name="Google Shape;303;p10"/>
          <p:cNvSpPr txBox="1"/>
          <p:nvPr/>
        </p:nvSpPr>
        <p:spPr>
          <a:xfrm>
            <a:off x="4578354" y="3131680"/>
            <a:ext cx="700000" cy="2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5A5A5A"/>
              </a:buClr>
              <a:buSzPts val="1200"/>
              <a:buFont typeface="Calibri"/>
              <a:buNone/>
            </a:pPr>
            <a:r>
              <a:rPr b="1" i="0" lang="en-US" sz="1200">
                <a:solidFill>
                  <a:srgbClr val="5A5A5A"/>
                </a:solidFill>
                <a:latin typeface="Calibri"/>
                <a:ea typeface="Calibri"/>
                <a:cs typeface="Calibri"/>
                <a:sym typeface="Calibri"/>
              </a:rPr>
              <a:t>124</a:t>
            </a:r>
            <a:endParaRPr sz="1200">
              <a:solidFill>
                <a:schemeClr val="dk1"/>
              </a:solidFill>
              <a:latin typeface="Calibri"/>
              <a:ea typeface="Calibri"/>
              <a:cs typeface="Calibri"/>
              <a:sym typeface="Calibri"/>
            </a:endParaRPr>
          </a:p>
        </p:txBody>
      </p:sp>
      <p:sp>
        <p:nvSpPr>
          <p:cNvPr id="304" name="Google Shape;304;p10"/>
          <p:cNvSpPr txBox="1"/>
          <p:nvPr/>
        </p:nvSpPr>
        <p:spPr>
          <a:xfrm>
            <a:off x="640080" y="3591680"/>
            <a:ext cx="4000000" cy="228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i="0" lang="en-US" sz="1000">
                <a:solidFill>
                  <a:srgbClr val="0E6B39"/>
                </a:solidFill>
                <a:latin typeface="Calibri"/>
                <a:ea typeface="Calibri"/>
                <a:cs typeface="Calibri"/>
                <a:sym typeface="Calibri"/>
              </a:rPr>
              <a:t>DATOS VÁLIDOS</a:t>
            </a:r>
            <a:endParaRPr sz="1000">
              <a:solidFill>
                <a:schemeClr val="dk1"/>
              </a:solidFill>
              <a:latin typeface="Calibri"/>
              <a:ea typeface="Calibri"/>
              <a:cs typeface="Calibri"/>
              <a:sym typeface="Calibri"/>
            </a:endParaRPr>
          </a:p>
        </p:txBody>
      </p:sp>
      <p:sp>
        <p:nvSpPr>
          <p:cNvPr id="305" name="Google Shape;305;p10"/>
          <p:cNvSpPr txBox="1"/>
          <p:nvPr/>
        </p:nvSpPr>
        <p:spPr>
          <a:xfrm>
            <a:off x="640080" y="3911680"/>
            <a:ext cx="2870000" cy="280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b="0" i="0" lang="en-US" sz="1250">
                <a:solidFill>
                  <a:srgbClr val="1C1C1C"/>
                </a:solidFill>
                <a:latin typeface="Calibri"/>
                <a:ea typeface="Calibri"/>
                <a:cs typeface="Calibri"/>
                <a:sym typeface="Calibri"/>
              </a:rPr>
              <a:t>loudness &gt; 0</a:t>
            </a:r>
            <a:endParaRPr sz="1250">
              <a:solidFill>
                <a:schemeClr val="dk1"/>
              </a:solidFill>
              <a:latin typeface="Calibri"/>
              <a:ea typeface="Calibri"/>
              <a:cs typeface="Calibri"/>
              <a:sym typeface="Calibri"/>
            </a:endParaRPr>
          </a:p>
        </p:txBody>
      </p:sp>
      <p:sp>
        <p:nvSpPr>
          <p:cNvPr id="306" name="Google Shape;306;p10"/>
          <p:cNvSpPr/>
          <p:nvPr/>
        </p:nvSpPr>
        <p:spPr>
          <a:xfrm>
            <a:off x="3660080" y="3964812"/>
            <a:ext cx="435532"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07" name="Google Shape;307;p10"/>
          <p:cNvSpPr txBox="1"/>
          <p:nvPr/>
        </p:nvSpPr>
        <p:spPr>
          <a:xfrm>
            <a:off x="4195612" y="3911680"/>
            <a:ext cx="700000" cy="2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i="0" lang="en-US" sz="1200">
                <a:solidFill>
                  <a:srgbClr val="0E6B39"/>
                </a:solidFill>
                <a:latin typeface="Calibri"/>
                <a:ea typeface="Calibri"/>
                <a:cs typeface="Calibri"/>
                <a:sym typeface="Calibri"/>
              </a:rPr>
              <a:t>66</a:t>
            </a:r>
            <a:endParaRPr sz="1200">
              <a:solidFill>
                <a:schemeClr val="dk1"/>
              </a:solidFill>
              <a:latin typeface="Calibri"/>
              <a:ea typeface="Calibri"/>
              <a:cs typeface="Calibri"/>
              <a:sym typeface="Calibri"/>
            </a:endParaRPr>
          </a:p>
        </p:txBody>
      </p:sp>
      <p:sp>
        <p:nvSpPr>
          <p:cNvPr id="308" name="Google Shape;308;p10"/>
          <p:cNvSpPr txBox="1"/>
          <p:nvPr/>
        </p:nvSpPr>
        <p:spPr>
          <a:xfrm>
            <a:off x="640080" y="4371680"/>
            <a:ext cx="2870000" cy="2800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b="0" i="0" lang="en-US" sz="1250">
                <a:solidFill>
                  <a:srgbClr val="1C1C1C"/>
                </a:solidFill>
                <a:latin typeface="Calibri"/>
                <a:ea typeface="Calibri"/>
                <a:cs typeface="Calibri"/>
                <a:sym typeface="Calibri"/>
              </a:rPr>
              <a:t>time_signature = 1</a:t>
            </a:r>
            <a:endParaRPr sz="1250">
              <a:solidFill>
                <a:schemeClr val="dk1"/>
              </a:solidFill>
              <a:latin typeface="Calibri"/>
              <a:ea typeface="Calibri"/>
              <a:cs typeface="Calibri"/>
              <a:sym typeface="Calibri"/>
            </a:endParaRPr>
          </a:p>
        </p:txBody>
      </p:sp>
      <p:sp>
        <p:nvSpPr>
          <p:cNvPr id="309" name="Google Shape;309;p10"/>
          <p:cNvSpPr/>
          <p:nvPr/>
        </p:nvSpPr>
        <p:spPr>
          <a:xfrm>
            <a:off x="3660080" y="4424812"/>
            <a:ext cx="5200000"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10" name="Google Shape;310;p10"/>
          <p:cNvSpPr txBox="1"/>
          <p:nvPr/>
        </p:nvSpPr>
        <p:spPr>
          <a:xfrm>
            <a:off x="8960080" y="4371680"/>
            <a:ext cx="700000" cy="2800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i="0" lang="en-US" sz="1200">
                <a:solidFill>
                  <a:srgbClr val="0E6B39"/>
                </a:solidFill>
                <a:latin typeface="Calibri"/>
                <a:ea typeface="Calibri"/>
                <a:cs typeface="Calibri"/>
                <a:sym typeface="Calibri"/>
              </a:rPr>
              <a:t>788</a:t>
            </a:r>
            <a:endParaRPr sz="1200">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5" name="Shape 315"/>
        <p:cNvGrpSpPr/>
        <p:nvPr/>
      </p:nvGrpSpPr>
      <p:grpSpPr>
        <a:xfrm>
          <a:off x="0" y="0"/>
          <a:ext cx="0" cy="0"/>
          <a:chOff x="0" y="0"/>
          <a:chExt cx="0" cy="0"/>
        </a:xfrm>
      </p:grpSpPr>
      <p:sp>
        <p:nvSpPr>
          <p:cNvPr id="316" name="Google Shape;316;p12"/>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ANÁLISIS EXPLORATORIO</a:t>
            </a:r>
            <a:endParaRPr sz="1000">
              <a:solidFill>
                <a:schemeClr val="dk1"/>
              </a:solidFill>
              <a:latin typeface="Calibri"/>
              <a:ea typeface="Calibri"/>
              <a:cs typeface="Calibri"/>
              <a:sym typeface="Calibri"/>
            </a:endParaRPr>
          </a:p>
        </p:txBody>
      </p:sp>
      <p:sp>
        <p:nvSpPr>
          <p:cNvPr id="317" name="Google Shape;317;p12"/>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Ninguna variable de audio explica la popularidad</a:t>
            </a:r>
            <a:endParaRPr sz="2600">
              <a:solidFill>
                <a:schemeClr val="dk1"/>
              </a:solidFill>
              <a:latin typeface="Calibri"/>
              <a:ea typeface="Calibri"/>
              <a:cs typeface="Calibri"/>
              <a:sym typeface="Calibri"/>
            </a:endParaRPr>
          </a:p>
        </p:txBody>
      </p:sp>
      <p:sp>
        <p:nvSpPr>
          <p:cNvPr id="318" name="Google Shape;318;p12"/>
          <p:cNvSpPr txBox="1"/>
          <p:nvPr/>
        </p:nvSpPr>
        <p:spPr>
          <a:xfrm>
            <a:off x="640080" y="2011680"/>
            <a:ext cx="54864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i="1" lang="en-US" sz="1100">
                <a:solidFill>
                  <a:srgbClr val="767676"/>
                </a:solidFill>
                <a:latin typeface="Calibri"/>
                <a:ea typeface="Calibri"/>
                <a:cs typeface="Calibri"/>
                <a:sym typeface="Calibri"/>
              </a:rPr>
              <a:t>correlación con popularity</a:t>
            </a:r>
            <a:endParaRPr sz="1100">
              <a:solidFill>
                <a:schemeClr val="dk1"/>
              </a:solidFill>
              <a:latin typeface="Calibri"/>
              <a:ea typeface="Calibri"/>
              <a:cs typeface="Calibri"/>
              <a:sym typeface="Calibri"/>
            </a:endParaRPr>
          </a:p>
        </p:txBody>
      </p:sp>
      <p:sp>
        <p:nvSpPr>
          <p:cNvPr id="319" name="Google Shape;319;p12"/>
          <p:cNvSpPr/>
          <p:nvPr/>
        </p:nvSpPr>
        <p:spPr>
          <a:xfrm>
            <a:off x="4572000" y="2304288"/>
            <a:ext cx="10973" cy="3675888"/>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0" name="Google Shape;320;p12"/>
          <p:cNvSpPr/>
          <p:nvPr/>
        </p:nvSpPr>
        <p:spPr>
          <a:xfrm>
            <a:off x="3401568" y="2423160"/>
            <a:ext cx="1170432" cy="155448"/>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1" name="Google Shape;321;p12"/>
          <p:cNvSpPr txBox="1"/>
          <p:nvPr/>
        </p:nvSpPr>
        <p:spPr>
          <a:xfrm>
            <a:off x="640080" y="238658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150"/>
              <a:buFont typeface="Calibri"/>
              <a:buNone/>
            </a:pPr>
            <a:r>
              <a:rPr b="1" lang="en-US" sz="1150">
                <a:solidFill>
                  <a:srgbClr val="1C1C1C"/>
                </a:solidFill>
                <a:latin typeface="Calibri"/>
                <a:ea typeface="Calibri"/>
                <a:cs typeface="Calibri"/>
                <a:sym typeface="Calibri"/>
              </a:rPr>
              <a:t>instrumentalness</a:t>
            </a:r>
            <a:endParaRPr sz="1150">
              <a:solidFill>
                <a:schemeClr val="dk1"/>
              </a:solidFill>
              <a:latin typeface="Calibri"/>
              <a:ea typeface="Calibri"/>
              <a:cs typeface="Calibri"/>
              <a:sym typeface="Calibri"/>
            </a:endParaRPr>
          </a:p>
        </p:txBody>
      </p:sp>
      <p:sp>
        <p:nvSpPr>
          <p:cNvPr id="322" name="Google Shape;322;p12"/>
          <p:cNvSpPr txBox="1"/>
          <p:nvPr/>
        </p:nvSpPr>
        <p:spPr>
          <a:xfrm>
            <a:off x="6126480" y="238658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0E6B39"/>
              </a:buClr>
              <a:buSzPts val="1100"/>
              <a:buFont typeface="Calibri"/>
              <a:buNone/>
            </a:pPr>
            <a:r>
              <a:rPr b="1" lang="en-US" sz="1100">
                <a:solidFill>
                  <a:srgbClr val="0E6B39"/>
                </a:solidFill>
                <a:latin typeface="Calibri"/>
                <a:ea typeface="Calibri"/>
                <a:cs typeface="Calibri"/>
                <a:sym typeface="Calibri"/>
              </a:rPr>
              <a:t>−0,128</a:t>
            </a:r>
            <a:endParaRPr sz="1100">
              <a:solidFill>
                <a:schemeClr val="dk1"/>
              </a:solidFill>
              <a:latin typeface="Calibri"/>
              <a:ea typeface="Calibri"/>
              <a:cs typeface="Calibri"/>
              <a:sym typeface="Calibri"/>
            </a:endParaRPr>
          </a:p>
        </p:txBody>
      </p:sp>
      <p:sp>
        <p:nvSpPr>
          <p:cNvPr id="323" name="Google Shape;323;p12"/>
          <p:cNvSpPr/>
          <p:nvPr/>
        </p:nvSpPr>
        <p:spPr>
          <a:xfrm>
            <a:off x="4572000" y="2697480"/>
            <a:ext cx="658368"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4" name="Google Shape;324;p12"/>
          <p:cNvSpPr txBox="1"/>
          <p:nvPr/>
        </p:nvSpPr>
        <p:spPr>
          <a:xfrm>
            <a:off x="640080" y="266090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loudness</a:t>
            </a:r>
            <a:endParaRPr sz="1150">
              <a:solidFill>
                <a:schemeClr val="dk1"/>
              </a:solidFill>
              <a:latin typeface="Calibri"/>
              <a:ea typeface="Calibri"/>
              <a:cs typeface="Calibri"/>
              <a:sym typeface="Calibri"/>
            </a:endParaRPr>
          </a:p>
        </p:txBody>
      </p:sp>
      <p:sp>
        <p:nvSpPr>
          <p:cNvPr id="325" name="Google Shape;325;p12"/>
          <p:cNvSpPr txBox="1"/>
          <p:nvPr/>
        </p:nvSpPr>
        <p:spPr>
          <a:xfrm>
            <a:off x="6126480" y="266090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+0,072</a:t>
            </a:r>
            <a:endParaRPr sz="1100">
              <a:solidFill>
                <a:schemeClr val="dk1"/>
              </a:solidFill>
              <a:latin typeface="Calibri"/>
              <a:ea typeface="Calibri"/>
              <a:cs typeface="Calibri"/>
              <a:sym typeface="Calibri"/>
            </a:endParaRPr>
          </a:p>
        </p:txBody>
      </p:sp>
      <p:sp>
        <p:nvSpPr>
          <p:cNvPr id="326" name="Google Shape;326;p12"/>
          <p:cNvSpPr/>
          <p:nvPr/>
        </p:nvSpPr>
        <p:spPr>
          <a:xfrm>
            <a:off x="4572000" y="2971800"/>
            <a:ext cx="585216"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27" name="Google Shape;327;p12"/>
          <p:cNvSpPr txBox="1"/>
          <p:nvPr/>
        </p:nvSpPr>
        <p:spPr>
          <a:xfrm>
            <a:off x="640080" y="293522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danceability</a:t>
            </a:r>
            <a:endParaRPr sz="1150">
              <a:solidFill>
                <a:schemeClr val="dk1"/>
              </a:solidFill>
              <a:latin typeface="Calibri"/>
              <a:ea typeface="Calibri"/>
              <a:cs typeface="Calibri"/>
              <a:sym typeface="Calibri"/>
            </a:endParaRPr>
          </a:p>
        </p:txBody>
      </p:sp>
      <p:sp>
        <p:nvSpPr>
          <p:cNvPr id="328" name="Google Shape;328;p12"/>
          <p:cNvSpPr txBox="1"/>
          <p:nvPr/>
        </p:nvSpPr>
        <p:spPr>
          <a:xfrm>
            <a:off x="6126480" y="293522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+0,064</a:t>
            </a:r>
            <a:endParaRPr sz="1100">
              <a:solidFill>
                <a:schemeClr val="dk1"/>
              </a:solidFill>
              <a:latin typeface="Calibri"/>
              <a:ea typeface="Calibri"/>
              <a:cs typeface="Calibri"/>
              <a:sym typeface="Calibri"/>
            </a:endParaRPr>
          </a:p>
        </p:txBody>
      </p:sp>
      <p:sp>
        <p:nvSpPr>
          <p:cNvPr id="329" name="Google Shape;329;p12"/>
          <p:cNvSpPr/>
          <p:nvPr/>
        </p:nvSpPr>
        <p:spPr>
          <a:xfrm>
            <a:off x="4142232" y="3246120"/>
            <a:ext cx="429768"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0" name="Google Shape;330;p12"/>
          <p:cNvSpPr txBox="1"/>
          <p:nvPr/>
        </p:nvSpPr>
        <p:spPr>
          <a:xfrm>
            <a:off x="640080" y="320954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speechiness</a:t>
            </a:r>
            <a:endParaRPr sz="1150">
              <a:solidFill>
                <a:schemeClr val="dk1"/>
              </a:solidFill>
              <a:latin typeface="Calibri"/>
              <a:ea typeface="Calibri"/>
              <a:cs typeface="Calibri"/>
              <a:sym typeface="Calibri"/>
            </a:endParaRPr>
          </a:p>
        </p:txBody>
      </p:sp>
      <p:sp>
        <p:nvSpPr>
          <p:cNvPr id="331" name="Google Shape;331;p12"/>
          <p:cNvSpPr txBox="1"/>
          <p:nvPr/>
        </p:nvSpPr>
        <p:spPr>
          <a:xfrm>
            <a:off x="6126480" y="320954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−0,047</a:t>
            </a:r>
            <a:endParaRPr sz="1100">
              <a:solidFill>
                <a:schemeClr val="dk1"/>
              </a:solidFill>
              <a:latin typeface="Calibri"/>
              <a:ea typeface="Calibri"/>
              <a:cs typeface="Calibri"/>
              <a:sym typeface="Calibri"/>
            </a:endParaRPr>
          </a:p>
        </p:txBody>
      </p:sp>
      <p:sp>
        <p:nvSpPr>
          <p:cNvPr id="332" name="Google Shape;332;p12"/>
          <p:cNvSpPr/>
          <p:nvPr/>
        </p:nvSpPr>
        <p:spPr>
          <a:xfrm>
            <a:off x="4215384" y="3520440"/>
            <a:ext cx="356616"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3" name="Google Shape;333;p12"/>
          <p:cNvSpPr txBox="1"/>
          <p:nvPr/>
        </p:nvSpPr>
        <p:spPr>
          <a:xfrm>
            <a:off x="640080" y="348386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acousticness</a:t>
            </a:r>
            <a:endParaRPr sz="1150">
              <a:solidFill>
                <a:schemeClr val="dk1"/>
              </a:solidFill>
              <a:latin typeface="Calibri"/>
              <a:ea typeface="Calibri"/>
              <a:cs typeface="Calibri"/>
              <a:sym typeface="Calibri"/>
            </a:endParaRPr>
          </a:p>
        </p:txBody>
      </p:sp>
      <p:sp>
        <p:nvSpPr>
          <p:cNvPr id="334" name="Google Shape;334;p12"/>
          <p:cNvSpPr txBox="1"/>
          <p:nvPr/>
        </p:nvSpPr>
        <p:spPr>
          <a:xfrm>
            <a:off x="6126480" y="348386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−0,039</a:t>
            </a:r>
            <a:endParaRPr sz="1100">
              <a:solidFill>
                <a:schemeClr val="dk1"/>
              </a:solidFill>
              <a:latin typeface="Calibri"/>
              <a:ea typeface="Calibri"/>
              <a:cs typeface="Calibri"/>
              <a:sym typeface="Calibri"/>
            </a:endParaRPr>
          </a:p>
        </p:txBody>
      </p:sp>
      <p:sp>
        <p:nvSpPr>
          <p:cNvPr id="335" name="Google Shape;335;p12"/>
          <p:cNvSpPr/>
          <p:nvPr/>
        </p:nvSpPr>
        <p:spPr>
          <a:xfrm>
            <a:off x="4572000" y="3794760"/>
            <a:ext cx="338328"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6" name="Google Shape;336;p12"/>
          <p:cNvSpPr txBox="1"/>
          <p:nvPr/>
        </p:nvSpPr>
        <p:spPr>
          <a:xfrm>
            <a:off x="640080" y="375818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time_signature</a:t>
            </a:r>
            <a:endParaRPr sz="1150">
              <a:solidFill>
                <a:schemeClr val="dk1"/>
              </a:solidFill>
              <a:latin typeface="Calibri"/>
              <a:ea typeface="Calibri"/>
              <a:cs typeface="Calibri"/>
              <a:sym typeface="Calibri"/>
            </a:endParaRPr>
          </a:p>
        </p:txBody>
      </p:sp>
      <p:sp>
        <p:nvSpPr>
          <p:cNvPr id="337" name="Google Shape;337;p12"/>
          <p:cNvSpPr txBox="1"/>
          <p:nvPr/>
        </p:nvSpPr>
        <p:spPr>
          <a:xfrm>
            <a:off x="6126480" y="375818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+0,037</a:t>
            </a:r>
            <a:endParaRPr sz="1100">
              <a:solidFill>
                <a:schemeClr val="dk1"/>
              </a:solidFill>
              <a:latin typeface="Calibri"/>
              <a:ea typeface="Calibri"/>
              <a:cs typeface="Calibri"/>
              <a:sym typeface="Calibri"/>
            </a:endParaRPr>
          </a:p>
        </p:txBody>
      </p:sp>
      <p:sp>
        <p:nvSpPr>
          <p:cNvPr id="338" name="Google Shape;338;p12"/>
          <p:cNvSpPr/>
          <p:nvPr/>
        </p:nvSpPr>
        <p:spPr>
          <a:xfrm>
            <a:off x="4361688" y="4069080"/>
            <a:ext cx="210312"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39" name="Google Shape;339;p12"/>
          <p:cNvSpPr txBox="1"/>
          <p:nvPr/>
        </p:nvSpPr>
        <p:spPr>
          <a:xfrm>
            <a:off x="640080" y="403250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duration_ms</a:t>
            </a:r>
            <a:endParaRPr sz="1150">
              <a:solidFill>
                <a:schemeClr val="dk1"/>
              </a:solidFill>
              <a:latin typeface="Calibri"/>
              <a:ea typeface="Calibri"/>
              <a:cs typeface="Calibri"/>
              <a:sym typeface="Calibri"/>
            </a:endParaRPr>
          </a:p>
        </p:txBody>
      </p:sp>
      <p:sp>
        <p:nvSpPr>
          <p:cNvPr id="340" name="Google Shape;340;p12"/>
          <p:cNvSpPr txBox="1"/>
          <p:nvPr/>
        </p:nvSpPr>
        <p:spPr>
          <a:xfrm>
            <a:off x="6126480" y="403250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−0,023</a:t>
            </a:r>
            <a:endParaRPr sz="1100">
              <a:solidFill>
                <a:schemeClr val="dk1"/>
              </a:solidFill>
              <a:latin typeface="Calibri"/>
              <a:ea typeface="Calibri"/>
              <a:cs typeface="Calibri"/>
              <a:sym typeface="Calibri"/>
            </a:endParaRPr>
          </a:p>
        </p:txBody>
      </p:sp>
      <p:sp>
        <p:nvSpPr>
          <p:cNvPr id="341" name="Google Shape;341;p12"/>
          <p:cNvSpPr/>
          <p:nvPr/>
        </p:nvSpPr>
        <p:spPr>
          <a:xfrm>
            <a:off x="4425696" y="4343400"/>
            <a:ext cx="146304"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2" name="Google Shape;342;p12"/>
          <p:cNvSpPr txBox="1"/>
          <p:nvPr/>
        </p:nvSpPr>
        <p:spPr>
          <a:xfrm>
            <a:off x="640080" y="430682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mode</a:t>
            </a:r>
            <a:endParaRPr sz="1150">
              <a:solidFill>
                <a:schemeClr val="dk1"/>
              </a:solidFill>
              <a:latin typeface="Calibri"/>
              <a:ea typeface="Calibri"/>
              <a:cs typeface="Calibri"/>
              <a:sym typeface="Calibri"/>
            </a:endParaRPr>
          </a:p>
        </p:txBody>
      </p:sp>
      <p:sp>
        <p:nvSpPr>
          <p:cNvPr id="343" name="Google Shape;343;p12"/>
          <p:cNvSpPr txBox="1"/>
          <p:nvPr/>
        </p:nvSpPr>
        <p:spPr>
          <a:xfrm>
            <a:off x="6126480" y="430682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−0,016</a:t>
            </a:r>
            <a:endParaRPr sz="1100">
              <a:solidFill>
                <a:schemeClr val="dk1"/>
              </a:solidFill>
              <a:latin typeface="Calibri"/>
              <a:ea typeface="Calibri"/>
              <a:cs typeface="Calibri"/>
              <a:sym typeface="Calibri"/>
            </a:endParaRPr>
          </a:p>
        </p:txBody>
      </p:sp>
      <p:sp>
        <p:nvSpPr>
          <p:cNvPr id="344" name="Google Shape;344;p12"/>
          <p:cNvSpPr/>
          <p:nvPr/>
        </p:nvSpPr>
        <p:spPr>
          <a:xfrm>
            <a:off x="4443984" y="4617720"/>
            <a:ext cx="128016"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5" name="Google Shape;345;p12"/>
          <p:cNvSpPr txBox="1"/>
          <p:nvPr/>
        </p:nvSpPr>
        <p:spPr>
          <a:xfrm>
            <a:off x="640080" y="458114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liveness</a:t>
            </a:r>
            <a:endParaRPr sz="1150">
              <a:solidFill>
                <a:schemeClr val="dk1"/>
              </a:solidFill>
              <a:latin typeface="Calibri"/>
              <a:ea typeface="Calibri"/>
              <a:cs typeface="Calibri"/>
              <a:sym typeface="Calibri"/>
            </a:endParaRPr>
          </a:p>
        </p:txBody>
      </p:sp>
      <p:sp>
        <p:nvSpPr>
          <p:cNvPr id="346" name="Google Shape;346;p12"/>
          <p:cNvSpPr txBox="1"/>
          <p:nvPr/>
        </p:nvSpPr>
        <p:spPr>
          <a:xfrm>
            <a:off x="6126480" y="458114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−0,014</a:t>
            </a:r>
            <a:endParaRPr sz="1100">
              <a:solidFill>
                <a:schemeClr val="dk1"/>
              </a:solidFill>
              <a:latin typeface="Calibri"/>
              <a:ea typeface="Calibri"/>
              <a:cs typeface="Calibri"/>
              <a:sym typeface="Calibri"/>
            </a:endParaRPr>
          </a:p>
        </p:txBody>
      </p:sp>
      <p:sp>
        <p:nvSpPr>
          <p:cNvPr id="347" name="Google Shape;347;p12"/>
          <p:cNvSpPr/>
          <p:nvPr/>
        </p:nvSpPr>
        <p:spPr>
          <a:xfrm>
            <a:off x="4572000" y="4892040"/>
            <a:ext cx="128016"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48" name="Google Shape;348;p12"/>
          <p:cNvSpPr txBox="1"/>
          <p:nvPr/>
        </p:nvSpPr>
        <p:spPr>
          <a:xfrm>
            <a:off x="640080" y="485546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energy</a:t>
            </a:r>
            <a:endParaRPr sz="1150">
              <a:solidFill>
                <a:schemeClr val="dk1"/>
              </a:solidFill>
              <a:latin typeface="Calibri"/>
              <a:ea typeface="Calibri"/>
              <a:cs typeface="Calibri"/>
              <a:sym typeface="Calibri"/>
            </a:endParaRPr>
          </a:p>
        </p:txBody>
      </p:sp>
      <p:sp>
        <p:nvSpPr>
          <p:cNvPr id="349" name="Google Shape;349;p12"/>
          <p:cNvSpPr txBox="1"/>
          <p:nvPr/>
        </p:nvSpPr>
        <p:spPr>
          <a:xfrm>
            <a:off x="6126480" y="485546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+0,014</a:t>
            </a:r>
            <a:endParaRPr sz="1100">
              <a:solidFill>
                <a:schemeClr val="dk1"/>
              </a:solidFill>
              <a:latin typeface="Calibri"/>
              <a:ea typeface="Calibri"/>
              <a:cs typeface="Calibri"/>
              <a:sym typeface="Calibri"/>
            </a:endParaRPr>
          </a:p>
        </p:txBody>
      </p:sp>
      <p:sp>
        <p:nvSpPr>
          <p:cNvPr id="350" name="Google Shape;350;p12"/>
          <p:cNvSpPr/>
          <p:nvPr/>
        </p:nvSpPr>
        <p:spPr>
          <a:xfrm>
            <a:off x="4462272" y="5166360"/>
            <a:ext cx="109728"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1" name="Google Shape;351;p12"/>
          <p:cNvSpPr txBox="1"/>
          <p:nvPr/>
        </p:nvSpPr>
        <p:spPr>
          <a:xfrm>
            <a:off x="640080" y="512978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valence</a:t>
            </a:r>
            <a:endParaRPr sz="1150">
              <a:solidFill>
                <a:schemeClr val="dk1"/>
              </a:solidFill>
              <a:latin typeface="Calibri"/>
              <a:ea typeface="Calibri"/>
              <a:cs typeface="Calibri"/>
              <a:sym typeface="Calibri"/>
            </a:endParaRPr>
          </a:p>
        </p:txBody>
      </p:sp>
      <p:sp>
        <p:nvSpPr>
          <p:cNvPr id="352" name="Google Shape;352;p12"/>
          <p:cNvSpPr txBox="1"/>
          <p:nvPr/>
        </p:nvSpPr>
        <p:spPr>
          <a:xfrm>
            <a:off x="6126480" y="512978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−0,012</a:t>
            </a:r>
            <a:endParaRPr sz="1100">
              <a:solidFill>
                <a:schemeClr val="dk1"/>
              </a:solidFill>
              <a:latin typeface="Calibri"/>
              <a:ea typeface="Calibri"/>
              <a:cs typeface="Calibri"/>
              <a:sym typeface="Calibri"/>
            </a:endParaRPr>
          </a:p>
        </p:txBody>
      </p:sp>
      <p:sp>
        <p:nvSpPr>
          <p:cNvPr id="353" name="Google Shape;353;p12"/>
          <p:cNvSpPr/>
          <p:nvPr/>
        </p:nvSpPr>
        <p:spPr>
          <a:xfrm>
            <a:off x="4572000" y="5440680"/>
            <a:ext cx="64008"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4" name="Google Shape;354;p12"/>
          <p:cNvSpPr txBox="1"/>
          <p:nvPr/>
        </p:nvSpPr>
        <p:spPr>
          <a:xfrm>
            <a:off x="640080" y="540410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tempo</a:t>
            </a:r>
            <a:endParaRPr sz="1150">
              <a:solidFill>
                <a:schemeClr val="dk1"/>
              </a:solidFill>
              <a:latin typeface="Calibri"/>
              <a:ea typeface="Calibri"/>
              <a:cs typeface="Calibri"/>
              <a:sym typeface="Calibri"/>
            </a:endParaRPr>
          </a:p>
        </p:txBody>
      </p:sp>
      <p:sp>
        <p:nvSpPr>
          <p:cNvPr id="355" name="Google Shape;355;p12"/>
          <p:cNvSpPr txBox="1"/>
          <p:nvPr/>
        </p:nvSpPr>
        <p:spPr>
          <a:xfrm>
            <a:off x="6126480" y="540410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+0,007</a:t>
            </a:r>
            <a:endParaRPr sz="1100">
              <a:solidFill>
                <a:schemeClr val="dk1"/>
              </a:solidFill>
              <a:latin typeface="Calibri"/>
              <a:ea typeface="Calibri"/>
              <a:cs typeface="Calibri"/>
              <a:sym typeface="Calibri"/>
            </a:endParaRPr>
          </a:p>
        </p:txBody>
      </p:sp>
      <p:sp>
        <p:nvSpPr>
          <p:cNvPr id="356" name="Google Shape;356;p12"/>
          <p:cNvSpPr/>
          <p:nvPr/>
        </p:nvSpPr>
        <p:spPr>
          <a:xfrm>
            <a:off x="4572000" y="5715000"/>
            <a:ext cx="27432" cy="155448"/>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57" name="Google Shape;357;p12"/>
          <p:cNvSpPr txBox="1"/>
          <p:nvPr/>
        </p:nvSpPr>
        <p:spPr>
          <a:xfrm>
            <a:off x="640080" y="5678424"/>
            <a:ext cx="260604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150"/>
              <a:buFont typeface="Calibri"/>
              <a:buNone/>
            </a:pPr>
            <a:r>
              <a:rPr lang="en-US" sz="1150">
                <a:solidFill>
                  <a:srgbClr val="767676"/>
                </a:solidFill>
                <a:latin typeface="Calibri"/>
                <a:ea typeface="Calibri"/>
                <a:cs typeface="Calibri"/>
                <a:sym typeface="Calibri"/>
              </a:rPr>
              <a:t>key</a:t>
            </a:r>
            <a:endParaRPr sz="1150">
              <a:solidFill>
                <a:schemeClr val="dk1"/>
              </a:solidFill>
              <a:latin typeface="Calibri"/>
              <a:ea typeface="Calibri"/>
              <a:cs typeface="Calibri"/>
              <a:sym typeface="Calibri"/>
            </a:endParaRPr>
          </a:p>
        </p:txBody>
      </p:sp>
      <p:sp>
        <p:nvSpPr>
          <p:cNvPr id="358" name="Google Shape;358;p12"/>
          <p:cNvSpPr txBox="1"/>
          <p:nvPr/>
        </p:nvSpPr>
        <p:spPr>
          <a:xfrm>
            <a:off x="6126480" y="5678424"/>
            <a:ext cx="731520" cy="2286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1100"/>
              <a:buFont typeface="Calibri"/>
              <a:buNone/>
            </a:pPr>
            <a:r>
              <a:rPr lang="en-US" sz="1100">
                <a:solidFill>
                  <a:srgbClr val="AFAFAF"/>
                </a:solidFill>
                <a:latin typeface="Calibri"/>
                <a:ea typeface="Calibri"/>
                <a:cs typeface="Calibri"/>
                <a:sym typeface="Calibri"/>
              </a:rPr>
              <a:t>+0,003</a:t>
            </a:r>
            <a:endParaRPr sz="1100">
              <a:solidFill>
                <a:schemeClr val="dk1"/>
              </a:solidFill>
              <a:latin typeface="Calibri"/>
              <a:ea typeface="Calibri"/>
              <a:cs typeface="Calibri"/>
              <a:sym typeface="Calibri"/>
            </a:endParaRPr>
          </a:p>
        </p:txBody>
      </p:sp>
      <p:sp>
        <p:nvSpPr>
          <p:cNvPr id="359" name="Google Shape;359;p12"/>
          <p:cNvSpPr/>
          <p:nvPr/>
        </p:nvSpPr>
        <p:spPr>
          <a:xfrm>
            <a:off x="7589520" y="2011680"/>
            <a:ext cx="3959352" cy="379476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60" name="Google Shape;360;p12"/>
          <p:cNvSpPr txBox="1"/>
          <p:nvPr/>
        </p:nvSpPr>
        <p:spPr>
          <a:xfrm>
            <a:off x="7909560" y="2331720"/>
            <a:ext cx="32004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LO QUE SÍ CORRELACIONA</a:t>
            </a:r>
            <a:endParaRPr sz="1050">
              <a:solidFill>
                <a:schemeClr val="dk1"/>
              </a:solidFill>
              <a:latin typeface="Calibri"/>
              <a:ea typeface="Calibri"/>
              <a:cs typeface="Calibri"/>
              <a:sym typeface="Calibri"/>
            </a:endParaRPr>
          </a:p>
        </p:txBody>
      </p:sp>
      <p:sp>
        <p:nvSpPr>
          <p:cNvPr id="361" name="Google Shape;361;p12"/>
          <p:cNvSpPr txBox="1"/>
          <p:nvPr/>
        </p:nvSpPr>
        <p:spPr>
          <a:xfrm>
            <a:off x="7909560" y="2788920"/>
            <a:ext cx="23774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300"/>
              <a:buFont typeface="Calibri"/>
              <a:buNone/>
            </a:pPr>
            <a:r>
              <a:rPr lang="en-US" sz="1300">
                <a:solidFill>
                  <a:srgbClr val="1C1C1C"/>
                </a:solidFill>
                <a:latin typeface="Calibri"/>
                <a:ea typeface="Calibri"/>
                <a:cs typeface="Calibri"/>
                <a:sym typeface="Calibri"/>
              </a:rPr>
              <a:t>energy ↔ loudness</a:t>
            </a:r>
            <a:endParaRPr sz="1300">
              <a:solidFill>
                <a:schemeClr val="dk1"/>
              </a:solidFill>
              <a:latin typeface="Calibri"/>
              <a:ea typeface="Calibri"/>
              <a:cs typeface="Calibri"/>
              <a:sym typeface="Calibri"/>
            </a:endParaRPr>
          </a:p>
        </p:txBody>
      </p:sp>
      <p:sp>
        <p:nvSpPr>
          <p:cNvPr id="362" name="Google Shape;362;p12"/>
          <p:cNvSpPr txBox="1"/>
          <p:nvPr/>
        </p:nvSpPr>
        <p:spPr>
          <a:xfrm>
            <a:off x="10241280" y="2788920"/>
            <a:ext cx="777240" cy="29260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300"/>
              <a:buFont typeface="Calibri"/>
              <a:buNone/>
            </a:pPr>
            <a:r>
              <a:rPr b="1" lang="en-US" sz="1300">
                <a:solidFill>
                  <a:srgbClr val="1C1C1C"/>
                </a:solidFill>
                <a:latin typeface="Calibri"/>
                <a:ea typeface="Calibri"/>
                <a:cs typeface="Calibri"/>
                <a:sym typeface="Calibri"/>
              </a:rPr>
              <a:t>0,76</a:t>
            </a:r>
            <a:endParaRPr sz="1300">
              <a:solidFill>
                <a:schemeClr val="dk1"/>
              </a:solidFill>
              <a:latin typeface="Calibri"/>
              <a:ea typeface="Calibri"/>
              <a:cs typeface="Calibri"/>
              <a:sym typeface="Calibri"/>
            </a:endParaRPr>
          </a:p>
        </p:txBody>
      </p:sp>
      <p:sp>
        <p:nvSpPr>
          <p:cNvPr id="363" name="Google Shape;363;p12"/>
          <p:cNvSpPr txBox="1"/>
          <p:nvPr/>
        </p:nvSpPr>
        <p:spPr>
          <a:xfrm>
            <a:off x="7909560" y="3291840"/>
            <a:ext cx="23774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300"/>
              <a:buFont typeface="Calibri"/>
              <a:buNone/>
            </a:pPr>
            <a:r>
              <a:rPr lang="en-US" sz="1300">
                <a:solidFill>
                  <a:srgbClr val="1C1C1C"/>
                </a:solidFill>
                <a:latin typeface="Calibri"/>
                <a:ea typeface="Calibri"/>
                <a:cs typeface="Calibri"/>
                <a:sym typeface="Calibri"/>
              </a:rPr>
              <a:t>acousticness ↔ energy</a:t>
            </a:r>
            <a:endParaRPr sz="1300">
              <a:solidFill>
                <a:schemeClr val="dk1"/>
              </a:solidFill>
              <a:latin typeface="Calibri"/>
              <a:ea typeface="Calibri"/>
              <a:cs typeface="Calibri"/>
              <a:sym typeface="Calibri"/>
            </a:endParaRPr>
          </a:p>
        </p:txBody>
      </p:sp>
      <p:sp>
        <p:nvSpPr>
          <p:cNvPr id="364" name="Google Shape;364;p12"/>
          <p:cNvSpPr txBox="1"/>
          <p:nvPr/>
        </p:nvSpPr>
        <p:spPr>
          <a:xfrm>
            <a:off x="10241280" y="3291840"/>
            <a:ext cx="777240" cy="29260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300"/>
              <a:buFont typeface="Calibri"/>
              <a:buNone/>
            </a:pPr>
            <a:r>
              <a:rPr b="1" lang="en-US" sz="1300">
                <a:solidFill>
                  <a:srgbClr val="1C1C1C"/>
                </a:solidFill>
                <a:latin typeface="Calibri"/>
                <a:ea typeface="Calibri"/>
                <a:cs typeface="Calibri"/>
                <a:sym typeface="Calibri"/>
              </a:rPr>
              <a:t>−0,73</a:t>
            </a:r>
            <a:endParaRPr sz="1300">
              <a:solidFill>
                <a:schemeClr val="dk1"/>
              </a:solidFill>
              <a:latin typeface="Calibri"/>
              <a:ea typeface="Calibri"/>
              <a:cs typeface="Calibri"/>
              <a:sym typeface="Calibri"/>
            </a:endParaRPr>
          </a:p>
        </p:txBody>
      </p:sp>
      <p:sp>
        <p:nvSpPr>
          <p:cNvPr id="365" name="Google Shape;365;p12"/>
          <p:cNvSpPr txBox="1"/>
          <p:nvPr/>
        </p:nvSpPr>
        <p:spPr>
          <a:xfrm>
            <a:off x="7909560" y="3794760"/>
            <a:ext cx="237744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300"/>
              <a:buFont typeface="Calibri"/>
              <a:buNone/>
            </a:pPr>
            <a:r>
              <a:rPr lang="en-US" sz="1300">
                <a:solidFill>
                  <a:srgbClr val="1C1C1C"/>
                </a:solidFill>
                <a:latin typeface="Calibri"/>
                <a:ea typeface="Calibri"/>
                <a:cs typeface="Calibri"/>
                <a:sym typeface="Calibri"/>
              </a:rPr>
              <a:t>acousticness ↔ loudness</a:t>
            </a:r>
            <a:endParaRPr sz="1300">
              <a:solidFill>
                <a:schemeClr val="dk1"/>
              </a:solidFill>
              <a:latin typeface="Calibri"/>
              <a:ea typeface="Calibri"/>
              <a:cs typeface="Calibri"/>
              <a:sym typeface="Calibri"/>
            </a:endParaRPr>
          </a:p>
        </p:txBody>
      </p:sp>
      <p:sp>
        <p:nvSpPr>
          <p:cNvPr id="366" name="Google Shape;366;p12"/>
          <p:cNvSpPr txBox="1"/>
          <p:nvPr/>
        </p:nvSpPr>
        <p:spPr>
          <a:xfrm>
            <a:off x="10241280" y="3794760"/>
            <a:ext cx="777240" cy="292608"/>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300"/>
              <a:buFont typeface="Calibri"/>
              <a:buNone/>
            </a:pPr>
            <a:r>
              <a:rPr b="1" lang="en-US" sz="1300">
                <a:solidFill>
                  <a:srgbClr val="1C1C1C"/>
                </a:solidFill>
                <a:latin typeface="Calibri"/>
                <a:ea typeface="Calibri"/>
                <a:cs typeface="Calibri"/>
                <a:sym typeface="Calibri"/>
              </a:rPr>
              <a:t>−0,58</a:t>
            </a:r>
            <a:endParaRPr sz="1300">
              <a:solidFill>
                <a:schemeClr val="dk1"/>
              </a:solidFill>
              <a:latin typeface="Calibri"/>
              <a:ea typeface="Calibri"/>
              <a:cs typeface="Calibri"/>
              <a:sym typeface="Calibri"/>
            </a:endParaRPr>
          </a:p>
        </p:txBody>
      </p:sp>
      <p:sp>
        <p:nvSpPr>
          <p:cNvPr id="367" name="Google Shape;367;p12"/>
          <p:cNvSpPr txBox="1"/>
          <p:nvPr/>
        </p:nvSpPr>
        <p:spPr>
          <a:xfrm>
            <a:off x="7909560" y="4434840"/>
            <a:ext cx="3108960" cy="54864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767676"/>
              </a:buClr>
              <a:buSzPts val="1250"/>
              <a:buFont typeface="Calibri"/>
              <a:buNone/>
            </a:pPr>
            <a:r>
              <a:rPr i="1" lang="en-US" sz="1250">
                <a:solidFill>
                  <a:srgbClr val="767676"/>
                </a:solidFill>
                <a:latin typeface="Calibri"/>
                <a:ea typeface="Calibri"/>
                <a:cs typeface="Calibri"/>
                <a:sym typeface="Calibri"/>
              </a:rPr>
              <a:t>Multicolinealidad entre variables de audio</a:t>
            </a:r>
            <a:endParaRPr sz="1250">
              <a:solidFill>
                <a:schemeClr val="dk1"/>
              </a:solidFill>
              <a:latin typeface="Calibri"/>
              <a:ea typeface="Calibri"/>
              <a:cs typeface="Calibri"/>
              <a:sym typeface="Calibri"/>
            </a:endParaRPr>
          </a:p>
        </p:txBody>
      </p:sp>
      <p:sp>
        <p:nvSpPr>
          <p:cNvPr id="368" name="Google Shape;368;p12"/>
          <p:cNvSpPr txBox="1"/>
          <p:nvPr/>
        </p:nvSpPr>
        <p:spPr>
          <a:xfrm>
            <a:off x="7909560" y="5074920"/>
            <a:ext cx="310896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300"/>
              <a:buFont typeface="Calibri"/>
              <a:buNone/>
            </a:pPr>
            <a:r>
              <a:rPr b="1" lang="en-US" sz="1300">
                <a:solidFill>
                  <a:srgbClr val="0E6B39"/>
                </a:solidFill>
                <a:latin typeface="Calibri"/>
                <a:ea typeface="Calibri"/>
                <a:cs typeface="Calibri"/>
                <a:sym typeface="Calibri"/>
              </a:rPr>
              <a:t>→  CorrelationFilter 0,9</a:t>
            </a:r>
            <a:endParaRPr sz="1300">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13"/>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ANÁLISIS EXPLORATORIO</a:t>
            </a:r>
            <a:endParaRPr sz="1000">
              <a:solidFill>
                <a:schemeClr val="dk1"/>
              </a:solidFill>
              <a:latin typeface="Calibri"/>
              <a:ea typeface="Calibri"/>
              <a:cs typeface="Calibri"/>
              <a:sym typeface="Calibri"/>
            </a:endParaRPr>
          </a:p>
        </p:txBody>
      </p:sp>
      <p:sp>
        <p:nvSpPr>
          <p:cNvPr id="375" name="Google Shape;375;p13"/>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El género es la señal más fuerte del dataset</a:t>
            </a:r>
            <a:endParaRPr sz="2600">
              <a:solidFill>
                <a:schemeClr val="dk1"/>
              </a:solidFill>
              <a:latin typeface="Calibri"/>
              <a:ea typeface="Calibri"/>
              <a:cs typeface="Calibri"/>
              <a:sym typeface="Calibri"/>
            </a:endParaRPr>
          </a:p>
        </p:txBody>
      </p:sp>
      <p:sp>
        <p:nvSpPr>
          <p:cNvPr id="376" name="Google Shape;376;p13"/>
          <p:cNvSpPr txBox="1"/>
          <p:nvPr/>
        </p:nvSpPr>
        <p:spPr>
          <a:xfrm>
            <a:off x="640080" y="1984248"/>
            <a:ext cx="54864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i="1" lang="en-US" sz="1100">
                <a:solidFill>
                  <a:srgbClr val="767676"/>
                </a:solidFill>
                <a:latin typeface="Calibri"/>
                <a:ea typeface="Calibri"/>
                <a:cs typeface="Calibri"/>
                <a:sym typeface="Calibri"/>
              </a:rPr>
              <a:t>popularidad promedio por género</a:t>
            </a:r>
            <a:endParaRPr sz="1100">
              <a:solidFill>
                <a:schemeClr val="dk1"/>
              </a:solidFill>
              <a:latin typeface="Calibri"/>
              <a:ea typeface="Calibri"/>
              <a:cs typeface="Calibri"/>
              <a:sym typeface="Calibri"/>
            </a:endParaRPr>
          </a:p>
        </p:txBody>
      </p:sp>
      <p:sp>
        <p:nvSpPr>
          <p:cNvPr id="377" name="Google Shape;377;p13"/>
          <p:cNvSpPr/>
          <p:nvPr/>
        </p:nvSpPr>
        <p:spPr>
          <a:xfrm>
            <a:off x="2331720" y="2386584"/>
            <a:ext cx="4446361"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78" name="Google Shape;378;p13"/>
          <p:cNvSpPr txBox="1"/>
          <p:nvPr/>
        </p:nvSpPr>
        <p:spPr>
          <a:xfrm>
            <a:off x="640080" y="2340864"/>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lang="en-US" sz="1250">
                <a:solidFill>
                  <a:srgbClr val="1C1C1C"/>
                </a:solidFill>
                <a:latin typeface="Calibri"/>
                <a:ea typeface="Calibri"/>
                <a:cs typeface="Calibri"/>
                <a:sym typeface="Calibri"/>
              </a:rPr>
              <a:t>pop-film</a:t>
            </a:r>
            <a:endParaRPr sz="1250">
              <a:solidFill>
                <a:schemeClr val="dk1"/>
              </a:solidFill>
              <a:latin typeface="Calibri"/>
              <a:ea typeface="Calibri"/>
              <a:cs typeface="Calibri"/>
              <a:sym typeface="Calibri"/>
            </a:endParaRPr>
          </a:p>
        </p:txBody>
      </p:sp>
      <p:sp>
        <p:nvSpPr>
          <p:cNvPr id="379" name="Google Shape;379;p13"/>
          <p:cNvSpPr txBox="1"/>
          <p:nvPr/>
        </p:nvSpPr>
        <p:spPr>
          <a:xfrm>
            <a:off x="6869521" y="2340864"/>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59,3</a:t>
            </a:r>
            <a:endParaRPr sz="1200">
              <a:solidFill>
                <a:schemeClr val="dk1"/>
              </a:solidFill>
              <a:latin typeface="Calibri"/>
              <a:ea typeface="Calibri"/>
              <a:cs typeface="Calibri"/>
              <a:sym typeface="Calibri"/>
            </a:endParaRPr>
          </a:p>
        </p:txBody>
      </p:sp>
      <p:sp>
        <p:nvSpPr>
          <p:cNvPr id="380" name="Google Shape;380;p13"/>
          <p:cNvSpPr/>
          <p:nvPr/>
        </p:nvSpPr>
        <p:spPr>
          <a:xfrm>
            <a:off x="2331720" y="2697480"/>
            <a:ext cx="4273906"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1" name="Google Shape;381;p13"/>
          <p:cNvSpPr txBox="1"/>
          <p:nvPr/>
        </p:nvSpPr>
        <p:spPr>
          <a:xfrm>
            <a:off x="640080" y="2651760"/>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lang="en-US" sz="1250">
                <a:solidFill>
                  <a:srgbClr val="1C1C1C"/>
                </a:solidFill>
                <a:latin typeface="Calibri"/>
                <a:ea typeface="Calibri"/>
                <a:cs typeface="Calibri"/>
                <a:sym typeface="Calibri"/>
              </a:rPr>
              <a:t>k-pop</a:t>
            </a:r>
            <a:endParaRPr sz="1250">
              <a:solidFill>
                <a:schemeClr val="dk1"/>
              </a:solidFill>
              <a:latin typeface="Calibri"/>
              <a:ea typeface="Calibri"/>
              <a:cs typeface="Calibri"/>
              <a:sym typeface="Calibri"/>
            </a:endParaRPr>
          </a:p>
        </p:txBody>
      </p:sp>
      <p:sp>
        <p:nvSpPr>
          <p:cNvPr id="382" name="Google Shape;382;p13"/>
          <p:cNvSpPr txBox="1"/>
          <p:nvPr/>
        </p:nvSpPr>
        <p:spPr>
          <a:xfrm>
            <a:off x="6697066" y="2651760"/>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57,0</a:t>
            </a:r>
            <a:endParaRPr sz="1200">
              <a:solidFill>
                <a:schemeClr val="dk1"/>
              </a:solidFill>
              <a:latin typeface="Calibri"/>
              <a:ea typeface="Calibri"/>
              <a:cs typeface="Calibri"/>
              <a:sym typeface="Calibri"/>
            </a:endParaRPr>
          </a:p>
        </p:txBody>
      </p:sp>
      <p:sp>
        <p:nvSpPr>
          <p:cNvPr id="383" name="Google Shape;383;p13"/>
          <p:cNvSpPr/>
          <p:nvPr/>
        </p:nvSpPr>
        <p:spPr>
          <a:xfrm>
            <a:off x="2331720" y="3008376"/>
            <a:ext cx="4026469"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4" name="Google Shape;384;p13"/>
          <p:cNvSpPr txBox="1"/>
          <p:nvPr/>
        </p:nvSpPr>
        <p:spPr>
          <a:xfrm>
            <a:off x="640080" y="2962656"/>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lang="en-US" sz="1250">
                <a:solidFill>
                  <a:srgbClr val="1C1C1C"/>
                </a:solidFill>
                <a:latin typeface="Calibri"/>
                <a:ea typeface="Calibri"/>
                <a:cs typeface="Calibri"/>
                <a:sym typeface="Calibri"/>
              </a:rPr>
              <a:t>chill</a:t>
            </a:r>
            <a:endParaRPr sz="1250">
              <a:solidFill>
                <a:schemeClr val="dk1"/>
              </a:solidFill>
              <a:latin typeface="Calibri"/>
              <a:ea typeface="Calibri"/>
              <a:cs typeface="Calibri"/>
              <a:sym typeface="Calibri"/>
            </a:endParaRPr>
          </a:p>
        </p:txBody>
      </p:sp>
      <p:sp>
        <p:nvSpPr>
          <p:cNvPr id="385" name="Google Shape;385;p13"/>
          <p:cNvSpPr txBox="1"/>
          <p:nvPr/>
        </p:nvSpPr>
        <p:spPr>
          <a:xfrm>
            <a:off x="6449629" y="2962656"/>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53,7</a:t>
            </a:r>
            <a:endParaRPr sz="1200">
              <a:solidFill>
                <a:schemeClr val="dk1"/>
              </a:solidFill>
              <a:latin typeface="Calibri"/>
              <a:ea typeface="Calibri"/>
              <a:cs typeface="Calibri"/>
              <a:sym typeface="Calibri"/>
            </a:endParaRPr>
          </a:p>
        </p:txBody>
      </p:sp>
      <p:sp>
        <p:nvSpPr>
          <p:cNvPr id="386" name="Google Shape;386;p13"/>
          <p:cNvSpPr/>
          <p:nvPr/>
        </p:nvSpPr>
        <p:spPr>
          <a:xfrm>
            <a:off x="2331720" y="3319272"/>
            <a:ext cx="3928994"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87" name="Google Shape;387;p13"/>
          <p:cNvSpPr txBox="1"/>
          <p:nvPr/>
        </p:nvSpPr>
        <p:spPr>
          <a:xfrm>
            <a:off x="640080" y="3273552"/>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lang="en-US" sz="1250">
                <a:solidFill>
                  <a:srgbClr val="1C1C1C"/>
                </a:solidFill>
                <a:latin typeface="Calibri"/>
                <a:ea typeface="Calibri"/>
                <a:cs typeface="Calibri"/>
                <a:sym typeface="Calibri"/>
              </a:rPr>
              <a:t>sad</a:t>
            </a:r>
            <a:endParaRPr sz="1250">
              <a:solidFill>
                <a:schemeClr val="dk1"/>
              </a:solidFill>
              <a:latin typeface="Calibri"/>
              <a:ea typeface="Calibri"/>
              <a:cs typeface="Calibri"/>
              <a:sym typeface="Calibri"/>
            </a:endParaRPr>
          </a:p>
        </p:txBody>
      </p:sp>
      <p:sp>
        <p:nvSpPr>
          <p:cNvPr id="388" name="Google Shape;388;p13"/>
          <p:cNvSpPr txBox="1"/>
          <p:nvPr/>
        </p:nvSpPr>
        <p:spPr>
          <a:xfrm>
            <a:off x="6352154" y="3273552"/>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52,4</a:t>
            </a:r>
            <a:endParaRPr sz="1200">
              <a:solidFill>
                <a:schemeClr val="dk1"/>
              </a:solidFill>
              <a:latin typeface="Calibri"/>
              <a:ea typeface="Calibri"/>
              <a:cs typeface="Calibri"/>
              <a:sym typeface="Calibri"/>
            </a:endParaRPr>
          </a:p>
        </p:txBody>
      </p:sp>
      <p:sp>
        <p:nvSpPr>
          <p:cNvPr id="389" name="Google Shape;389;p13"/>
          <p:cNvSpPr/>
          <p:nvPr/>
        </p:nvSpPr>
        <p:spPr>
          <a:xfrm>
            <a:off x="2331720" y="3630168"/>
            <a:ext cx="3591580" cy="173736"/>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0" name="Google Shape;390;p13"/>
          <p:cNvSpPr txBox="1"/>
          <p:nvPr/>
        </p:nvSpPr>
        <p:spPr>
          <a:xfrm>
            <a:off x="640080" y="3584448"/>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C1C1C"/>
              </a:buClr>
              <a:buSzPts val="1250"/>
              <a:buFont typeface="Calibri"/>
              <a:buNone/>
            </a:pPr>
            <a:r>
              <a:rPr lang="en-US" sz="1250">
                <a:solidFill>
                  <a:srgbClr val="1C1C1C"/>
                </a:solidFill>
                <a:latin typeface="Calibri"/>
                <a:ea typeface="Calibri"/>
                <a:cs typeface="Calibri"/>
                <a:sym typeface="Calibri"/>
              </a:rPr>
              <a:t>pop</a:t>
            </a:r>
            <a:endParaRPr sz="1250">
              <a:solidFill>
                <a:schemeClr val="dk1"/>
              </a:solidFill>
              <a:latin typeface="Calibri"/>
              <a:ea typeface="Calibri"/>
              <a:cs typeface="Calibri"/>
              <a:sym typeface="Calibri"/>
            </a:endParaRPr>
          </a:p>
        </p:txBody>
      </p:sp>
      <p:sp>
        <p:nvSpPr>
          <p:cNvPr id="391" name="Google Shape;391;p13"/>
          <p:cNvSpPr txBox="1"/>
          <p:nvPr/>
        </p:nvSpPr>
        <p:spPr>
          <a:xfrm>
            <a:off x="6014740" y="3584448"/>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47,9</a:t>
            </a:r>
            <a:endParaRPr sz="1200">
              <a:solidFill>
                <a:schemeClr val="dk1"/>
              </a:solidFill>
              <a:latin typeface="Calibri"/>
              <a:ea typeface="Calibri"/>
              <a:cs typeface="Calibri"/>
              <a:sym typeface="Calibri"/>
            </a:endParaRPr>
          </a:p>
        </p:txBody>
      </p:sp>
      <p:sp>
        <p:nvSpPr>
          <p:cNvPr id="392" name="Google Shape;392;p13"/>
          <p:cNvSpPr txBox="1"/>
          <p:nvPr/>
        </p:nvSpPr>
        <p:spPr>
          <a:xfrm>
            <a:off x="2331720" y="3913632"/>
            <a:ext cx="36576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100"/>
              <a:buFont typeface="Calibri"/>
              <a:buNone/>
            </a:pPr>
            <a:r>
              <a:rPr i="1" lang="en-US" sz="1100">
                <a:solidFill>
                  <a:srgbClr val="AFAFAF"/>
                </a:solidFill>
                <a:latin typeface="Calibri"/>
                <a:ea typeface="Calibri"/>
                <a:cs typeface="Calibri"/>
                <a:sym typeface="Calibri"/>
              </a:rPr>
              <a:t>· · ·  104 géneros  · · ·</a:t>
            </a:r>
            <a:endParaRPr sz="1100">
              <a:solidFill>
                <a:schemeClr val="dk1"/>
              </a:solidFill>
              <a:latin typeface="Calibri"/>
              <a:ea typeface="Calibri"/>
              <a:cs typeface="Calibri"/>
              <a:sym typeface="Calibri"/>
            </a:endParaRPr>
          </a:p>
        </p:txBody>
      </p:sp>
      <p:sp>
        <p:nvSpPr>
          <p:cNvPr id="393" name="Google Shape;393;p13"/>
          <p:cNvSpPr/>
          <p:nvPr/>
        </p:nvSpPr>
        <p:spPr>
          <a:xfrm>
            <a:off x="2331720" y="4251960"/>
            <a:ext cx="1094720" cy="1737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4" name="Google Shape;394;p13"/>
          <p:cNvSpPr txBox="1"/>
          <p:nvPr/>
        </p:nvSpPr>
        <p:spPr>
          <a:xfrm>
            <a:off x="640080" y="4206240"/>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250"/>
              <a:buFont typeface="Calibri"/>
              <a:buNone/>
            </a:pPr>
            <a:r>
              <a:rPr lang="en-US" sz="1250">
                <a:solidFill>
                  <a:srgbClr val="767676"/>
                </a:solidFill>
                <a:latin typeface="Calibri"/>
                <a:ea typeface="Calibri"/>
                <a:cs typeface="Calibri"/>
                <a:sym typeface="Calibri"/>
              </a:rPr>
              <a:t>grindcore</a:t>
            </a:r>
            <a:endParaRPr sz="1250">
              <a:solidFill>
                <a:schemeClr val="dk1"/>
              </a:solidFill>
              <a:latin typeface="Calibri"/>
              <a:ea typeface="Calibri"/>
              <a:cs typeface="Calibri"/>
              <a:sym typeface="Calibri"/>
            </a:endParaRPr>
          </a:p>
        </p:txBody>
      </p:sp>
      <p:sp>
        <p:nvSpPr>
          <p:cNvPr id="395" name="Google Shape;395;p13"/>
          <p:cNvSpPr txBox="1"/>
          <p:nvPr/>
        </p:nvSpPr>
        <p:spPr>
          <a:xfrm>
            <a:off x="3517880" y="4206240"/>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200"/>
              <a:buFont typeface="Calibri"/>
              <a:buNone/>
            </a:pPr>
            <a:r>
              <a:rPr lang="en-US" sz="1200">
                <a:solidFill>
                  <a:srgbClr val="AFAFAF"/>
                </a:solidFill>
                <a:latin typeface="Calibri"/>
                <a:ea typeface="Calibri"/>
                <a:cs typeface="Calibri"/>
                <a:sym typeface="Calibri"/>
              </a:rPr>
              <a:t>14,6</a:t>
            </a:r>
            <a:endParaRPr sz="1200">
              <a:solidFill>
                <a:schemeClr val="dk1"/>
              </a:solidFill>
              <a:latin typeface="Calibri"/>
              <a:ea typeface="Calibri"/>
              <a:cs typeface="Calibri"/>
              <a:sym typeface="Calibri"/>
            </a:endParaRPr>
          </a:p>
        </p:txBody>
      </p:sp>
      <p:sp>
        <p:nvSpPr>
          <p:cNvPr id="396" name="Google Shape;396;p13"/>
          <p:cNvSpPr/>
          <p:nvPr/>
        </p:nvSpPr>
        <p:spPr>
          <a:xfrm>
            <a:off x="2331720" y="4562856"/>
            <a:ext cx="1012241" cy="1737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397" name="Google Shape;397;p13"/>
          <p:cNvSpPr txBox="1"/>
          <p:nvPr/>
        </p:nvSpPr>
        <p:spPr>
          <a:xfrm>
            <a:off x="640080" y="4517136"/>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250"/>
              <a:buFont typeface="Calibri"/>
              <a:buNone/>
            </a:pPr>
            <a:r>
              <a:rPr lang="en-US" sz="1250">
                <a:solidFill>
                  <a:srgbClr val="767676"/>
                </a:solidFill>
                <a:latin typeface="Calibri"/>
                <a:ea typeface="Calibri"/>
                <a:cs typeface="Calibri"/>
                <a:sym typeface="Calibri"/>
              </a:rPr>
              <a:t>classical</a:t>
            </a:r>
            <a:endParaRPr sz="1250">
              <a:solidFill>
                <a:schemeClr val="dk1"/>
              </a:solidFill>
              <a:latin typeface="Calibri"/>
              <a:ea typeface="Calibri"/>
              <a:cs typeface="Calibri"/>
              <a:sym typeface="Calibri"/>
            </a:endParaRPr>
          </a:p>
        </p:txBody>
      </p:sp>
      <p:sp>
        <p:nvSpPr>
          <p:cNvPr id="398" name="Google Shape;398;p13"/>
          <p:cNvSpPr txBox="1"/>
          <p:nvPr/>
        </p:nvSpPr>
        <p:spPr>
          <a:xfrm>
            <a:off x="3435401" y="4517136"/>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200"/>
              <a:buFont typeface="Calibri"/>
              <a:buNone/>
            </a:pPr>
            <a:r>
              <a:rPr lang="en-US" sz="1200">
                <a:solidFill>
                  <a:srgbClr val="AFAFAF"/>
                </a:solidFill>
                <a:latin typeface="Calibri"/>
                <a:ea typeface="Calibri"/>
                <a:cs typeface="Calibri"/>
                <a:sym typeface="Calibri"/>
              </a:rPr>
              <a:t>13,5</a:t>
            </a:r>
            <a:endParaRPr sz="1200">
              <a:solidFill>
                <a:schemeClr val="dk1"/>
              </a:solidFill>
              <a:latin typeface="Calibri"/>
              <a:ea typeface="Calibri"/>
              <a:cs typeface="Calibri"/>
              <a:sym typeface="Calibri"/>
            </a:endParaRPr>
          </a:p>
        </p:txBody>
      </p:sp>
      <p:sp>
        <p:nvSpPr>
          <p:cNvPr id="399" name="Google Shape;399;p13"/>
          <p:cNvSpPr/>
          <p:nvPr/>
        </p:nvSpPr>
        <p:spPr>
          <a:xfrm>
            <a:off x="2331720" y="4873752"/>
            <a:ext cx="629839" cy="1737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0" name="Google Shape;400;p13"/>
          <p:cNvSpPr txBox="1"/>
          <p:nvPr/>
        </p:nvSpPr>
        <p:spPr>
          <a:xfrm>
            <a:off x="640080" y="4828032"/>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250"/>
              <a:buFont typeface="Calibri"/>
              <a:buNone/>
            </a:pPr>
            <a:r>
              <a:rPr lang="en-US" sz="1250">
                <a:solidFill>
                  <a:srgbClr val="767676"/>
                </a:solidFill>
                <a:latin typeface="Calibri"/>
                <a:ea typeface="Calibri"/>
                <a:cs typeface="Calibri"/>
                <a:sym typeface="Calibri"/>
              </a:rPr>
              <a:t>latin</a:t>
            </a:r>
            <a:endParaRPr sz="1250">
              <a:solidFill>
                <a:schemeClr val="dk1"/>
              </a:solidFill>
              <a:latin typeface="Calibri"/>
              <a:ea typeface="Calibri"/>
              <a:cs typeface="Calibri"/>
              <a:sym typeface="Calibri"/>
            </a:endParaRPr>
          </a:p>
        </p:txBody>
      </p:sp>
      <p:sp>
        <p:nvSpPr>
          <p:cNvPr id="401" name="Google Shape;401;p13"/>
          <p:cNvSpPr txBox="1"/>
          <p:nvPr/>
        </p:nvSpPr>
        <p:spPr>
          <a:xfrm>
            <a:off x="3052999" y="4828032"/>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200"/>
              <a:buFont typeface="Calibri"/>
              <a:buNone/>
            </a:pPr>
            <a:r>
              <a:rPr lang="en-US" sz="1200">
                <a:solidFill>
                  <a:srgbClr val="AFAFAF"/>
                </a:solidFill>
                <a:latin typeface="Calibri"/>
                <a:ea typeface="Calibri"/>
                <a:cs typeface="Calibri"/>
                <a:sym typeface="Calibri"/>
              </a:rPr>
              <a:t>8,4</a:t>
            </a:r>
            <a:endParaRPr sz="1200">
              <a:solidFill>
                <a:schemeClr val="dk1"/>
              </a:solidFill>
              <a:latin typeface="Calibri"/>
              <a:ea typeface="Calibri"/>
              <a:cs typeface="Calibri"/>
              <a:sym typeface="Calibri"/>
            </a:endParaRPr>
          </a:p>
        </p:txBody>
      </p:sp>
      <p:sp>
        <p:nvSpPr>
          <p:cNvPr id="402" name="Google Shape;402;p13"/>
          <p:cNvSpPr/>
          <p:nvPr/>
        </p:nvSpPr>
        <p:spPr>
          <a:xfrm>
            <a:off x="2331720" y="5184648"/>
            <a:ext cx="262433" cy="1737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3" name="Google Shape;403;p13"/>
          <p:cNvSpPr txBox="1"/>
          <p:nvPr/>
        </p:nvSpPr>
        <p:spPr>
          <a:xfrm>
            <a:off x="640080" y="5138928"/>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250"/>
              <a:buFont typeface="Calibri"/>
              <a:buNone/>
            </a:pPr>
            <a:r>
              <a:rPr lang="en-US" sz="1250">
                <a:solidFill>
                  <a:srgbClr val="767676"/>
                </a:solidFill>
                <a:latin typeface="Calibri"/>
                <a:ea typeface="Calibri"/>
                <a:cs typeface="Calibri"/>
                <a:sym typeface="Calibri"/>
              </a:rPr>
              <a:t>romance</a:t>
            </a:r>
            <a:endParaRPr sz="1250">
              <a:solidFill>
                <a:schemeClr val="dk1"/>
              </a:solidFill>
              <a:latin typeface="Calibri"/>
              <a:ea typeface="Calibri"/>
              <a:cs typeface="Calibri"/>
              <a:sym typeface="Calibri"/>
            </a:endParaRPr>
          </a:p>
        </p:txBody>
      </p:sp>
      <p:sp>
        <p:nvSpPr>
          <p:cNvPr id="404" name="Google Shape;404;p13"/>
          <p:cNvSpPr txBox="1"/>
          <p:nvPr/>
        </p:nvSpPr>
        <p:spPr>
          <a:xfrm>
            <a:off x="2685593" y="5138928"/>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200"/>
              <a:buFont typeface="Calibri"/>
              <a:buNone/>
            </a:pPr>
            <a:r>
              <a:rPr lang="en-US" sz="1200">
                <a:solidFill>
                  <a:srgbClr val="AFAFAF"/>
                </a:solidFill>
                <a:latin typeface="Calibri"/>
                <a:ea typeface="Calibri"/>
                <a:cs typeface="Calibri"/>
                <a:sym typeface="Calibri"/>
              </a:rPr>
              <a:t>3,5</a:t>
            </a:r>
            <a:endParaRPr sz="1200">
              <a:solidFill>
                <a:schemeClr val="dk1"/>
              </a:solidFill>
              <a:latin typeface="Calibri"/>
              <a:ea typeface="Calibri"/>
              <a:cs typeface="Calibri"/>
              <a:sym typeface="Calibri"/>
            </a:endParaRPr>
          </a:p>
        </p:txBody>
      </p:sp>
      <p:sp>
        <p:nvSpPr>
          <p:cNvPr id="405" name="Google Shape;405;p13"/>
          <p:cNvSpPr/>
          <p:nvPr/>
        </p:nvSpPr>
        <p:spPr>
          <a:xfrm>
            <a:off x="2331720" y="5495544"/>
            <a:ext cx="164958" cy="173736"/>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6" name="Google Shape;406;p13"/>
          <p:cNvSpPr txBox="1"/>
          <p:nvPr/>
        </p:nvSpPr>
        <p:spPr>
          <a:xfrm>
            <a:off x="640080" y="5449824"/>
            <a:ext cx="1554480" cy="26517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767676"/>
              </a:buClr>
              <a:buSzPts val="1250"/>
              <a:buFont typeface="Calibri"/>
              <a:buNone/>
            </a:pPr>
            <a:r>
              <a:rPr lang="en-US" sz="1250">
                <a:solidFill>
                  <a:srgbClr val="767676"/>
                </a:solidFill>
                <a:latin typeface="Calibri"/>
                <a:ea typeface="Calibri"/>
                <a:cs typeface="Calibri"/>
                <a:sym typeface="Calibri"/>
              </a:rPr>
              <a:t>iranian</a:t>
            </a:r>
            <a:endParaRPr sz="1250">
              <a:solidFill>
                <a:schemeClr val="dk1"/>
              </a:solidFill>
              <a:latin typeface="Calibri"/>
              <a:ea typeface="Calibri"/>
              <a:cs typeface="Calibri"/>
              <a:sym typeface="Calibri"/>
            </a:endParaRPr>
          </a:p>
        </p:txBody>
      </p:sp>
      <p:sp>
        <p:nvSpPr>
          <p:cNvPr id="407" name="Google Shape;407;p13"/>
          <p:cNvSpPr txBox="1"/>
          <p:nvPr/>
        </p:nvSpPr>
        <p:spPr>
          <a:xfrm>
            <a:off x="2588118" y="5449824"/>
            <a:ext cx="731520" cy="2651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AFAFAF"/>
              </a:buClr>
              <a:buSzPts val="1200"/>
              <a:buFont typeface="Calibri"/>
              <a:buNone/>
            </a:pPr>
            <a:r>
              <a:rPr lang="en-US" sz="1200">
                <a:solidFill>
                  <a:srgbClr val="AFAFAF"/>
                </a:solidFill>
                <a:latin typeface="Calibri"/>
                <a:ea typeface="Calibri"/>
                <a:cs typeface="Calibri"/>
                <a:sym typeface="Calibri"/>
              </a:rPr>
              <a:t>2,2</a:t>
            </a:r>
            <a:endParaRPr sz="1200">
              <a:solidFill>
                <a:schemeClr val="dk1"/>
              </a:solidFill>
              <a:latin typeface="Calibri"/>
              <a:ea typeface="Calibri"/>
              <a:cs typeface="Calibri"/>
              <a:sym typeface="Calibri"/>
            </a:endParaRPr>
          </a:p>
        </p:txBody>
      </p:sp>
      <p:sp>
        <p:nvSpPr>
          <p:cNvPr id="408" name="Google Shape;408;p13"/>
          <p:cNvSpPr/>
          <p:nvPr/>
        </p:nvSpPr>
        <p:spPr>
          <a:xfrm>
            <a:off x="7406640" y="1984248"/>
            <a:ext cx="4142232" cy="169164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09" name="Google Shape;409;p13"/>
          <p:cNvSpPr txBox="1"/>
          <p:nvPr/>
        </p:nvSpPr>
        <p:spPr>
          <a:xfrm>
            <a:off x="7772400" y="2240280"/>
            <a:ext cx="2286000" cy="7772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4400"/>
              <a:buFont typeface="Cambria"/>
              <a:buNone/>
            </a:pPr>
            <a:r>
              <a:rPr b="1" lang="en-US" sz="4400">
                <a:solidFill>
                  <a:srgbClr val="18A558"/>
                </a:solidFill>
                <a:latin typeface="Cambria"/>
                <a:ea typeface="Cambria"/>
                <a:cs typeface="Cambria"/>
                <a:sym typeface="Cambria"/>
              </a:rPr>
              <a:t>0,62</a:t>
            </a:r>
            <a:endParaRPr sz="4400">
              <a:solidFill>
                <a:schemeClr val="dk1"/>
              </a:solidFill>
              <a:latin typeface="Calibri"/>
              <a:ea typeface="Calibri"/>
              <a:cs typeface="Calibri"/>
              <a:sym typeface="Calibri"/>
            </a:endParaRPr>
          </a:p>
        </p:txBody>
      </p:sp>
      <p:sp>
        <p:nvSpPr>
          <p:cNvPr id="410" name="Google Shape;410;p13"/>
          <p:cNvSpPr txBox="1"/>
          <p:nvPr/>
        </p:nvSpPr>
        <p:spPr>
          <a:xfrm>
            <a:off x="7772400" y="3063240"/>
            <a:ext cx="3474720" cy="4572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A9BAB0"/>
              </a:buClr>
              <a:buSzPts val="1300"/>
              <a:buFont typeface="Calibri"/>
              <a:buNone/>
            </a:pPr>
            <a:r>
              <a:rPr lang="en-US" sz="1300">
                <a:solidFill>
                  <a:srgbClr val="A9BAB0"/>
                </a:solidFill>
                <a:latin typeface="Calibri"/>
                <a:ea typeface="Calibri"/>
                <a:cs typeface="Calibri"/>
                <a:sym typeface="Calibri"/>
              </a:rPr>
              <a:t>correlación con popularity  ·  5× el audio</a:t>
            </a:r>
            <a:endParaRPr sz="1300">
              <a:solidFill>
                <a:schemeClr val="dk1"/>
              </a:solidFill>
              <a:latin typeface="Calibri"/>
              <a:ea typeface="Calibri"/>
              <a:cs typeface="Calibri"/>
              <a:sym typeface="Calibri"/>
            </a:endParaRPr>
          </a:p>
        </p:txBody>
      </p:sp>
      <p:sp>
        <p:nvSpPr>
          <p:cNvPr id="411" name="Google Shape;411;p13"/>
          <p:cNvSpPr/>
          <p:nvPr/>
        </p:nvSpPr>
        <p:spPr>
          <a:xfrm>
            <a:off x="7406640" y="3840480"/>
            <a:ext cx="4142232" cy="193852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12" name="Google Shape;412;p13"/>
          <p:cNvSpPr txBox="1"/>
          <p:nvPr/>
        </p:nvSpPr>
        <p:spPr>
          <a:xfrm>
            <a:off x="7772400" y="4069080"/>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050"/>
              <a:buFont typeface="Calibri"/>
              <a:buNone/>
            </a:pPr>
            <a:r>
              <a:rPr b="1" lang="en-US" sz="1050">
                <a:solidFill>
                  <a:srgbClr val="C0392B"/>
                </a:solidFill>
                <a:latin typeface="Calibri"/>
                <a:ea typeface="Calibri"/>
                <a:cs typeface="Calibri"/>
                <a:sym typeface="Calibri"/>
              </a:rPr>
              <a:t>PERO</a:t>
            </a:r>
            <a:endParaRPr sz="1050">
              <a:solidFill>
                <a:schemeClr val="dk1"/>
              </a:solidFill>
              <a:latin typeface="Calibri"/>
              <a:ea typeface="Calibri"/>
              <a:cs typeface="Calibri"/>
              <a:sym typeface="Calibri"/>
            </a:endParaRPr>
          </a:p>
        </p:txBody>
      </p:sp>
      <p:sp>
        <p:nvSpPr>
          <p:cNvPr id="413" name="Google Shape;413;p13"/>
          <p:cNvSpPr txBox="1"/>
          <p:nvPr/>
        </p:nvSpPr>
        <p:spPr>
          <a:xfrm>
            <a:off x="7772400" y="4389120"/>
            <a:ext cx="3474720" cy="822960"/>
          </a:xfrm>
          <a:prstGeom prst="rect">
            <a:avLst/>
          </a:prstGeom>
          <a:noFill/>
          <a:ln>
            <a:noFill/>
          </a:ln>
        </p:spPr>
        <p:txBody>
          <a:bodyPr anchorCtr="0" anchor="ctr" bIns="0" lIns="0" spcFirstLastPara="1" rIns="0" wrap="square" tIns="0">
            <a:noAutofit/>
          </a:bodyPr>
          <a:lstStyle/>
          <a:p>
            <a:pPr indent="0" lvl="0" marL="0" marR="0" rtl="0" algn="l">
              <a:lnSpc>
                <a:spcPct val="112000"/>
              </a:lnSpc>
              <a:spcBef>
                <a:spcPts val="0"/>
              </a:spcBef>
              <a:spcAft>
                <a:spcPts val="0"/>
              </a:spcAft>
              <a:buClr>
                <a:srgbClr val="1C1C1C"/>
              </a:buClr>
              <a:buSzPts val="1700"/>
              <a:buFont typeface="Cambria"/>
              <a:buNone/>
            </a:pPr>
            <a:r>
              <a:rPr lang="en-US" sz="1700">
                <a:solidFill>
                  <a:srgbClr val="1C1C1C"/>
                </a:solidFill>
                <a:latin typeface="Cambria"/>
                <a:ea typeface="Cambria"/>
                <a:cs typeface="Cambria"/>
                <a:sym typeface="Cambria"/>
              </a:rPr>
              <a:t>~1.000 canciones por género:</a:t>
            </a:r>
            <a:endParaRPr sz="1700">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C1C1C"/>
              </a:buClr>
              <a:buSzPts val="1700"/>
              <a:buFont typeface="Cambria"/>
              <a:buNone/>
            </a:pPr>
            <a:r>
              <a:rPr lang="en-US" sz="1700">
                <a:solidFill>
                  <a:srgbClr val="1C1C1C"/>
                </a:solidFill>
                <a:latin typeface="Cambria"/>
                <a:ea typeface="Cambria"/>
                <a:cs typeface="Cambria"/>
                <a:sym typeface="Cambria"/>
              </a:rPr>
              <a:t>es el muestreo, no la realidad.</a:t>
            </a:r>
            <a:endParaRPr sz="17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8" name="Shape 418"/>
        <p:cNvGrpSpPr/>
        <p:nvPr/>
      </p:nvGrpSpPr>
      <p:grpSpPr>
        <a:xfrm>
          <a:off x="0" y="0"/>
          <a:ext cx="0" cy="0"/>
          <a:chOff x="0" y="0"/>
          <a:chExt cx="0" cy="0"/>
        </a:xfrm>
      </p:grpSpPr>
      <p:sp>
        <p:nvSpPr>
          <p:cNvPr id="419" name="Google Shape;419;p14"/>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PREPARACIÓN DE DATOS</a:t>
            </a:r>
            <a:endParaRPr sz="1000">
              <a:solidFill>
                <a:schemeClr val="dk1"/>
              </a:solidFill>
              <a:latin typeface="Calibri"/>
              <a:ea typeface="Calibri"/>
              <a:cs typeface="Calibri"/>
              <a:sym typeface="Calibri"/>
            </a:endParaRPr>
          </a:p>
        </p:txBody>
      </p:sp>
      <p:sp>
        <p:nvSpPr>
          <p:cNvPr id="420" name="Google Shape;420;p14"/>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Dos variables derivadas nuevas; el resto se descartó</a:t>
            </a:r>
            <a:endParaRPr sz="2600">
              <a:solidFill>
                <a:schemeClr val="dk1"/>
              </a:solidFill>
              <a:latin typeface="Calibri"/>
              <a:ea typeface="Calibri"/>
              <a:cs typeface="Calibri"/>
              <a:sym typeface="Calibri"/>
            </a:endParaRPr>
          </a:p>
        </p:txBody>
      </p:sp>
      <p:sp>
        <p:nvSpPr>
          <p:cNvPr id="421" name="Google Shape;421;p14"/>
          <p:cNvSpPr txBox="1"/>
          <p:nvPr/>
        </p:nvSpPr>
        <p:spPr>
          <a:xfrm>
            <a:off x="640080" y="1984248"/>
            <a:ext cx="5029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500"/>
              <a:buFont typeface="Calibri"/>
              <a:buNone/>
            </a:pPr>
            <a:r>
              <a:rPr b="1" lang="en-US" sz="1500">
                <a:solidFill>
                  <a:srgbClr val="0E6B39"/>
                </a:solidFill>
                <a:latin typeface="Calibri"/>
                <a:ea typeface="Calibri"/>
                <a:cs typeface="Calibri"/>
                <a:sym typeface="Calibri"/>
              </a:rPr>
              <a:t>distancia_duracion_optima</a:t>
            </a:r>
            <a:endParaRPr sz="1500">
              <a:solidFill>
                <a:schemeClr val="dk1"/>
              </a:solidFill>
              <a:latin typeface="Calibri"/>
              <a:ea typeface="Calibri"/>
              <a:cs typeface="Calibri"/>
              <a:sym typeface="Calibri"/>
            </a:endParaRPr>
          </a:p>
        </p:txBody>
      </p:sp>
      <p:sp>
        <p:nvSpPr>
          <p:cNvPr id="422" name="Google Shape;422;p14"/>
          <p:cNvSpPr txBox="1"/>
          <p:nvPr/>
        </p:nvSpPr>
        <p:spPr>
          <a:xfrm>
            <a:off x="640080" y="2286000"/>
            <a:ext cx="5029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50"/>
              <a:buFont typeface="Calibri"/>
              <a:buNone/>
            </a:pPr>
            <a:r>
              <a:rPr i="1" lang="en-US" sz="1150">
                <a:solidFill>
                  <a:srgbClr val="767676"/>
                </a:solidFill>
                <a:latin typeface="Calibri"/>
                <a:ea typeface="Calibri"/>
                <a:cs typeface="Calibri"/>
                <a:sym typeface="Calibri"/>
              </a:rPr>
              <a:t>popularidad según duración (min)</a:t>
            </a:r>
            <a:endParaRPr sz="1150">
              <a:solidFill>
                <a:schemeClr val="dk1"/>
              </a:solidFill>
              <a:latin typeface="Calibri"/>
              <a:ea typeface="Calibri"/>
              <a:cs typeface="Calibri"/>
              <a:sym typeface="Calibri"/>
            </a:endParaRPr>
          </a:p>
        </p:txBody>
      </p:sp>
      <p:sp>
        <p:nvSpPr>
          <p:cNvPr id="423" name="Google Shape;423;p14"/>
          <p:cNvSpPr/>
          <p:nvPr/>
        </p:nvSpPr>
        <p:spPr>
          <a:xfrm>
            <a:off x="1188720" y="4480560"/>
            <a:ext cx="4297680" cy="10973"/>
          </a:xfrm>
          <a:prstGeom prst="rect">
            <a:avLst/>
          </a:prstGeom>
          <a:solidFill>
            <a:srgbClr val="D6DAD8"/>
          </a:solidFill>
          <a:ln cap="flat" cmpd="sng" w="12700">
            <a:solidFill>
              <a:srgbClr val="D6DA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cxnSp>
        <p:nvCxnSpPr>
          <p:cNvPr id="424" name="Google Shape;424;p14"/>
          <p:cNvCxnSpPr/>
          <p:nvPr/>
        </p:nvCxnSpPr>
        <p:spPr>
          <a:xfrm flipH="1" rot="10800000">
            <a:off x="1188720" y="3524596"/>
            <a:ext cx="537210" cy="631767"/>
          </a:xfrm>
          <a:prstGeom prst="straightConnector1">
            <a:avLst/>
          </a:prstGeom>
          <a:noFill/>
          <a:ln cap="flat" cmpd="sng" w="25400">
            <a:solidFill>
              <a:srgbClr val="AFAFAF"/>
            </a:solidFill>
            <a:prstDash val="solid"/>
            <a:round/>
            <a:headEnd len="sm" w="sm" type="none"/>
            <a:tailEnd len="sm" w="sm" type="none"/>
          </a:ln>
        </p:spPr>
      </p:cxnSp>
      <p:cxnSp>
        <p:nvCxnSpPr>
          <p:cNvPr id="425" name="Google Shape;425;p14"/>
          <p:cNvCxnSpPr/>
          <p:nvPr/>
        </p:nvCxnSpPr>
        <p:spPr>
          <a:xfrm flipH="1" rot="10800000">
            <a:off x="1725930" y="3305140"/>
            <a:ext cx="537210" cy="219456"/>
          </a:xfrm>
          <a:prstGeom prst="straightConnector1">
            <a:avLst/>
          </a:prstGeom>
          <a:noFill/>
          <a:ln cap="flat" cmpd="sng" w="25400">
            <a:solidFill>
              <a:srgbClr val="AFAFAF"/>
            </a:solidFill>
            <a:prstDash val="solid"/>
            <a:round/>
            <a:headEnd len="sm" w="sm" type="none"/>
            <a:tailEnd len="sm" w="sm" type="none"/>
          </a:ln>
        </p:spPr>
      </p:cxnSp>
      <p:cxnSp>
        <p:nvCxnSpPr>
          <p:cNvPr id="426" name="Google Shape;426;p14"/>
          <p:cNvCxnSpPr/>
          <p:nvPr/>
        </p:nvCxnSpPr>
        <p:spPr>
          <a:xfrm flipH="1" rot="10800000">
            <a:off x="2263140" y="3084022"/>
            <a:ext cx="537210" cy="221119"/>
          </a:xfrm>
          <a:prstGeom prst="straightConnector1">
            <a:avLst/>
          </a:prstGeom>
          <a:noFill/>
          <a:ln cap="flat" cmpd="sng" w="25400">
            <a:solidFill>
              <a:srgbClr val="AFAFAF"/>
            </a:solidFill>
            <a:prstDash val="solid"/>
            <a:round/>
            <a:headEnd len="sm" w="sm" type="none"/>
            <a:tailEnd len="sm" w="sm" type="none"/>
          </a:ln>
        </p:spPr>
      </p:cxnSp>
      <p:cxnSp>
        <p:nvCxnSpPr>
          <p:cNvPr id="427" name="Google Shape;427;p14"/>
          <p:cNvCxnSpPr/>
          <p:nvPr/>
        </p:nvCxnSpPr>
        <p:spPr>
          <a:xfrm flipH="1" rot="10800000">
            <a:off x="2800350" y="2894492"/>
            <a:ext cx="537210" cy="189530"/>
          </a:xfrm>
          <a:prstGeom prst="straightConnector1">
            <a:avLst/>
          </a:prstGeom>
          <a:noFill/>
          <a:ln cap="flat" cmpd="sng" w="25400">
            <a:solidFill>
              <a:srgbClr val="AFAFAF"/>
            </a:solidFill>
            <a:prstDash val="solid"/>
            <a:round/>
            <a:headEnd len="sm" w="sm" type="none"/>
            <a:tailEnd len="sm" w="sm" type="none"/>
          </a:ln>
        </p:spPr>
      </p:cxnSp>
      <p:cxnSp>
        <p:nvCxnSpPr>
          <p:cNvPr id="428" name="Google Shape;428;p14"/>
          <p:cNvCxnSpPr/>
          <p:nvPr/>
        </p:nvCxnSpPr>
        <p:spPr>
          <a:xfrm>
            <a:off x="3337560" y="2894492"/>
            <a:ext cx="537210" cy="101415"/>
          </a:xfrm>
          <a:prstGeom prst="straightConnector1">
            <a:avLst/>
          </a:prstGeom>
          <a:noFill/>
          <a:ln cap="flat" cmpd="sng" w="25400">
            <a:solidFill>
              <a:srgbClr val="AFAFAF"/>
            </a:solidFill>
            <a:prstDash val="solid"/>
            <a:round/>
            <a:headEnd len="sm" w="sm" type="none"/>
            <a:tailEnd len="sm" w="sm" type="none"/>
          </a:ln>
        </p:spPr>
      </p:cxnSp>
      <p:cxnSp>
        <p:nvCxnSpPr>
          <p:cNvPr id="429" name="Google Shape;429;p14"/>
          <p:cNvCxnSpPr/>
          <p:nvPr/>
        </p:nvCxnSpPr>
        <p:spPr>
          <a:xfrm>
            <a:off x="3874770" y="2995907"/>
            <a:ext cx="537210" cy="69827"/>
          </a:xfrm>
          <a:prstGeom prst="straightConnector1">
            <a:avLst/>
          </a:prstGeom>
          <a:noFill/>
          <a:ln cap="flat" cmpd="sng" w="25400">
            <a:solidFill>
              <a:srgbClr val="AFAFAF"/>
            </a:solidFill>
            <a:prstDash val="solid"/>
            <a:round/>
            <a:headEnd len="sm" w="sm" type="none"/>
            <a:tailEnd len="sm" w="sm" type="none"/>
          </a:ln>
        </p:spPr>
      </p:cxnSp>
      <p:cxnSp>
        <p:nvCxnSpPr>
          <p:cNvPr id="430" name="Google Shape;430;p14"/>
          <p:cNvCxnSpPr/>
          <p:nvPr/>
        </p:nvCxnSpPr>
        <p:spPr>
          <a:xfrm>
            <a:off x="4411980" y="3065734"/>
            <a:ext cx="537210" cy="375735"/>
          </a:xfrm>
          <a:prstGeom prst="straightConnector1">
            <a:avLst/>
          </a:prstGeom>
          <a:noFill/>
          <a:ln cap="flat" cmpd="sng" w="25400">
            <a:solidFill>
              <a:srgbClr val="AFAFAF"/>
            </a:solidFill>
            <a:prstDash val="solid"/>
            <a:round/>
            <a:headEnd len="sm" w="sm" type="none"/>
            <a:tailEnd len="sm" w="sm" type="none"/>
          </a:ln>
        </p:spPr>
      </p:cxnSp>
      <p:cxnSp>
        <p:nvCxnSpPr>
          <p:cNvPr id="431" name="Google Shape;431;p14"/>
          <p:cNvCxnSpPr/>
          <p:nvPr/>
        </p:nvCxnSpPr>
        <p:spPr>
          <a:xfrm>
            <a:off x="4949190" y="3441469"/>
            <a:ext cx="537210" cy="754796"/>
          </a:xfrm>
          <a:prstGeom prst="straightConnector1">
            <a:avLst/>
          </a:prstGeom>
          <a:noFill/>
          <a:ln cap="flat" cmpd="sng" w="25400">
            <a:solidFill>
              <a:srgbClr val="AFAFAF"/>
            </a:solidFill>
            <a:prstDash val="solid"/>
            <a:round/>
            <a:headEnd len="sm" w="sm" type="none"/>
            <a:tailEnd len="sm" w="sm" type="none"/>
          </a:ln>
        </p:spPr>
      </p:cxnSp>
      <p:sp>
        <p:nvSpPr>
          <p:cNvPr id="432" name="Google Shape;432;p14"/>
          <p:cNvSpPr/>
          <p:nvPr/>
        </p:nvSpPr>
        <p:spPr>
          <a:xfrm>
            <a:off x="1143000" y="4110644"/>
            <a:ext cx="91440" cy="91440"/>
          </a:xfrm>
          <a:prstGeom prst="ellipse">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3" name="Google Shape;433;p14"/>
          <p:cNvSpPr txBox="1"/>
          <p:nvPr/>
        </p:nvSpPr>
        <p:spPr>
          <a:xfrm>
            <a:off x="896112" y="4572000"/>
            <a:ext cx="58521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950"/>
              <a:buFont typeface="Calibri"/>
              <a:buNone/>
            </a:pPr>
            <a:r>
              <a:rPr lang="en-US" sz="950">
                <a:solidFill>
                  <a:srgbClr val="767676"/>
                </a:solidFill>
                <a:latin typeface="Calibri"/>
                <a:ea typeface="Calibri"/>
                <a:cs typeface="Calibri"/>
                <a:sym typeface="Calibri"/>
              </a:rPr>
              <a:t>&lt;2</a:t>
            </a:r>
            <a:endParaRPr sz="950">
              <a:solidFill>
                <a:schemeClr val="dk1"/>
              </a:solidFill>
              <a:latin typeface="Calibri"/>
              <a:ea typeface="Calibri"/>
              <a:cs typeface="Calibri"/>
              <a:sym typeface="Calibri"/>
            </a:endParaRPr>
          </a:p>
        </p:txBody>
      </p:sp>
      <p:sp>
        <p:nvSpPr>
          <p:cNvPr id="434" name="Google Shape;434;p14"/>
          <p:cNvSpPr/>
          <p:nvPr/>
        </p:nvSpPr>
        <p:spPr>
          <a:xfrm>
            <a:off x="1680210" y="3478876"/>
            <a:ext cx="91440" cy="91440"/>
          </a:xfrm>
          <a:prstGeom prst="ellipse">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5" name="Google Shape;435;p14"/>
          <p:cNvSpPr/>
          <p:nvPr/>
        </p:nvSpPr>
        <p:spPr>
          <a:xfrm>
            <a:off x="2217420" y="3259420"/>
            <a:ext cx="91440" cy="91440"/>
          </a:xfrm>
          <a:prstGeom prst="ellipse">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6" name="Google Shape;436;p14"/>
          <p:cNvSpPr txBox="1"/>
          <p:nvPr/>
        </p:nvSpPr>
        <p:spPr>
          <a:xfrm>
            <a:off x="1970532" y="4572000"/>
            <a:ext cx="58521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950"/>
              <a:buFont typeface="Calibri"/>
              <a:buNone/>
            </a:pPr>
            <a:r>
              <a:rPr lang="en-US" sz="950">
                <a:solidFill>
                  <a:srgbClr val="767676"/>
                </a:solidFill>
                <a:latin typeface="Calibri"/>
                <a:ea typeface="Calibri"/>
                <a:cs typeface="Calibri"/>
                <a:sym typeface="Calibri"/>
              </a:rPr>
              <a:t>2,5-3</a:t>
            </a:r>
            <a:endParaRPr sz="950">
              <a:solidFill>
                <a:schemeClr val="dk1"/>
              </a:solidFill>
              <a:latin typeface="Calibri"/>
              <a:ea typeface="Calibri"/>
              <a:cs typeface="Calibri"/>
              <a:sym typeface="Calibri"/>
            </a:endParaRPr>
          </a:p>
        </p:txBody>
      </p:sp>
      <p:sp>
        <p:nvSpPr>
          <p:cNvPr id="437" name="Google Shape;437;p14"/>
          <p:cNvSpPr/>
          <p:nvPr/>
        </p:nvSpPr>
        <p:spPr>
          <a:xfrm>
            <a:off x="2754630" y="3038302"/>
            <a:ext cx="91440" cy="91440"/>
          </a:xfrm>
          <a:prstGeom prst="ellipse">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8" name="Google Shape;438;p14"/>
          <p:cNvSpPr/>
          <p:nvPr/>
        </p:nvSpPr>
        <p:spPr>
          <a:xfrm>
            <a:off x="3255264" y="2812196"/>
            <a:ext cx="164592" cy="164592"/>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39" name="Google Shape;439;p14"/>
          <p:cNvSpPr txBox="1"/>
          <p:nvPr/>
        </p:nvSpPr>
        <p:spPr>
          <a:xfrm>
            <a:off x="3044952" y="4572000"/>
            <a:ext cx="58521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950"/>
              <a:buFont typeface="Calibri"/>
              <a:buNone/>
            </a:pPr>
            <a:r>
              <a:rPr lang="en-US" sz="950">
                <a:solidFill>
                  <a:srgbClr val="767676"/>
                </a:solidFill>
                <a:latin typeface="Calibri"/>
                <a:ea typeface="Calibri"/>
                <a:cs typeface="Calibri"/>
                <a:sym typeface="Calibri"/>
              </a:rPr>
              <a:t>3,5-4</a:t>
            </a:r>
            <a:endParaRPr sz="950">
              <a:solidFill>
                <a:schemeClr val="dk1"/>
              </a:solidFill>
              <a:latin typeface="Calibri"/>
              <a:ea typeface="Calibri"/>
              <a:cs typeface="Calibri"/>
              <a:sym typeface="Calibri"/>
            </a:endParaRPr>
          </a:p>
        </p:txBody>
      </p:sp>
      <p:sp>
        <p:nvSpPr>
          <p:cNvPr id="440" name="Google Shape;440;p14"/>
          <p:cNvSpPr/>
          <p:nvPr/>
        </p:nvSpPr>
        <p:spPr>
          <a:xfrm>
            <a:off x="3829050" y="2950187"/>
            <a:ext cx="91440" cy="91440"/>
          </a:xfrm>
          <a:prstGeom prst="ellipse">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1" name="Google Shape;441;p14"/>
          <p:cNvSpPr/>
          <p:nvPr/>
        </p:nvSpPr>
        <p:spPr>
          <a:xfrm>
            <a:off x="4366260" y="3020014"/>
            <a:ext cx="91440" cy="91440"/>
          </a:xfrm>
          <a:prstGeom prst="ellipse">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2" name="Google Shape;442;p14"/>
          <p:cNvSpPr txBox="1"/>
          <p:nvPr/>
        </p:nvSpPr>
        <p:spPr>
          <a:xfrm>
            <a:off x="4119372" y="4572000"/>
            <a:ext cx="58521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950"/>
              <a:buFont typeface="Calibri"/>
              <a:buNone/>
            </a:pPr>
            <a:r>
              <a:rPr lang="en-US" sz="950">
                <a:solidFill>
                  <a:srgbClr val="767676"/>
                </a:solidFill>
                <a:latin typeface="Calibri"/>
                <a:ea typeface="Calibri"/>
                <a:cs typeface="Calibri"/>
                <a:sym typeface="Calibri"/>
              </a:rPr>
              <a:t>4,5-5</a:t>
            </a:r>
            <a:endParaRPr sz="950">
              <a:solidFill>
                <a:schemeClr val="dk1"/>
              </a:solidFill>
              <a:latin typeface="Calibri"/>
              <a:ea typeface="Calibri"/>
              <a:cs typeface="Calibri"/>
              <a:sym typeface="Calibri"/>
            </a:endParaRPr>
          </a:p>
        </p:txBody>
      </p:sp>
      <p:sp>
        <p:nvSpPr>
          <p:cNvPr id="443" name="Google Shape;443;p14"/>
          <p:cNvSpPr/>
          <p:nvPr/>
        </p:nvSpPr>
        <p:spPr>
          <a:xfrm>
            <a:off x="4903470" y="3395749"/>
            <a:ext cx="91440" cy="91440"/>
          </a:xfrm>
          <a:prstGeom prst="ellipse">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4" name="Google Shape;444;p14"/>
          <p:cNvSpPr/>
          <p:nvPr/>
        </p:nvSpPr>
        <p:spPr>
          <a:xfrm>
            <a:off x="5440680" y="4150545"/>
            <a:ext cx="91440" cy="91440"/>
          </a:xfrm>
          <a:prstGeom prst="ellipse">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45" name="Google Shape;445;p14"/>
          <p:cNvSpPr txBox="1"/>
          <p:nvPr/>
        </p:nvSpPr>
        <p:spPr>
          <a:xfrm>
            <a:off x="5193792" y="4572000"/>
            <a:ext cx="585216" cy="237744"/>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767676"/>
              </a:buClr>
              <a:buSzPts val="950"/>
              <a:buFont typeface="Calibri"/>
              <a:buNone/>
            </a:pPr>
            <a:r>
              <a:rPr lang="en-US" sz="950">
                <a:solidFill>
                  <a:srgbClr val="767676"/>
                </a:solidFill>
                <a:latin typeface="Calibri"/>
                <a:ea typeface="Calibri"/>
                <a:cs typeface="Calibri"/>
                <a:sym typeface="Calibri"/>
              </a:rPr>
              <a:t>&gt;6</a:t>
            </a:r>
            <a:endParaRPr sz="950">
              <a:solidFill>
                <a:schemeClr val="dk1"/>
              </a:solidFill>
              <a:latin typeface="Calibri"/>
              <a:ea typeface="Calibri"/>
              <a:cs typeface="Calibri"/>
              <a:sym typeface="Calibri"/>
            </a:endParaRPr>
          </a:p>
        </p:txBody>
      </p:sp>
      <p:sp>
        <p:nvSpPr>
          <p:cNvPr id="446" name="Google Shape;446;p14"/>
          <p:cNvSpPr txBox="1"/>
          <p:nvPr/>
        </p:nvSpPr>
        <p:spPr>
          <a:xfrm>
            <a:off x="2834640" y="2510444"/>
            <a:ext cx="1005840" cy="25603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E6B39"/>
              </a:buClr>
              <a:buSzPts val="1200"/>
              <a:buFont typeface="Calibri"/>
              <a:buNone/>
            </a:pPr>
            <a:r>
              <a:rPr b="1" lang="en-US" sz="1200">
                <a:solidFill>
                  <a:srgbClr val="0E6B39"/>
                </a:solidFill>
                <a:latin typeface="Calibri"/>
                <a:ea typeface="Calibri"/>
                <a:cs typeface="Calibri"/>
                <a:sym typeface="Calibri"/>
              </a:rPr>
              <a:t>3,5-4 min</a:t>
            </a:r>
            <a:endParaRPr sz="1200">
              <a:solidFill>
                <a:schemeClr val="dk1"/>
              </a:solidFill>
              <a:latin typeface="Calibri"/>
              <a:ea typeface="Calibri"/>
              <a:cs typeface="Calibri"/>
              <a:sym typeface="Calibri"/>
            </a:endParaRPr>
          </a:p>
        </p:txBody>
      </p:sp>
      <p:sp>
        <p:nvSpPr>
          <p:cNvPr id="447" name="Google Shape;447;p14"/>
          <p:cNvSpPr txBox="1"/>
          <p:nvPr/>
        </p:nvSpPr>
        <p:spPr>
          <a:xfrm>
            <a:off x="640080" y="4800600"/>
            <a:ext cx="5029200"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r:  −0,02  →  −0,09</a:t>
            </a:r>
            <a:endParaRPr sz="1400">
              <a:solidFill>
                <a:schemeClr val="dk1"/>
              </a:solidFill>
              <a:latin typeface="Calibri"/>
              <a:ea typeface="Calibri"/>
              <a:cs typeface="Calibri"/>
              <a:sym typeface="Calibri"/>
            </a:endParaRPr>
          </a:p>
        </p:txBody>
      </p:sp>
      <p:sp>
        <p:nvSpPr>
          <p:cNvPr id="448" name="Google Shape;448;p14"/>
          <p:cNvSpPr txBox="1"/>
          <p:nvPr/>
        </p:nvSpPr>
        <p:spPr>
          <a:xfrm>
            <a:off x="6583680" y="1984248"/>
            <a:ext cx="5029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500"/>
              <a:buFont typeface="Calibri"/>
              <a:buNone/>
            </a:pPr>
            <a:r>
              <a:rPr b="1" lang="en-US" sz="1500">
                <a:solidFill>
                  <a:srgbClr val="0E6B39"/>
                </a:solidFill>
                <a:latin typeface="Calibri"/>
                <a:ea typeface="Calibri"/>
                <a:cs typeface="Calibri"/>
                <a:sym typeface="Calibri"/>
              </a:rPr>
              <a:t>es_calmado_positivo</a:t>
            </a:r>
            <a:endParaRPr sz="1500">
              <a:solidFill>
                <a:schemeClr val="dk1"/>
              </a:solidFill>
              <a:latin typeface="Calibri"/>
              <a:ea typeface="Calibri"/>
              <a:cs typeface="Calibri"/>
              <a:sym typeface="Calibri"/>
            </a:endParaRPr>
          </a:p>
        </p:txBody>
      </p:sp>
      <p:sp>
        <p:nvSpPr>
          <p:cNvPr id="449" name="Google Shape;449;p14"/>
          <p:cNvSpPr txBox="1"/>
          <p:nvPr/>
        </p:nvSpPr>
        <p:spPr>
          <a:xfrm>
            <a:off x="6583680" y="2286000"/>
            <a:ext cx="5029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50"/>
              <a:buFont typeface="Calibri"/>
              <a:buNone/>
            </a:pPr>
            <a:r>
              <a:rPr i="1" lang="en-US" sz="1150">
                <a:solidFill>
                  <a:srgbClr val="767676"/>
                </a:solidFill>
                <a:latin typeface="Calibri"/>
                <a:ea typeface="Calibri"/>
                <a:cs typeface="Calibri"/>
                <a:sym typeface="Calibri"/>
              </a:rPr>
              <a:t>cuadrantes de ánimo: modelo lineal</a:t>
            </a:r>
            <a:endParaRPr sz="1150">
              <a:solidFill>
                <a:schemeClr val="dk1"/>
              </a:solidFill>
              <a:latin typeface="Calibri"/>
              <a:ea typeface="Calibri"/>
              <a:cs typeface="Calibri"/>
              <a:sym typeface="Calibri"/>
            </a:endParaRPr>
          </a:p>
        </p:txBody>
      </p:sp>
      <p:sp>
        <p:nvSpPr>
          <p:cNvPr id="450" name="Google Shape;450;p14"/>
          <p:cNvSpPr/>
          <p:nvPr/>
        </p:nvSpPr>
        <p:spPr>
          <a:xfrm>
            <a:off x="6583680" y="2898921"/>
            <a:ext cx="3390900" cy="183990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1" name="Google Shape;451;p14"/>
          <p:cNvSpPr txBox="1"/>
          <p:nvPr/>
        </p:nvSpPr>
        <p:spPr>
          <a:xfrm>
            <a:off x="6799661" y="3103416"/>
            <a:ext cx="2439600" cy="630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800"/>
              <a:buFont typeface="Calibri"/>
              <a:buNone/>
            </a:pPr>
            <a:r>
              <a:rPr b="1" lang="en-US" sz="1800">
                <a:solidFill>
                  <a:srgbClr val="FFFFFF"/>
                </a:solidFill>
                <a:latin typeface="Calibri"/>
                <a:ea typeface="Calibri"/>
                <a:cs typeface="Calibri"/>
                <a:sym typeface="Calibri"/>
              </a:rPr>
              <a:t>Calmado positivo</a:t>
            </a:r>
            <a:endParaRPr sz="1800">
              <a:solidFill>
                <a:schemeClr val="dk1"/>
              </a:solidFill>
              <a:latin typeface="Calibri"/>
              <a:ea typeface="Calibri"/>
              <a:cs typeface="Calibri"/>
              <a:sym typeface="Calibri"/>
            </a:endParaRPr>
          </a:p>
        </p:txBody>
      </p:sp>
      <p:sp>
        <p:nvSpPr>
          <p:cNvPr id="452" name="Google Shape;452;p14"/>
          <p:cNvSpPr txBox="1"/>
          <p:nvPr/>
        </p:nvSpPr>
        <p:spPr>
          <a:xfrm>
            <a:off x="6799661" y="3827039"/>
            <a:ext cx="1883700" cy="41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3600"/>
              <a:buFont typeface="Cambria"/>
              <a:buNone/>
            </a:pPr>
            <a:r>
              <a:rPr b="1" lang="en-US" sz="3600">
                <a:solidFill>
                  <a:srgbClr val="FFFFFF"/>
                </a:solidFill>
                <a:latin typeface="Cambria"/>
                <a:ea typeface="Cambria"/>
                <a:cs typeface="Cambria"/>
                <a:sym typeface="Cambria"/>
              </a:rPr>
              <a:t>−2,84</a:t>
            </a:r>
            <a:endParaRPr sz="3600">
              <a:solidFill>
                <a:schemeClr val="dk1"/>
              </a:solidFill>
              <a:latin typeface="Calibri"/>
              <a:ea typeface="Calibri"/>
              <a:cs typeface="Calibri"/>
              <a:sym typeface="Calibri"/>
            </a:endParaRPr>
          </a:p>
        </p:txBody>
      </p:sp>
      <p:sp>
        <p:nvSpPr>
          <p:cNvPr id="453" name="Google Shape;453;p14"/>
          <p:cNvSpPr txBox="1"/>
          <p:nvPr/>
        </p:nvSpPr>
        <p:spPr>
          <a:xfrm>
            <a:off x="6583680" y="2553050"/>
            <a:ext cx="50292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50"/>
              <a:buFont typeface="Calibri"/>
              <a:buNone/>
            </a:pPr>
            <a:r>
              <a:rPr i="1" lang="en-US" sz="1150">
                <a:solidFill>
                  <a:srgbClr val="767676"/>
                </a:solidFill>
                <a:latin typeface="Calibri"/>
                <a:ea typeface="Calibri"/>
                <a:cs typeface="Calibri"/>
                <a:sym typeface="Calibri"/>
              </a:rPr>
              <a:t>valence x energy</a:t>
            </a:r>
            <a:endParaRPr sz="1150">
              <a:solidFill>
                <a:schemeClr val="dk1"/>
              </a:solidFill>
              <a:latin typeface="Calibri"/>
              <a:ea typeface="Calibri"/>
              <a:cs typeface="Calibri"/>
              <a:sym typeface="Calibri"/>
            </a:endParaRPr>
          </a:p>
        </p:txBody>
      </p:sp>
      <p:sp>
        <p:nvSpPr>
          <p:cNvPr id="454" name="Google Shape;454;p14"/>
          <p:cNvSpPr/>
          <p:nvPr/>
        </p:nvSpPr>
        <p:spPr>
          <a:xfrm rot="5400000">
            <a:off x="62981" y="3517893"/>
            <a:ext cx="1952700" cy="23400"/>
          </a:xfrm>
          <a:prstGeom prst="rect">
            <a:avLst/>
          </a:prstGeom>
          <a:solidFill>
            <a:srgbClr val="D6DAD8"/>
          </a:solidFill>
          <a:ln cap="flat" cmpd="sng" w="12700">
            <a:solidFill>
              <a:srgbClr val="D6DAD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55" name="Google Shape;455;p14"/>
          <p:cNvSpPr txBox="1"/>
          <p:nvPr/>
        </p:nvSpPr>
        <p:spPr>
          <a:xfrm>
            <a:off x="145149" y="4373388"/>
            <a:ext cx="1089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50"/>
              <a:buFont typeface="Calibri"/>
              <a:buNone/>
            </a:pPr>
            <a:r>
              <a:rPr i="1" lang="en-US" sz="1150">
                <a:solidFill>
                  <a:srgbClr val="767676"/>
                </a:solidFill>
                <a:latin typeface="Calibri"/>
                <a:ea typeface="Calibri"/>
                <a:cs typeface="Calibri"/>
                <a:sym typeface="Calibri"/>
              </a:rPr>
              <a:t>popularidad</a:t>
            </a:r>
            <a:endParaRPr sz="1150">
              <a:solidFill>
                <a:schemeClr val="dk1"/>
              </a:solidFill>
              <a:latin typeface="Calibri"/>
              <a:ea typeface="Calibri"/>
              <a:cs typeface="Calibri"/>
              <a:sym typeface="Calibri"/>
            </a:endParaRPr>
          </a:p>
        </p:txBody>
      </p:sp>
      <p:sp>
        <p:nvSpPr>
          <p:cNvPr id="456" name="Google Shape;456;p14"/>
          <p:cNvSpPr txBox="1"/>
          <p:nvPr/>
        </p:nvSpPr>
        <p:spPr>
          <a:xfrm>
            <a:off x="4941749" y="4890225"/>
            <a:ext cx="1089300" cy="2559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50"/>
              <a:buFont typeface="Calibri"/>
              <a:buNone/>
            </a:pPr>
            <a:r>
              <a:rPr i="1" lang="en-US" sz="1150">
                <a:solidFill>
                  <a:srgbClr val="767676"/>
                </a:solidFill>
                <a:latin typeface="Calibri"/>
                <a:ea typeface="Calibri"/>
                <a:cs typeface="Calibri"/>
                <a:sym typeface="Calibri"/>
              </a:rPr>
              <a:t>duración (min)</a:t>
            </a:r>
            <a:endParaRPr sz="115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1" name="Shape 461"/>
        <p:cNvGrpSpPr/>
        <p:nvPr/>
      </p:nvGrpSpPr>
      <p:grpSpPr>
        <a:xfrm>
          <a:off x="0" y="0"/>
          <a:ext cx="0" cy="0"/>
          <a:chOff x="0" y="0"/>
          <a:chExt cx="0" cy="0"/>
        </a:xfrm>
      </p:grpSpPr>
      <p:sp>
        <p:nvSpPr>
          <p:cNvPr id="462" name="Google Shape;462;p15"/>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PREPARACIÓN DE DATOS</a:t>
            </a:r>
            <a:endParaRPr sz="1000">
              <a:solidFill>
                <a:schemeClr val="dk1"/>
              </a:solidFill>
              <a:latin typeface="Calibri"/>
              <a:ea typeface="Calibri"/>
              <a:cs typeface="Calibri"/>
              <a:sym typeface="Calibri"/>
            </a:endParaRPr>
          </a:p>
        </p:txBody>
      </p:sp>
      <p:sp>
        <p:nvSpPr>
          <p:cNvPr id="463" name="Google Shape;463;p15"/>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Un pipeline reproducible, ajustado solo con entrenamiento</a:t>
            </a:r>
            <a:endParaRPr sz="2600">
              <a:solidFill>
                <a:schemeClr val="dk1"/>
              </a:solidFill>
              <a:latin typeface="Calibri"/>
              <a:ea typeface="Calibri"/>
              <a:cs typeface="Calibri"/>
              <a:sym typeface="Calibri"/>
            </a:endParaRPr>
          </a:p>
        </p:txBody>
      </p:sp>
      <p:sp>
        <p:nvSpPr>
          <p:cNvPr id="464" name="Google Shape;464;p15"/>
          <p:cNvSpPr txBox="1"/>
          <p:nvPr/>
        </p:nvSpPr>
        <p:spPr>
          <a:xfrm>
            <a:off x="640080" y="1965960"/>
            <a:ext cx="32004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11 NUMÉRICAS</a:t>
            </a:r>
            <a:endParaRPr sz="1050">
              <a:solidFill>
                <a:schemeClr val="dk1"/>
              </a:solidFill>
              <a:latin typeface="Calibri"/>
              <a:ea typeface="Calibri"/>
              <a:cs typeface="Calibri"/>
              <a:sym typeface="Calibri"/>
            </a:endParaRPr>
          </a:p>
        </p:txBody>
      </p:sp>
      <p:sp>
        <p:nvSpPr>
          <p:cNvPr id="465" name="Google Shape;465;p15"/>
          <p:cNvSpPr/>
          <p:nvPr/>
        </p:nvSpPr>
        <p:spPr>
          <a:xfrm>
            <a:off x="640080" y="2313432"/>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6" name="Google Shape;466;p15"/>
          <p:cNvSpPr txBox="1"/>
          <p:nvPr/>
        </p:nvSpPr>
        <p:spPr>
          <a:xfrm>
            <a:off x="868680" y="2432304"/>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Winsorizer</a:t>
            </a:r>
            <a:endParaRPr sz="1400">
              <a:solidFill>
                <a:schemeClr val="dk1"/>
              </a:solidFill>
              <a:latin typeface="Calibri"/>
              <a:ea typeface="Calibri"/>
              <a:cs typeface="Calibri"/>
              <a:sym typeface="Calibri"/>
            </a:endParaRPr>
          </a:p>
        </p:txBody>
      </p:sp>
      <p:sp>
        <p:nvSpPr>
          <p:cNvPr id="467" name="Google Shape;467;p15"/>
          <p:cNvSpPr/>
          <p:nvPr/>
        </p:nvSpPr>
        <p:spPr>
          <a:xfrm>
            <a:off x="2226564" y="2798064"/>
            <a:ext cx="27432" cy="118872"/>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8" name="Google Shape;468;p15"/>
          <p:cNvSpPr/>
          <p:nvPr/>
        </p:nvSpPr>
        <p:spPr>
          <a:xfrm>
            <a:off x="640080" y="2916936"/>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69" name="Google Shape;469;p15"/>
          <p:cNvSpPr txBox="1"/>
          <p:nvPr/>
        </p:nvSpPr>
        <p:spPr>
          <a:xfrm>
            <a:off x="868680" y="3035808"/>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SimpleImputer</a:t>
            </a:r>
            <a:endParaRPr sz="1400">
              <a:solidFill>
                <a:schemeClr val="dk1"/>
              </a:solidFill>
              <a:latin typeface="Calibri"/>
              <a:ea typeface="Calibri"/>
              <a:cs typeface="Calibri"/>
              <a:sym typeface="Calibri"/>
            </a:endParaRPr>
          </a:p>
        </p:txBody>
      </p:sp>
      <p:sp>
        <p:nvSpPr>
          <p:cNvPr id="470" name="Google Shape;470;p15"/>
          <p:cNvSpPr/>
          <p:nvPr/>
        </p:nvSpPr>
        <p:spPr>
          <a:xfrm>
            <a:off x="2226564" y="3401568"/>
            <a:ext cx="27432" cy="118872"/>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1" name="Google Shape;471;p15"/>
          <p:cNvSpPr/>
          <p:nvPr/>
        </p:nvSpPr>
        <p:spPr>
          <a:xfrm>
            <a:off x="640080" y="3520440"/>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2" name="Google Shape;472;p15"/>
          <p:cNvSpPr txBox="1"/>
          <p:nvPr/>
        </p:nvSpPr>
        <p:spPr>
          <a:xfrm>
            <a:off x="868680" y="3639312"/>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StandardScaler</a:t>
            </a:r>
            <a:endParaRPr sz="1400">
              <a:solidFill>
                <a:schemeClr val="dk1"/>
              </a:solidFill>
              <a:latin typeface="Calibri"/>
              <a:ea typeface="Calibri"/>
              <a:cs typeface="Calibri"/>
              <a:sym typeface="Calibri"/>
            </a:endParaRPr>
          </a:p>
        </p:txBody>
      </p:sp>
      <p:sp>
        <p:nvSpPr>
          <p:cNvPr id="473" name="Google Shape;473;p15"/>
          <p:cNvSpPr txBox="1"/>
          <p:nvPr/>
        </p:nvSpPr>
        <p:spPr>
          <a:xfrm>
            <a:off x="4133088" y="1965960"/>
            <a:ext cx="32004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5 CATEGÓRICAS</a:t>
            </a:r>
            <a:endParaRPr sz="1050">
              <a:solidFill>
                <a:schemeClr val="dk1"/>
              </a:solidFill>
              <a:latin typeface="Calibri"/>
              <a:ea typeface="Calibri"/>
              <a:cs typeface="Calibri"/>
              <a:sym typeface="Calibri"/>
            </a:endParaRPr>
          </a:p>
        </p:txBody>
      </p:sp>
      <p:sp>
        <p:nvSpPr>
          <p:cNvPr id="474" name="Google Shape;474;p15"/>
          <p:cNvSpPr/>
          <p:nvPr/>
        </p:nvSpPr>
        <p:spPr>
          <a:xfrm>
            <a:off x="4133088" y="2313432"/>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5" name="Google Shape;475;p15"/>
          <p:cNvSpPr txBox="1"/>
          <p:nvPr/>
        </p:nvSpPr>
        <p:spPr>
          <a:xfrm>
            <a:off x="4361688" y="2432304"/>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SimpleImputer</a:t>
            </a:r>
            <a:endParaRPr sz="1400">
              <a:solidFill>
                <a:schemeClr val="dk1"/>
              </a:solidFill>
              <a:latin typeface="Calibri"/>
              <a:ea typeface="Calibri"/>
              <a:cs typeface="Calibri"/>
              <a:sym typeface="Calibri"/>
            </a:endParaRPr>
          </a:p>
        </p:txBody>
      </p:sp>
      <p:sp>
        <p:nvSpPr>
          <p:cNvPr id="476" name="Google Shape;476;p15"/>
          <p:cNvSpPr/>
          <p:nvPr/>
        </p:nvSpPr>
        <p:spPr>
          <a:xfrm>
            <a:off x="5719572" y="2798064"/>
            <a:ext cx="27432" cy="118872"/>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7" name="Google Shape;477;p15"/>
          <p:cNvSpPr/>
          <p:nvPr/>
        </p:nvSpPr>
        <p:spPr>
          <a:xfrm>
            <a:off x="4133088" y="2916936"/>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78" name="Google Shape;478;p15"/>
          <p:cNvSpPr txBox="1"/>
          <p:nvPr/>
        </p:nvSpPr>
        <p:spPr>
          <a:xfrm>
            <a:off x="4361688" y="3035808"/>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OneHotEncoder</a:t>
            </a:r>
            <a:endParaRPr sz="1400">
              <a:solidFill>
                <a:schemeClr val="dk1"/>
              </a:solidFill>
              <a:latin typeface="Calibri"/>
              <a:ea typeface="Calibri"/>
              <a:cs typeface="Calibri"/>
              <a:sym typeface="Calibri"/>
            </a:endParaRPr>
          </a:p>
        </p:txBody>
      </p:sp>
      <p:sp>
        <p:nvSpPr>
          <p:cNvPr id="479" name="Google Shape;479;p15"/>
          <p:cNvSpPr txBox="1"/>
          <p:nvPr/>
        </p:nvSpPr>
        <p:spPr>
          <a:xfrm>
            <a:off x="7626096" y="1965960"/>
            <a:ext cx="32004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1 GÉNERO</a:t>
            </a:r>
            <a:endParaRPr sz="1050">
              <a:solidFill>
                <a:schemeClr val="dk1"/>
              </a:solidFill>
              <a:latin typeface="Calibri"/>
              <a:ea typeface="Calibri"/>
              <a:cs typeface="Calibri"/>
              <a:sym typeface="Calibri"/>
            </a:endParaRPr>
          </a:p>
        </p:txBody>
      </p:sp>
      <p:sp>
        <p:nvSpPr>
          <p:cNvPr id="480" name="Google Shape;480;p15"/>
          <p:cNvSpPr/>
          <p:nvPr/>
        </p:nvSpPr>
        <p:spPr>
          <a:xfrm>
            <a:off x="7626096" y="2313432"/>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1" name="Google Shape;481;p15"/>
          <p:cNvSpPr txBox="1"/>
          <p:nvPr/>
        </p:nvSpPr>
        <p:spPr>
          <a:xfrm>
            <a:off x="7854696" y="2432304"/>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GenreMeanEncoder</a:t>
            </a:r>
            <a:endParaRPr sz="1400">
              <a:solidFill>
                <a:schemeClr val="dk1"/>
              </a:solidFill>
              <a:latin typeface="Calibri"/>
              <a:ea typeface="Calibri"/>
              <a:cs typeface="Calibri"/>
              <a:sym typeface="Calibri"/>
            </a:endParaRPr>
          </a:p>
        </p:txBody>
      </p:sp>
      <p:sp>
        <p:nvSpPr>
          <p:cNvPr id="482" name="Google Shape;482;p15"/>
          <p:cNvSpPr/>
          <p:nvPr/>
        </p:nvSpPr>
        <p:spPr>
          <a:xfrm>
            <a:off x="9212580" y="2798064"/>
            <a:ext cx="27432" cy="118872"/>
          </a:xfrm>
          <a:prstGeom prst="rect">
            <a:avLst/>
          </a:prstGeom>
          <a:solidFill>
            <a:srgbClr val="AFAFAF"/>
          </a:solidFill>
          <a:ln cap="flat" cmpd="sng" w="12700">
            <a:solidFill>
              <a:srgbClr val="AFAFAF"/>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3" name="Google Shape;483;p15"/>
          <p:cNvSpPr/>
          <p:nvPr/>
        </p:nvSpPr>
        <p:spPr>
          <a:xfrm>
            <a:off x="7626096" y="2916936"/>
            <a:ext cx="3200400" cy="475488"/>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4" name="Google Shape;484;p15"/>
          <p:cNvSpPr txBox="1"/>
          <p:nvPr/>
        </p:nvSpPr>
        <p:spPr>
          <a:xfrm>
            <a:off x="7854696" y="3035808"/>
            <a:ext cx="2743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b="1" lang="en-US" sz="1400">
                <a:solidFill>
                  <a:srgbClr val="1C1C1C"/>
                </a:solidFill>
                <a:latin typeface="Calibri"/>
                <a:ea typeface="Calibri"/>
                <a:cs typeface="Calibri"/>
                <a:sym typeface="Calibri"/>
              </a:rPr>
              <a:t>StandardScaler</a:t>
            </a:r>
            <a:endParaRPr sz="1400">
              <a:solidFill>
                <a:schemeClr val="dk1"/>
              </a:solidFill>
              <a:latin typeface="Calibri"/>
              <a:ea typeface="Calibri"/>
              <a:cs typeface="Calibri"/>
              <a:sym typeface="Calibri"/>
            </a:endParaRPr>
          </a:p>
        </p:txBody>
      </p:sp>
      <p:sp>
        <p:nvSpPr>
          <p:cNvPr id="485" name="Google Shape;485;p15"/>
          <p:cNvSpPr/>
          <p:nvPr/>
        </p:nvSpPr>
        <p:spPr>
          <a:xfrm>
            <a:off x="640080" y="4297680"/>
            <a:ext cx="10908792" cy="54864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486" name="Google Shape;486;p15"/>
          <p:cNvSpPr txBox="1"/>
          <p:nvPr/>
        </p:nvSpPr>
        <p:spPr>
          <a:xfrm>
            <a:off x="960120" y="4425696"/>
            <a:ext cx="10268712"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Calibri"/>
              <a:buNone/>
            </a:pPr>
            <a:r>
              <a:rPr b="1" lang="en-US" sz="1500">
                <a:solidFill>
                  <a:srgbClr val="FFFFFF"/>
                </a:solidFill>
                <a:latin typeface="Calibri"/>
                <a:ea typeface="Calibri"/>
                <a:cs typeface="Calibri"/>
                <a:sym typeface="Calibri"/>
              </a:rPr>
              <a:t>ColumnTransformer   →   CorrelationFilter 0,9</a:t>
            </a:r>
            <a:endParaRPr sz="1500">
              <a:solidFill>
                <a:schemeClr val="dk1"/>
              </a:solidFill>
              <a:latin typeface="Calibri"/>
              <a:ea typeface="Calibri"/>
              <a:cs typeface="Calibri"/>
              <a:sym typeface="Calibri"/>
            </a:endParaRPr>
          </a:p>
        </p:txBody>
      </p:sp>
      <p:sp>
        <p:nvSpPr>
          <p:cNvPr id="487" name="Google Shape;487;p15"/>
          <p:cNvSpPr txBox="1"/>
          <p:nvPr/>
        </p:nvSpPr>
        <p:spPr>
          <a:xfrm>
            <a:off x="640080" y="5120640"/>
            <a:ext cx="3392424"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700"/>
              <a:buFont typeface="Cambria"/>
              <a:buNone/>
            </a:pPr>
            <a:r>
              <a:rPr b="1" lang="en-US" sz="2700">
                <a:solidFill>
                  <a:srgbClr val="0E6B39"/>
                </a:solidFill>
                <a:latin typeface="Cambria"/>
                <a:ea typeface="Cambria"/>
                <a:cs typeface="Cambria"/>
                <a:sym typeface="Cambria"/>
              </a:rPr>
              <a:t>66.782 / 16.696</a:t>
            </a:r>
            <a:endParaRPr sz="2700">
              <a:solidFill>
                <a:schemeClr val="dk1"/>
              </a:solidFill>
              <a:latin typeface="Calibri"/>
              <a:ea typeface="Calibri"/>
              <a:cs typeface="Calibri"/>
              <a:sym typeface="Calibri"/>
            </a:endParaRPr>
          </a:p>
        </p:txBody>
      </p:sp>
      <p:sp>
        <p:nvSpPr>
          <p:cNvPr id="488" name="Google Shape;488;p15"/>
          <p:cNvSpPr txBox="1"/>
          <p:nvPr/>
        </p:nvSpPr>
        <p:spPr>
          <a:xfrm>
            <a:off x="640080" y="5623560"/>
            <a:ext cx="3392424"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50"/>
              <a:buFont typeface="Calibri"/>
              <a:buNone/>
            </a:pPr>
            <a:r>
              <a:rPr lang="en-US" sz="1350">
                <a:solidFill>
                  <a:srgbClr val="767676"/>
                </a:solidFill>
                <a:latin typeface="Calibri"/>
                <a:ea typeface="Calibri"/>
                <a:cs typeface="Calibri"/>
                <a:sym typeface="Calibri"/>
              </a:rPr>
              <a:t>train / test</a:t>
            </a:r>
            <a:endParaRPr sz="1350">
              <a:solidFill>
                <a:schemeClr val="dk1"/>
              </a:solidFill>
              <a:latin typeface="Calibri"/>
              <a:ea typeface="Calibri"/>
              <a:cs typeface="Calibri"/>
              <a:sym typeface="Calibri"/>
            </a:endParaRPr>
          </a:p>
        </p:txBody>
      </p:sp>
      <p:sp>
        <p:nvSpPr>
          <p:cNvPr id="489" name="Google Shape;489;p15"/>
          <p:cNvSpPr txBox="1"/>
          <p:nvPr/>
        </p:nvSpPr>
        <p:spPr>
          <a:xfrm>
            <a:off x="4398264" y="5120640"/>
            <a:ext cx="3392424"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700"/>
              <a:buFont typeface="Cambria"/>
              <a:buNone/>
            </a:pPr>
            <a:r>
              <a:rPr b="1" lang="en-US" sz="2700">
                <a:solidFill>
                  <a:srgbClr val="0E6B39"/>
                </a:solidFill>
                <a:latin typeface="Cambria"/>
                <a:ea typeface="Cambria"/>
                <a:cs typeface="Cambria"/>
                <a:sym typeface="Cambria"/>
              </a:rPr>
              <a:t>29</a:t>
            </a:r>
            <a:endParaRPr sz="2700">
              <a:solidFill>
                <a:schemeClr val="dk1"/>
              </a:solidFill>
              <a:latin typeface="Calibri"/>
              <a:ea typeface="Calibri"/>
              <a:cs typeface="Calibri"/>
              <a:sym typeface="Calibri"/>
            </a:endParaRPr>
          </a:p>
        </p:txBody>
      </p:sp>
      <p:sp>
        <p:nvSpPr>
          <p:cNvPr id="490" name="Google Shape;490;p15"/>
          <p:cNvSpPr txBox="1"/>
          <p:nvPr/>
        </p:nvSpPr>
        <p:spPr>
          <a:xfrm>
            <a:off x="4398264" y="5623560"/>
            <a:ext cx="3392424"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50"/>
              <a:buFont typeface="Calibri"/>
              <a:buNone/>
            </a:pPr>
            <a:r>
              <a:rPr lang="en-US" sz="1350">
                <a:solidFill>
                  <a:srgbClr val="767676"/>
                </a:solidFill>
                <a:latin typeface="Calibri"/>
                <a:ea typeface="Calibri"/>
                <a:cs typeface="Calibri"/>
                <a:sym typeface="Calibri"/>
              </a:rPr>
              <a:t>columnas</a:t>
            </a:r>
            <a:endParaRPr sz="1350">
              <a:solidFill>
                <a:schemeClr val="dk1"/>
              </a:solidFill>
              <a:latin typeface="Calibri"/>
              <a:ea typeface="Calibri"/>
              <a:cs typeface="Calibri"/>
              <a:sym typeface="Calibri"/>
            </a:endParaRPr>
          </a:p>
        </p:txBody>
      </p:sp>
      <p:sp>
        <p:nvSpPr>
          <p:cNvPr id="491" name="Google Shape;491;p15"/>
          <p:cNvSpPr txBox="1"/>
          <p:nvPr/>
        </p:nvSpPr>
        <p:spPr>
          <a:xfrm>
            <a:off x="8156448" y="5120640"/>
            <a:ext cx="3392424" cy="5029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2700"/>
              <a:buFont typeface="Cambria"/>
              <a:buNone/>
            </a:pPr>
            <a:r>
              <a:rPr b="1" lang="en-US" sz="2700">
                <a:solidFill>
                  <a:srgbClr val="0E6B39"/>
                </a:solidFill>
                <a:latin typeface="Cambria"/>
                <a:ea typeface="Cambria"/>
                <a:cs typeface="Cambria"/>
                <a:sym typeface="Cambria"/>
              </a:rPr>
              <a:t>0</a:t>
            </a:r>
            <a:endParaRPr sz="2700">
              <a:solidFill>
                <a:schemeClr val="dk1"/>
              </a:solidFill>
              <a:latin typeface="Calibri"/>
              <a:ea typeface="Calibri"/>
              <a:cs typeface="Calibri"/>
              <a:sym typeface="Calibri"/>
            </a:endParaRPr>
          </a:p>
        </p:txBody>
      </p:sp>
      <p:sp>
        <p:nvSpPr>
          <p:cNvPr id="492" name="Google Shape;492;p15"/>
          <p:cNvSpPr txBox="1"/>
          <p:nvPr/>
        </p:nvSpPr>
        <p:spPr>
          <a:xfrm>
            <a:off x="8156448" y="5623560"/>
            <a:ext cx="3392424" cy="3200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350"/>
              <a:buFont typeface="Calibri"/>
              <a:buNone/>
            </a:pPr>
            <a:r>
              <a:rPr lang="en-US" sz="1350">
                <a:solidFill>
                  <a:srgbClr val="767676"/>
                </a:solidFill>
                <a:latin typeface="Calibri"/>
                <a:ea typeface="Calibri"/>
                <a:cs typeface="Calibri"/>
                <a:sym typeface="Calibri"/>
              </a:rPr>
              <a:t>nulos</a:t>
            </a:r>
            <a:endParaRPr sz="135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7" name="Shape 497"/>
        <p:cNvGrpSpPr/>
        <p:nvPr/>
      </p:nvGrpSpPr>
      <p:grpSpPr>
        <a:xfrm>
          <a:off x="0" y="0"/>
          <a:ext cx="0" cy="0"/>
          <a:chOff x="0" y="0"/>
          <a:chExt cx="0" cy="0"/>
        </a:xfrm>
      </p:grpSpPr>
      <p:sp>
        <p:nvSpPr>
          <p:cNvPr id="498" name="Google Shape;498;p16"/>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SESGOS, ÉTICA Y PRIVACIDAD</a:t>
            </a:r>
            <a:endParaRPr sz="1000">
              <a:solidFill>
                <a:schemeClr val="dk1"/>
              </a:solidFill>
              <a:latin typeface="Calibri"/>
              <a:ea typeface="Calibri"/>
              <a:cs typeface="Calibri"/>
              <a:sym typeface="Calibri"/>
            </a:endParaRPr>
          </a:p>
        </p:txBody>
      </p:sp>
      <p:sp>
        <p:nvSpPr>
          <p:cNvPr id="499" name="Google Shape;499;p16"/>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La variable más predictiva se descartó a propósito</a:t>
            </a:r>
            <a:endParaRPr sz="2600">
              <a:solidFill>
                <a:schemeClr val="dk1"/>
              </a:solidFill>
              <a:latin typeface="Calibri"/>
              <a:ea typeface="Calibri"/>
              <a:cs typeface="Calibri"/>
              <a:sym typeface="Calibri"/>
            </a:endParaRPr>
          </a:p>
        </p:txBody>
      </p:sp>
      <p:sp>
        <p:nvSpPr>
          <p:cNvPr id="500" name="Google Shape;500;p16"/>
          <p:cNvSpPr/>
          <p:nvPr/>
        </p:nvSpPr>
        <p:spPr>
          <a:xfrm>
            <a:off x="640080" y="1965960"/>
            <a:ext cx="5760720" cy="356616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1" name="Google Shape;501;p16"/>
          <p:cNvSpPr txBox="1"/>
          <p:nvPr/>
        </p:nvSpPr>
        <p:spPr>
          <a:xfrm>
            <a:off x="1005840" y="2258568"/>
            <a:ext cx="50292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1050"/>
              <a:buFont typeface="Calibri"/>
              <a:buNone/>
            </a:pPr>
            <a:r>
              <a:rPr b="1" lang="en-US" sz="1050">
                <a:solidFill>
                  <a:srgbClr val="18A558"/>
                </a:solidFill>
                <a:latin typeface="Calibri"/>
                <a:ea typeface="Calibri"/>
                <a:cs typeface="Calibri"/>
                <a:sym typeface="Calibri"/>
              </a:rPr>
              <a:t>CORRELACIÓN CON POPULARITY</a:t>
            </a:r>
            <a:endParaRPr sz="1050">
              <a:solidFill>
                <a:schemeClr val="dk1"/>
              </a:solidFill>
              <a:latin typeface="Calibri"/>
              <a:ea typeface="Calibri"/>
              <a:cs typeface="Calibri"/>
              <a:sym typeface="Calibri"/>
            </a:endParaRPr>
          </a:p>
        </p:txBody>
      </p:sp>
      <p:sp>
        <p:nvSpPr>
          <p:cNvPr id="502" name="Google Shape;502;p16"/>
          <p:cNvSpPr/>
          <p:nvPr/>
        </p:nvSpPr>
        <p:spPr>
          <a:xfrm>
            <a:off x="2926080" y="2752344"/>
            <a:ext cx="2106778" cy="292608"/>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3" name="Google Shape;503;p16"/>
          <p:cNvSpPr txBox="1"/>
          <p:nvPr/>
        </p:nvSpPr>
        <p:spPr>
          <a:xfrm>
            <a:off x="1005840" y="2697480"/>
            <a:ext cx="178308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Calibri"/>
              <a:buNone/>
            </a:pPr>
            <a:r>
              <a:rPr lang="en-US" sz="1300">
                <a:solidFill>
                  <a:srgbClr val="FFFFFF"/>
                </a:solidFill>
                <a:latin typeface="Calibri"/>
                <a:ea typeface="Calibri"/>
                <a:cs typeface="Calibri"/>
                <a:sym typeface="Calibri"/>
              </a:rPr>
              <a:t>album_name</a:t>
            </a:r>
            <a:endParaRPr sz="1300">
              <a:solidFill>
                <a:schemeClr val="dk1"/>
              </a:solidFill>
              <a:latin typeface="Calibri"/>
              <a:ea typeface="Calibri"/>
              <a:cs typeface="Calibri"/>
              <a:sym typeface="Calibri"/>
            </a:endParaRPr>
          </a:p>
        </p:txBody>
      </p:sp>
      <p:sp>
        <p:nvSpPr>
          <p:cNvPr id="504" name="Google Shape;504;p16"/>
          <p:cNvSpPr txBox="1"/>
          <p:nvPr/>
        </p:nvSpPr>
        <p:spPr>
          <a:xfrm>
            <a:off x="5124298" y="2697480"/>
            <a:ext cx="8229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300"/>
              <a:buFont typeface="Calibri"/>
              <a:buNone/>
            </a:pPr>
            <a:r>
              <a:rPr b="1" lang="en-US" sz="1300">
                <a:solidFill>
                  <a:srgbClr val="C0392B"/>
                </a:solidFill>
                <a:latin typeface="Calibri"/>
                <a:ea typeface="Calibri"/>
                <a:cs typeface="Calibri"/>
                <a:sym typeface="Calibri"/>
              </a:rPr>
              <a:t>0,72</a:t>
            </a:r>
            <a:endParaRPr sz="1300">
              <a:solidFill>
                <a:schemeClr val="dk1"/>
              </a:solidFill>
              <a:latin typeface="Calibri"/>
              <a:ea typeface="Calibri"/>
              <a:cs typeface="Calibri"/>
              <a:sym typeface="Calibri"/>
            </a:endParaRPr>
          </a:p>
        </p:txBody>
      </p:sp>
      <p:sp>
        <p:nvSpPr>
          <p:cNvPr id="505" name="Google Shape;505;p16"/>
          <p:cNvSpPr/>
          <p:nvPr/>
        </p:nvSpPr>
        <p:spPr>
          <a:xfrm>
            <a:off x="2926080" y="3319272"/>
            <a:ext cx="2077517" cy="292608"/>
          </a:xfrm>
          <a:prstGeom prst="rect">
            <a:avLst/>
          </a:prstGeom>
          <a:solidFill>
            <a:srgbClr val="C0392B"/>
          </a:solidFill>
          <a:ln cap="flat" cmpd="sng" w="12700">
            <a:solidFill>
              <a:srgbClr val="C0392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6" name="Google Shape;506;p16"/>
          <p:cNvSpPr txBox="1"/>
          <p:nvPr/>
        </p:nvSpPr>
        <p:spPr>
          <a:xfrm>
            <a:off x="1005840" y="3264408"/>
            <a:ext cx="178308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300"/>
              <a:buFont typeface="Calibri"/>
              <a:buNone/>
            </a:pPr>
            <a:r>
              <a:rPr lang="en-US" sz="1300">
                <a:solidFill>
                  <a:srgbClr val="FFFFFF"/>
                </a:solidFill>
                <a:latin typeface="Calibri"/>
                <a:ea typeface="Calibri"/>
                <a:cs typeface="Calibri"/>
                <a:sym typeface="Calibri"/>
              </a:rPr>
              <a:t>artists</a:t>
            </a:r>
            <a:endParaRPr sz="1300">
              <a:solidFill>
                <a:schemeClr val="dk1"/>
              </a:solidFill>
              <a:latin typeface="Calibri"/>
              <a:ea typeface="Calibri"/>
              <a:cs typeface="Calibri"/>
              <a:sym typeface="Calibri"/>
            </a:endParaRPr>
          </a:p>
        </p:txBody>
      </p:sp>
      <p:sp>
        <p:nvSpPr>
          <p:cNvPr id="507" name="Google Shape;507;p16"/>
          <p:cNvSpPr txBox="1"/>
          <p:nvPr/>
        </p:nvSpPr>
        <p:spPr>
          <a:xfrm>
            <a:off x="5095037" y="3264408"/>
            <a:ext cx="8229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C0392B"/>
              </a:buClr>
              <a:buSzPts val="1300"/>
              <a:buFont typeface="Calibri"/>
              <a:buNone/>
            </a:pPr>
            <a:r>
              <a:rPr b="1" lang="en-US" sz="1300">
                <a:solidFill>
                  <a:srgbClr val="C0392B"/>
                </a:solidFill>
                <a:latin typeface="Calibri"/>
                <a:ea typeface="Calibri"/>
                <a:cs typeface="Calibri"/>
                <a:sym typeface="Calibri"/>
              </a:rPr>
              <a:t>0,71</a:t>
            </a:r>
            <a:endParaRPr sz="1300">
              <a:solidFill>
                <a:schemeClr val="dk1"/>
              </a:solidFill>
              <a:latin typeface="Calibri"/>
              <a:ea typeface="Calibri"/>
              <a:cs typeface="Calibri"/>
              <a:sym typeface="Calibri"/>
            </a:endParaRPr>
          </a:p>
        </p:txBody>
      </p:sp>
      <p:sp>
        <p:nvSpPr>
          <p:cNvPr id="508" name="Google Shape;508;p16"/>
          <p:cNvSpPr/>
          <p:nvPr/>
        </p:nvSpPr>
        <p:spPr>
          <a:xfrm>
            <a:off x="2926080" y="3886200"/>
            <a:ext cx="1814170" cy="292608"/>
          </a:xfrm>
          <a:prstGeom prst="rect">
            <a:avLst/>
          </a:prstGeom>
          <a:solidFill>
            <a:srgbClr val="2C4A3B"/>
          </a:solidFill>
          <a:ln cap="flat" cmpd="sng" w="12700">
            <a:solidFill>
              <a:srgbClr val="2C4A3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09" name="Google Shape;509;p16"/>
          <p:cNvSpPr txBox="1"/>
          <p:nvPr/>
        </p:nvSpPr>
        <p:spPr>
          <a:xfrm>
            <a:off x="1005840" y="3831336"/>
            <a:ext cx="178308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FA69A"/>
              </a:buClr>
              <a:buSzPts val="1300"/>
              <a:buFont typeface="Calibri"/>
              <a:buNone/>
            </a:pPr>
            <a:r>
              <a:rPr lang="en-US" sz="1300">
                <a:solidFill>
                  <a:srgbClr val="8FA69A"/>
                </a:solidFill>
                <a:latin typeface="Calibri"/>
                <a:ea typeface="Calibri"/>
                <a:cs typeface="Calibri"/>
                <a:sym typeface="Calibri"/>
              </a:rPr>
              <a:t>track_genre</a:t>
            </a:r>
            <a:endParaRPr sz="1300">
              <a:solidFill>
                <a:schemeClr val="dk1"/>
              </a:solidFill>
              <a:latin typeface="Calibri"/>
              <a:ea typeface="Calibri"/>
              <a:cs typeface="Calibri"/>
              <a:sym typeface="Calibri"/>
            </a:endParaRPr>
          </a:p>
        </p:txBody>
      </p:sp>
      <p:sp>
        <p:nvSpPr>
          <p:cNvPr id="510" name="Google Shape;510;p16"/>
          <p:cNvSpPr txBox="1"/>
          <p:nvPr/>
        </p:nvSpPr>
        <p:spPr>
          <a:xfrm>
            <a:off x="4831690" y="3831336"/>
            <a:ext cx="8229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A69A"/>
              </a:buClr>
              <a:buSzPts val="1300"/>
              <a:buFont typeface="Calibri"/>
              <a:buNone/>
            </a:pPr>
            <a:r>
              <a:rPr b="1" lang="en-US" sz="1300">
                <a:solidFill>
                  <a:srgbClr val="8FA69A"/>
                </a:solidFill>
                <a:latin typeface="Calibri"/>
                <a:ea typeface="Calibri"/>
                <a:cs typeface="Calibri"/>
                <a:sym typeface="Calibri"/>
              </a:rPr>
              <a:t>0,62</a:t>
            </a:r>
            <a:endParaRPr sz="1300">
              <a:solidFill>
                <a:schemeClr val="dk1"/>
              </a:solidFill>
              <a:latin typeface="Calibri"/>
              <a:ea typeface="Calibri"/>
              <a:cs typeface="Calibri"/>
              <a:sym typeface="Calibri"/>
            </a:endParaRPr>
          </a:p>
        </p:txBody>
      </p:sp>
      <p:sp>
        <p:nvSpPr>
          <p:cNvPr id="511" name="Google Shape;511;p16"/>
          <p:cNvSpPr/>
          <p:nvPr/>
        </p:nvSpPr>
        <p:spPr>
          <a:xfrm>
            <a:off x="2926080" y="4453128"/>
            <a:ext cx="380390" cy="292608"/>
          </a:xfrm>
          <a:prstGeom prst="rect">
            <a:avLst/>
          </a:prstGeom>
          <a:solidFill>
            <a:srgbClr val="2C4A3B"/>
          </a:solidFill>
          <a:ln cap="flat" cmpd="sng" w="12700">
            <a:solidFill>
              <a:srgbClr val="2C4A3B"/>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2" name="Google Shape;512;p16"/>
          <p:cNvSpPr txBox="1"/>
          <p:nvPr/>
        </p:nvSpPr>
        <p:spPr>
          <a:xfrm>
            <a:off x="1005840" y="4398264"/>
            <a:ext cx="1783080" cy="402336"/>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8FA69A"/>
              </a:buClr>
              <a:buSzPts val="1300"/>
              <a:buFont typeface="Calibri"/>
              <a:buNone/>
            </a:pPr>
            <a:r>
              <a:rPr lang="en-US" sz="1300">
                <a:solidFill>
                  <a:srgbClr val="8FA69A"/>
                </a:solidFill>
                <a:latin typeface="Calibri"/>
                <a:ea typeface="Calibri"/>
                <a:cs typeface="Calibri"/>
                <a:sym typeface="Calibri"/>
              </a:rPr>
              <a:t>mejor de audio</a:t>
            </a:r>
            <a:endParaRPr sz="1300">
              <a:solidFill>
                <a:schemeClr val="dk1"/>
              </a:solidFill>
              <a:latin typeface="Calibri"/>
              <a:ea typeface="Calibri"/>
              <a:cs typeface="Calibri"/>
              <a:sym typeface="Calibri"/>
            </a:endParaRPr>
          </a:p>
        </p:txBody>
      </p:sp>
      <p:sp>
        <p:nvSpPr>
          <p:cNvPr id="513" name="Google Shape;513;p16"/>
          <p:cNvSpPr txBox="1"/>
          <p:nvPr/>
        </p:nvSpPr>
        <p:spPr>
          <a:xfrm>
            <a:off x="3397910" y="4398264"/>
            <a:ext cx="822960" cy="40233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8FA69A"/>
              </a:buClr>
              <a:buSzPts val="1300"/>
              <a:buFont typeface="Calibri"/>
              <a:buNone/>
            </a:pPr>
            <a:r>
              <a:rPr b="1" lang="en-US" sz="1300">
                <a:solidFill>
                  <a:srgbClr val="8FA69A"/>
                </a:solidFill>
                <a:latin typeface="Calibri"/>
                <a:ea typeface="Calibri"/>
                <a:cs typeface="Calibri"/>
                <a:sym typeface="Calibri"/>
              </a:rPr>
              <a:t>0,13</a:t>
            </a:r>
            <a:endParaRPr sz="1300">
              <a:solidFill>
                <a:schemeClr val="dk1"/>
              </a:solidFill>
              <a:latin typeface="Calibri"/>
              <a:ea typeface="Calibri"/>
              <a:cs typeface="Calibri"/>
              <a:sym typeface="Calibri"/>
            </a:endParaRPr>
          </a:p>
        </p:txBody>
      </p:sp>
      <p:sp>
        <p:nvSpPr>
          <p:cNvPr id="514" name="Google Shape;514;p16"/>
          <p:cNvSpPr txBox="1"/>
          <p:nvPr/>
        </p:nvSpPr>
        <p:spPr>
          <a:xfrm>
            <a:off x="1005840" y="4892040"/>
            <a:ext cx="50292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700"/>
              <a:buFont typeface="Cambria"/>
              <a:buNone/>
            </a:pPr>
            <a:r>
              <a:rPr b="1" lang="en-US" sz="1700">
                <a:solidFill>
                  <a:srgbClr val="FFFFFF"/>
                </a:solidFill>
                <a:latin typeface="Cambria"/>
                <a:ea typeface="Cambria"/>
                <a:cs typeface="Cambria"/>
                <a:sym typeface="Cambria"/>
              </a:rPr>
              <a:t>Excluidas: predicen fama, no la canción.</a:t>
            </a:r>
            <a:endParaRPr sz="1700">
              <a:solidFill>
                <a:schemeClr val="dk1"/>
              </a:solidFill>
              <a:latin typeface="Calibri"/>
              <a:ea typeface="Calibri"/>
              <a:cs typeface="Calibri"/>
              <a:sym typeface="Calibri"/>
            </a:endParaRPr>
          </a:p>
        </p:txBody>
      </p:sp>
      <p:sp>
        <p:nvSpPr>
          <p:cNvPr id="515" name="Google Shape;515;p16"/>
          <p:cNvSpPr/>
          <p:nvPr/>
        </p:nvSpPr>
        <p:spPr>
          <a:xfrm>
            <a:off x="6766560" y="1965960"/>
            <a:ext cx="4782312" cy="109728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6" name="Google Shape;516;p16"/>
          <p:cNvSpPr txBox="1"/>
          <p:nvPr/>
        </p:nvSpPr>
        <p:spPr>
          <a:xfrm>
            <a:off x="7086600" y="219456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PRIVACIDAD</a:t>
            </a:r>
            <a:endParaRPr sz="1050">
              <a:solidFill>
                <a:schemeClr val="dk1"/>
              </a:solidFill>
              <a:latin typeface="Calibri"/>
              <a:ea typeface="Calibri"/>
              <a:cs typeface="Calibri"/>
              <a:sym typeface="Calibri"/>
            </a:endParaRPr>
          </a:p>
        </p:txBody>
      </p:sp>
      <p:sp>
        <p:nvSpPr>
          <p:cNvPr id="517" name="Google Shape;517;p16"/>
          <p:cNvSpPr txBox="1"/>
          <p:nvPr/>
        </p:nvSpPr>
        <p:spPr>
          <a:xfrm>
            <a:off x="7086600" y="2496312"/>
            <a:ext cx="4206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lang="en-US" sz="1500">
                <a:solidFill>
                  <a:srgbClr val="1C1C1C"/>
                </a:solidFill>
                <a:latin typeface="Calibri"/>
                <a:ea typeface="Calibri"/>
                <a:cs typeface="Calibri"/>
                <a:sym typeface="Calibri"/>
              </a:rPr>
              <a:t>Sin datos de oyentes</a:t>
            </a:r>
            <a:endParaRPr sz="1500">
              <a:solidFill>
                <a:schemeClr val="dk1"/>
              </a:solidFill>
              <a:latin typeface="Calibri"/>
              <a:ea typeface="Calibri"/>
              <a:cs typeface="Calibri"/>
              <a:sym typeface="Calibri"/>
            </a:endParaRPr>
          </a:p>
        </p:txBody>
      </p:sp>
      <p:sp>
        <p:nvSpPr>
          <p:cNvPr id="518" name="Google Shape;518;p16"/>
          <p:cNvSpPr/>
          <p:nvPr/>
        </p:nvSpPr>
        <p:spPr>
          <a:xfrm>
            <a:off x="6766560" y="3200400"/>
            <a:ext cx="4782312" cy="109728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19" name="Google Shape;519;p16"/>
          <p:cNvSpPr txBox="1"/>
          <p:nvPr/>
        </p:nvSpPr>
        <p:spPr>
          <a:xfrm>
            <a:off x="7086600" y="342900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SESGO DE DISEÑO</a:t>
            </a:r>
            <a:endParaRPr sz="1050">
              <a:solidFill>
                <a:schemeClr val="dk1"/>
              </a:solidFill>
              <a:latin typeface="Calibri"/>
              <a:ea typeface="Calibri"/>
              <a:cs typeface="Calibri"/>
              <a:sym typeface="Calibri"/>
            </a:endParaRPr>
          </a:p>
        </p:txBody>
      </p:sp>
      <p:sp>
        <p:nvSpPr>
          <p:cNvPr id="520" name="Google Shape;520;p16"/>
          <p:cNvSpPr txBox="1"/>
          <p:nvPr/>
        </p:nvSpPr>
        <p:spPr>
          <a:xfrm>
            <a:off x="7086600" y="3730752"/>
            <a:ext cx="4206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lang="en-US" sz="1500">
                <a:solidFill>
                  <a:srgbClr val="1C1C1C"/>
                </a:solidFill>
                <a:latin typeface="Calibri"/>
                <a:ea typeface="Calibri"/>
                <a:cs typeface="Calibri"/>
                <a:sym typeface="Calibri"/>
              </a:rPr>
              <a:t>El muestreo define los géneros</a:t>
            </a:r>
            <a:endParaRPr sz="1500">
              <a:solidFill>
                <a:schemeClr val="dk1"/>
              </a:solidFill>
              <a:latin typeface="Calibri"/>
              <a:ea typeface="Calibri"/>
              <a:cs typeface="Calibri"/>
              <a:sym typeface="Calibri"/>
            </a:endParaRPr>
          </a:p>
        </p:txBody>
      </p:sp>
      <p:sp>
        <p:nvSpPr>
          <p:cNvPr id="521" name="Google Shape;521;p16"/>
          <p:cNvSpPr/>
          <p:nvPr/>
        </p:nvSpPr>
        <p:spPr>
          <a:xfrm>
            <a:off x="6766560" y="4434840"/>
            <a:ext cx="4782312" cy="109728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22" name="Google Shape;522;p16"/>
          <p:cNvSpPr txBox="1"/>
          <p:nvPr/>
        </p:nvSpPr>
        <p:spPr>
          <a:xfrm>
            <a:off x="7086600" y="4663440"/>
            <a:ext cx="420624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CONTEXTO DE PUBLICACIÓN</a:t>
            </a:r>
            <a:endParaRPr sz="1050">
              <a:solidFill>
                <a:schemeClr val="dk1"/>
              </a:solidFill>
              <a:latin typeface="Calibri"/>
              <a:ea typeface="Calibri"/>
              <a:cs typeface="Calibri"/>
              <a:sym typeface="Calibri"/>
            </a:endParaRPr>
          </a:p>
        </p:txBody>
      </p:sp>
      <p:sp>
        <p:nvSpPr>
          <p:cNvPr id="523" name="Google Shape;523;p16"/>
          <p:cNvSpPr txBox="1"/>
          <p:nvPr/>
        </p:nvSpPr>
        <p:spPr>
          <a:xfrm>
            <a:off x="7086600" y="4965192"/>
            <a:ext cx="42062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lang="en-US" sz="1500">
                <a:solidFill>
                  <a:srgbClr val="1C1C1C"/>
                </a:solidFill>
                <a:latin typeface="Calibri"/>
                <a:ea typeface="Calibri"/>
                <a:cs typeface="Calibri"/>
                <a:sym typeface="Calibri"/>
              </a:rPr>
              <a:t>Techo de precisión inherente</a:t>
            </a:r>
            <a:endParaRPr sz="1500">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6"/>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MODELADO</a:t>
            </a:r>
            <a:endParaRPr sz="1000">
              <a:solidFill>
                <a:schemeClr val="dk1"/>
              </a:solidFill>
              <a:latin typeface="Calibri"/>
              <a:ea typeface="Calibri"/>
              <a:cs typeface="Calibri"/>
              <a:sym typeface="Calibri"/>
            </a:endParaRPr>
          </a:p>
        </p:txBody>
      </p:sp>
      <p:sp>
        <p:nvSpPr>
          <p:cNvPr id="152" name="Google Shape;152;p6"/>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Tres resultados cierran el ciclo de modelado</a:t>
            </a:r>
            <a:endParaRPr sz="2600">
              <a:solidFill>
                <a:schemeClr val="dk1"/>
              </a:solidFill>
              <a:latin typeface="Calibri"/>
              <a:ea typeface="Calibri"/>
              <a:cs typeface="Calibri"/>
              <a:sym typeface="Calibri"/>
            </a:endParaRPr>
          </a:p>
        </p:txBody>
      </p:sp>
      <p:sp>
        <p:nvSpPr>
          <p:cNvPr id="153" name="Google Shape;153;p6"/>
          <p:cNvSpPr txBox="1"/>
          <p:nvPr/>
        </p:nvSpPr>
        <p:spPr>
          <a:xfrm>
            <a:off x="11000232" y="6419088"/>
            <a:ext cx="5486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900"/>
              <a:buFont typeface="Calibri"/>
              <a:buNone/>
            </a:pPr>
            <a:r>
              <a:t/>
            </a:r>
            <a:endParaRPr sz="900">
              <a:solidFill>
                <a:schemeClr val="dk1"/>
              </a:solidFill>
              <a:latin typeface="Calibri"/>
              <a:ea typeface="Calibri"/>
              <a:cs typeface="Calibri"/>
              <a:sym typeface="Calibri"/>
            </a:endParaRPr>
          </a:p>
        </p:txBody>
      </p:sp>
      <p:sp>
        <p:nvSpPr>
          <p:cNvPr id="154" name="Google Shape;154;p6"/>
          <p:cNvSpPr/>
          <p:nvPr/>
        </p:nvSpPr>
        <p:spPr>
          <a:xfrm>
            <a:off x="640080"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5" name="Google Shape;155;p6"/>
          <p:cNvSpPr txBox="1"/>
          <p:nvPr/>
        </p:nvSpPr>
        <p:spPr>
          <a:xfrm>
            <a:off x="1005840"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01</a:t>
            </a:r>
            <a:endParaRPr sz="2600">
              <a:solidFill>
                <a:schemeClr val="dk1"/>
              </a:solidFill>
              <a:latin typeface="Calibri"/>
              <a:ea typeface="Calibri"/>
              <a:cs typeface="Calibri"/>
              <a:sym typeface="Calibri"/>
            </a:endParaRPr>
          </a:p>
        </p:txBody>
      </p:sp>
      <p:sp>
        <p:nvSpPr>
          <p:cNvPr id="156" name="Google Shape;156;p6"/>
          <p:cNvSpPr txBox="1"/>
          <p:nvPr/>
        </p:nvSpPr>
        <p:spPr>
          <a:xfrm>
            <a:off x="1005840"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REGRESIÓN</a:t>
            </a:r>
            <a:endParaRPr sz="1100">
              <a:solidFill>
                <a:schemeClr val="dk1"/>
              </a:solidFill>
              <a:latin typeface="Calibri"/>
              <a:ea typeface="Calibri"/>
              <a:cs typeface="Calibri"/>
              <a:sym typeface="Calibri"/>
            </a:endParaRPr>
          </a:p>
        </p:txBody>
      </p:sp>
      <p:sp>
        <p:nvSpPr>
          <p:cNvPr id="157" name="Google Shape;157;p6"/>
          <p:cNvSpPr txBox="1"/>
          <p:nvPr/>
        </p:nvSpPr>
        <p:spPr>
          <a:xfrm>
            <a:off x="1005840"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R² = 0,44</a:t>
            </a:r>
            <a:endParaRPr sz="2700">
              <a:solidFill>
                <a:schemeClr val="dk1"/>
              </a:solidFill>
              <a:latin typeface="Calibri"/>
              <a:ea typeface="Calibri"/>
              <a:cs typeface="Calibri"/>
              <a:sym typeface="Calibri"/>
            </a:endParaRPr>
          </a:p>
        </p:txBody>
      </p:sp>
      <p:sp>
        <p:nvSpPr>
          <p:cNvPr id="158" name="Google Shape;158;p6"/>
          <p:cNvSpPr txBox="1"/>
          <p:nvPr/>
        </p:nvSpPr>
        <p:spPr>
          <a:xfrm>
            <a:off x="1005840"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Sonido y género explican menos de la mitad de la varianza</a:t>
            </a:r>
            <a:endParaRPr sz="1500">
              <a:solidFill>
                <a:schemeClr val="dk1"/>
              </a:solidFill>
              <a:latin typeface="Calibri"/>
              <a:ea typeface="Calibri"/>
              <a:cs typeface="Calibri"/>
              <a:sym typeface="Calibri"/>
            </a:endParaRPr>
          </a:p>
        </p:txBody>
      </p:sp>
      <p:sp>
        <p:nvSpPr>
          <p:cNvPr id="159" name="Google Shape;159;p6"/>
          <p:cNvSpPr/>
          <p:nvPr/>
        </p:nvSpPr>
        <p:spPr>
          <a:xfrm>
            <a:off x="4352544"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6"/>
          <p:cNvSpPr txBox="1"/>
          <p:nvPr/>
        </p:nvSpPr>
        <p:spPr>
          <a:xfrm>
            <a:off x="4718304"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02</a:t>
            </a:r>
            <a:endParaRPr sz="2600">
              <a:solidFill>
                <a:schemeClr val="dk1"/>
              </a:solidFill>
              <a:latin typeface="Calibri"/>
              <a:ea typeface="Calibri"/>
              <a:cs typeface="Calibri"/>
              <a:sym typeface="Calibri"/>
            </a:endParaRPr>
          </a:p>
        </p:txBody>
      </p:sp>
      <p:sp>
        <p:nvSpPr>
          <p:cNvPr id="161" name="Google Shape;161;p6"/>
          <p:cNvSpPr txBox="1"/>
          <p:nvPr/>
        </p:nvSpPr>
        <p:spPr>
          <a:xfrm>
            <a:off x="4718304"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CLASIFICACIÓN</a:t>
            </a:r>
            <a:endParaRPr sz="1100">
              <a:solidFill>
                <a:schemeClr val="dk1"/>
              </a:solidFill>
              <a:latin typeface="Calibri"/>
              <a:ea typeface="Calibri"/>
              <a:cs typeface="Calibri"/>
              <a:sym typeface="Calibri"/>
            </a:endParaRPr>
          </a:p>
        </p:txBody>
      </p:sp>
      <p:sp>
        <p:nvSpPr>
          <p:cNvPr id="162" name="Google Shape;162;p6"/>
          <p:cNvSpPr txBox="1"/>
          <p:nvPr/>
        </p:nvSpPr>
        <p:spPr>
          <a:xfrm>
            <a:off x="4718304"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Accuracy = 0,81</a:t>
            </a:r>
            <a:endParaRPr sz="2700">
              <a:solidFill>
                <a:schemeClr val="dk1"/>
              </a:solidFill>
              <a:latin typeface="Calibri"/>
              <a:ea typeface="Calibri"/>
              <a:cs typeface="Calibri"/>
              <a:sym typeface="Calibri"/>
            </a:endParaRPr>
          </a:p>
        </p:txBody>
      </p:sp>
      <p:sp>
        <p:nvSpPr>
          <p:cNvPr id="163" name="Google Shape;163;p6"/>
          <p:cNvSpPr txBox="1"/>
          <p:nvPr/>
        </p:nvSpPr>
        <p:spPr>
          <a:xfrm>
            <a:off x="4718304"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Misma señal que la regresión, pregunta más fácil de acertar</a:t>
            </a:r>
            <a:endParaRPr sz="1500">
              <a:solidFill>
                <a:schemeClr val="dk1"/>
              </a:solidFill>
              <a:latin typeface="Calibri"/>
              <a:ea typeface="Calibri"/>
              <a:cs typeface="Calibri"/>
              <a:sym typeface="Calibri"/>
            </a:endParaRPr>
          </a:p>
        </p:txBody>
      </p:sp>
      <p:sp>
        <p:nvSpPr>
          <p:cNvPr id="164" name="Google Shape;164;p6"/>
          <p:cNvSpPr/>
          <p:nvPr/>
        </p:nvSpPr>
        <p:spPr>
          <a:xfrm>
            <a:off x="8065008"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5" name="Google Shape;165;p6"/>
          <p:cNvSpPr txBox="1"/>
          <p:nvPr/>
        </p:nvSpPr>
        <p:spPr>
          <a:xfrm>
            <a:off x="8430768"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03</a:t>
            </a:r>
            <a:endParaRPr sz="2600">
              <a:solidFill>
                <a:schemeClr val="dk1"/>
              </a:solidFill>
              <a:latin typeface="Calibri"/>
              <a:ea typeface="Calibri"/>
              <a:cs typeface="Calibri"/>
              <a:sym typeface="Calibri"/>
            </a:endParaRPr>
          </a:p>
        </p:txBody>
      </p:sp>
      <p:sp>
        <p:nvSpPr>
          <p:cNvPr id="166" name="Google Shape;166;p6"/>
          <p:cNvSpPr txBox="1"/>
          <p:nvPr/>
        </p:nvSpPr>
        <p:spPr>
          <a:xfrm>
            <a:off x="8430768"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CLUSTERING</a:t>
            </a:r>
            <a:endParaRPr sz="1100">
              <a:solidFill>
                <a:schemeClr val="dk1"/>
              </a:solidFill>
              <a:latin typeface="Calibri"/>
              <a:ea typeface="Calibri"/>
              <a:cs typeface="Calibri"/>
              <a:sym typeface="Calibri"/>
            </a:endParaRPr>
          </a:p>
        </p:txBody>
      </p:sp>
      <p:sp>
        <p:nvSpPr>
          <p:cNvPr id="167" name="Google Shape;167;p6"/>
          <p:cNvSpPr txBox="1"/>
          <p:nvPr/>
        </p:nvSpPr>
        <p:spPr>
          <a:xfrm>
            <a:off x="8430768"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4 segmentos · ~5 pts</a:t>
            </a:r>
            <a:endParaRPr sz="2700">
              <a:solidFill>
                <a:schemeClr val="dk1"/>
              </a:solidFill>
              <a:latin typeface="Calibri"/>
              <a:ea typeface="Calibri"/>
              <a:cs typeface="Calibri"/>
              <a:sym typeface="Calibri"/>
            </a:endParaRPr>
          </a:p>
        </p:txBody>
      </p:sp>
      <p:sp>
        <p:nvSpPr>
          <p:cNvPr id="168" name="Google Shape;168;p6"/>
          <p:cNvSpPr txBox="1"/>
          <p:nvPr/>
        </p:nvSpPr>
        <p:spPr>
          <a:xfrm>
            <a:off x="8430768"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Hay estructura de sonido, pero poca relación con el éxito</a:t>
            </a:r>
            <a:endParaRPr sz="1500">
              <a:solidFill>
                <a:schemeClr val="dk1"/>
              </a:solidFill>
              <a:latin typeface="Calibri"/>
              <a:ea typeface="Calibri"/>
              <a:cs typeface="Calibri"/>
              <a:sym typeface="Calibri"/>
            </a:endParaRPr>
          </a:p>
        </p:txBody>
      </p:sp>
      <p:sp>
        <p:nvSpPr>
          <p:cNvPr id="169" name="Google Shape;169;p6"/>
          <p:cNvSpPr txBox="1"/>
          <p:nvPr/>
        </p:nvSpPr>
        <p:spPr>
          <a:xfrm>
            <a:off x="640080" y="5349240"/>
            <a:ext cx="1090879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500"/>
              <a:buFont typeface="Calibri"/>
              <a:buNone/>
            </a:pPr>
            <a:r>
              <a:rPr b="1" lang="en-US" sz="1500">
                <a:solidFill>
                  <a:srgbClr val="0E6B39"/>
                </a:solidFill>
                <a:latin typeface="Calibri"/>
                <a:ea typeface="Calibri"/>
                <a:cs typeface="Calibri"/>
                <a:sym typeface="Calibri"/>
              </a:rPr>
              <a:t>Entregable: 4 modelos supervisados + 1 no supervisado  ·  mismo pipeline, sin cambios</a:t>
            </a:r>
            <a:endParaRPr sz="1500">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7"/>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KPIS DE MODELADO</a:t>
            </a:r>
            <a:endParaRPr sz="1000">
              <a:solidFill>
                <a:schemeClr val="dk1"/>
              </a:solidFill>
              <a:latin typeface="Calibri"/>
              <a:ea typeface="Calibri"/>
              <a:cs typeface="Calibri"/>
              <a:sym typeface="Calibri"/>
            </a:endParaRPr>
          </a:p>
        </p:txBody>
      </p:sp>
      <p:sp>
        <p:nvSpPr>
          <p:cNvPr id="176" name="Google Shape;176;p7"/>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Los tres modelos superan ampliamente su línea base</a:t>
            </a:r>
            <a:endParaRPr sz="2600">
              <a:solidFill>
                <a:schemeClr val="dk1"/>
              </a:solidFill>
              <a:latin typeface="Calibri"/>
              <a:ea typeface="Calibri"/>
              <a:cs typeface="Calibri"/>
              <a:sym typeface="Calibri"/>
            </a:endParaRPr>
          </a:p>
        </p:txBody>
      </p:sp>
      <p:graphicFrame>
        <p:nvGraphicFramePr>
          <p:cNvPr id="177" name="Google Shape;177;p7"/>
          <p:cNvGraphicFramePr/>
          <p:nvPr/>
        </p:nvGraphicFramePr>
        <p:xfrm>
          <a:off x="640080" y="2011680"/>
          <a:ext cx="3000000" cy="3000000"/>
        </p:xfrm>
        <a:graphic>
          <a:graphicData uri="http://schemas.openxmlformats.org/drawingml/2006/table">
            <a:tbl>
              <a:tblPr>
                <a:noFill/>
                <a:tableStyleId>{D5596F70-3E84-48C9-8163-9B32549E12F5}</a:tableStyleId>
              </a:tblPr>
              <a:tblGrid>
                <a:gridCol w="4206250"/>
                <a:gridCol w="2011675"/>
                <a:gridCol w="4690875"/>
              </a:tblGrid>
              <a:tr h="566925">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KPI</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Meta</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b="1" lang="en-US" sz="1400" u="none" cap="none" strike="noStrike">
                          <a:solidFill>
                            <a:srgbClr val="1C1C1C"/>
                          </a:solidFill>
                          <a:latin typeface="Calibri"/>
                          <a:ea typeface="Calibri"/>
                          <a:cs typeface="Calibri"/>
                          <a:sym typeface="Calibri"/>
                        </a:rPr>
                        <a:t>Resultado</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D6DAD8"/>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Regresión: mejor modelo vs. línea base</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Superar R²≈0</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Random Forest: R²=0,438, MAE=9,98</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Clasificación: mejor modelo vs. línea base</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Superar Accuracy≈0,50</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Random Forest: Accuracy=0,813, AUC-ROC=0,894</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r h="566925">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Clustering: segmentos con distinta popularidad</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Diferenciar segmentos</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c>
                  <a:txBody>
                    <a:bodyPr/>
                    <a:lstStyle/>
                    <a:p>
                      <a:pPr indent="0" lvl="0" marL="0" marR="0" rtl="0" algn="l">
                        <a:spcBef>
                          <a:spcPts val="0"/>
                        </a:spcBef>
                        <a:spcAft>
                          <a:spcPts val="0"/>
                        </a:spcAft>
                        <a:buClr>
                          <a:srgbClr val="1C1C1C"/>
                        </a:buClr>
                        <a:buSzPts val="1400"/>
                        <a:buFont typeface="Calibri"/>
                        <a:buNone/>
                      </a:pPr>
                      <a:r>
                        <a:rPr lang="en-US" sz="1400" u="none" cap="none" strike="noStrike">
                          <a:solidFill>
                            <a:srgbClr val="1C1C1C"/>
                          </a:solidFill>
                          <a:latin typeface="Calibri"/>
                          <a:ea typeface="Calibri"/>
                          <a:cs typeface="Calibri"/>
                          <a:sym typeface="Calibri"/>
                        </a:rPr>
                        <a:t>k=4: rango de ~5 puntos entre el más bajo y el más alto</a:t>
                      </a:r>
                      <a:endParaRPr sz="1400" u="none" cap="none" strike="noStrike">
                        <a:latin typeface="Calibri"/>
                        <a:ea typeface="Calibri"/>
                        <a:cs typeface="Calibri"/>
                        <a:sym typeface="Calibri"/>
                      </a:endParaRPr>
                    </a:p>
                  </a:txBody>
                  <a:tcPr marT="109725" marB="109725" marR="109725" marL="109725" anchor="ctr">
                    <a:lnL cap="flat" cmpd="sng" w="9525">
                      <a:solidFill>
                        <a:srgbClr val="000000">
                          <a:alpha val="0"/>
                        </a:srgbClr>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9525">
                      <a:solidFill>
                        <a:srgbClr val="000000">
                          <a:alpha val="0"/>
                        </a:srgbClr>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7"/>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MODELADO</a:t>
            </a:r>
            <a:endParaRPr sz="1000">
              <a:solidFill>
                <a:schemeClr val="dk1"/>
              </a:solidFill>
              <a:latin typeface="Calibri"/>
              <a:ea typeface="Calibri"/>
              <a:cs typeface="Calibri"/>
              <a:sym typeface="Calibri"/>
            </a:endParaRPr>
          </a:p>
        </p:txBody>
      </p:sp>
      <p:sp>
        <p:nvSpPr>
          <p:cNvPr id="176" name="Google Shape;176;p7"/>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Random Forest mejora sobre la línea base y la regresión lineal</a:t>
            </a:r>
            <a:endParaRPr sz="2600">
              <a:solidFill>
                <a:schemeClr val="dk1"/>
              </a:solidFill>
              <a:latin typeface="Calibri"/>
              <a:ea typeface="Calibri"/>
              <a:cs typeface="Calibri"/>
              <a:sym typeface="Calibri"/>
            </a:endParaRPr>
          </a:p>
        </p:txBody>
      </p:sp>
      <p:pic>
        <p:nvPicPr>
          <p:cNvPr id="177" name="Picture 176" descr="comparacion_modelos.png"/>
          <p:cNvPicPr>
            <a:picLocks noChangeAspect="1"/>
          </p:cNvPicPr>
          <p:nvPr/>
        </p:nvPicPr>
        <p:blipFill>
          <a:blip r:embed="rId2"/>
          <a:stretch>
            <a:fillRect/>
          </a:stretch>
        </p:blipFill>
        <p:spPr>
          <a:xfrm>
            <a:off x="640080" y="2198221"/>
            <a:ext cx="10908792" cy="4153556"/>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7"/>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MODELADO</a:t>
            </a:r>
            <a:endParaRPr sz="1000">
              <a:solidFill>
                <a:schemeClr val="dk1"/>
              </a:solidFill>
              <a:latin typeface="Calibri"/>
              <a:ea typeface="Calibri"/>
              <a:cs typeface="Calibri"/>
              <a:sym typeface="Calibri"/>
            </a:endParaRPr>
          </a:p>
        </p:txBody>
      </p:sp>
      <p:sp>
        <p:nvSpPr>
          <p:cNvPr id="176" name="Google Shape;176;p7"/>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Random Forest Classifier supera a la Regresión Logística</a:t>
            </a:r>
            <a:endParaRPr sz="2600">
              <a:solidFill>
                <a:schemeClr val="dk1"/>
              </a:solidFill>
              <a:latin typeface="Calibri"/>
              <a:ea typeface="Calibri"/>
              <a:cs typeface="Calibri"/>
              <a:sym typeface="Calibri"/>
            </a:endParaRPr>
          </a:p>
        </p:txBody>
      </p:sp>
      <p:pic>
        <p:nvPicPr>
          <p:cNvPr id="177" name="Picture 176" descr="comparacion_clasificacion.png"/>
          <p:cNvPicPr>
            <a:picLocks noChangeAspect="1"/>
          </p:cNvPicPr>
          <p:nvPr/>
        </p:nvPicPr>
        <p:blipFill>
          <a:blip r:embed="rId2"/>
          <a:stretch>
            <a:fillRect/>
          </a:stretch>
        </p:blipFill>
        <p:spPr>
          <a:xfrm>
            <a:off x="640080" y="2216897"/>
            <a:ext cx="10908792" cy="4116205"/>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6"/>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CLASIFICACIÓN</a:t>
            </a:r>
            <a:endParaRPr sz="1000">
              <a:solidFill>
                <a:schemeClr val="dk1"/>
              </a:solidFill>
              <a:latin typeface="Calibri"/>
              <a:ea typeface="Calibri"/>
              <a:cs typeface="Calibri"/>
              <a:sym typeface="Calibri"/>
            </a:endParaRPr>
          </a:p>
        </p:txBody>
      </p:sp>
      <p:sp>
        <p:nvSpPr>
          <p:cNvPr id="152" name="Google Shape;152;p6"/>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0,81 no es un modelo mejor, es la misma señal con otra vara</a:t>
            </a:r>
            <a:endParaRPr sz="2600">
              <a:solidFill>
                <a:schemeClr val="dk1"/>
              </a:solidFill>
              <a:latin typeface="Calibri"/>
              <a:ea typeface="Calibri"/>
              <a:cs typeface="Calibri"/>
              <a:sym typeface="Calibri"/>
            </a:endParaRPr>
          </a:p>
        </p:txBody>
      </p:sp>
      <p:sp>
        <p:nvSpPr>
          <p:cNvPr id="153" name="Google Shape;153;p6"/>
          <p:cNvSpPr txBox="1"/>
          <p:nvPr/>
        </p:nvSpPr>
        <p:spPr>
          <a:xfrm>
            <a:off x="11000232" y="6419088"/>
            <a:ext cx="5486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900"/>
              <a:buFont typeface="Calibri"/>
              <a:buNone/>
            </a:pPr>
            <a:r>
              <a:t/>
            </a:r>
            <a:endParaRPr sz="900">
              <a:solidFill>
                <a:schemeClr val="dk1"/>
              </a:solidFill>
              <a:latin typeface="Calibri"/>
              <a:ea typeface="Calibri"/>
              <a:cs typeface="Calibri"/>
              <a:sym typeface="Calibri"/>
            </a:endParaRPr>
          </a:p>
        </p:txBody>
      </p:sp>
      <p:sp>
        <p:nvSpPr>
          <p:cNvPr id="154" name="Google Shape;154;p6"/>
          <p:cNvSpPr/>
          <p:nvPr/>
        </p:nvSpPr>
        <p:spPr>
          <a:xfrm>
            <a:off x="640080"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5" name="Google Shape;155;p6"/>
          <p:cNvSpPr txBox="1"/>
          <p:nvPr/>
        </p:nvSpPr>
        <p:spPr>
          <a:xfrm>
            <a:off x="1005840"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01</a:t>
            </a:r>
            <a:endParaRPr sz="2600">
              <a:solidFill>
                <a:schemeClr val="dk1"/>
              </a:solidFill>
              <a:latin typeface="Calibri"/>
              <a:ea typeface="Calibri"/>
              <a:cs typeface="Calibri"/>
              <a:sym typeface="Calibri"/>
            </a:endParaRPr>
          </a:p>
        </p:txBody>
      </p:sp>
      <p:sp>
        <p:nvSpPr>
          <p:cNvPr id="156" name="Google Shape;156;p6"/>
          <p:cNvSpPr txBox="1"/>
          <p:nvPr/>
        </p:nvSpPr>
        <p:spPr>
          <a:xfrm>
            <a:off x="1005840"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REGRESIÓN</a:t>
            </a:r>
            <a:endParaRPr sz="1100">
              <a:solidFill>
                <a:schemeClr val="dk1"/>
              </a:solidFill>
              <a:latin typeface="Calibri"/>
              <a:ea typeface="Calibri"/>
              <a:cs typeface="Calibri"/>
              <a:sym typeface="Calibri"/>
            </a:endParaRPr>
          </a:p>
        </p:txBody>
      </p:sp>
      <p:sp>
        <p:nvSpPr>
          <p:cNvPr id="157" name="Google Shape;157;p6"/>
          <p:cNvSpPr txBox="1"/>
          <p:nvPr/>
        </p:nvSpPr>
        <p:spPr>
          <a:xfrm>
            <a:off x="1005840"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R² = 0,44</a:t>
            </a:r>
            <a:endParaRPr sz="2700">
              <a:solidFill>
                <a:schemeClr val="dk1"/>
              </a:solidFill>
              <a:latin typeface="Calibri"/>
              <a:ea typeface="Calibri"/>
              <a:cs typeface="Calibri"/>
              <a:sym typeface="Calibri"/>
            </a:endParaRPr>
          </a:p>
        </p:txBody>
      </p:sp>
      <p:sp>
        <p:nvSpPr>
          <p:cNvPr id="158" name="Google Shape;158;p6"/>
          <p:cNvSpPr txBox="1"/>
          <p:nvPr/>
        </p:nvSpPr>
        <p:spPr>
          <a:xfrm>
            <a:off x="1005840"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Acierta el valor exacto de popularidad, de 0 a 100</a:t>
            </a:r>
            <a:endParaRPr sz="1500">
              <a:solidFill>
                <a:schemeClr val="dk1"/>
              </a:solidFill>
              <a:latin typeface="Calibri"/>
              <a:ea typeface="Calibri"/>
              <a:cs typeface="Calibri"/>
              <a:sym typeface="Calibri"/>
            </a:endParaRPr>
          </a:p>
        </p:txBody>
      </p:sp>
      <p:sp>
        <p:nvSpPr>
          <p:cNvPr id="159" name="Google Shape;159;p6"/>
          <p:cNvSpPr/>
          <p:nvPr/>
        </p:nvSpPr>
        <p:spPr>
          <a:xfrm>
            <a:off x="4352544"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6"/>
          <p:cNvSpPr txBox="1"/>
          <p:nvPr/>
        </p:nvSpPr>
        <p:spPr>
          <a:xfrm>
            <a:off x="4718304"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02</a:t>
            </a:r>
            <a:endParaRPr sz="2600">
              <a:solidFill>
                <a:schemeClr val="dk1"/>
              </a:solidFill>
              <a:latin typeface="Calibri"/>
              <a:ea typeface="Calibri"/>
              <a:cs typeface="Calibri"/>
              <a:sym typeface="Calibri"/>
            </a:endParaRPr>
          </a:p>
        </p:txBody>
      </p:sp>
      <p:sp>
        <p:nvSpPr>
          <p:cNvPr id="161" name="Google Shape;161;p6"/>
          <p:cNvSpPr txBox="1"/>
          <p:nvPr/>
        </p:nvSpPr>
        <p:spPr>
          <a:xfrm>
            <a:off x="4718304"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CLASIFICACIÓN</a:t>
            </a:r>
            <a:endParaRPr sz="1100">
              <a:solidFill>
                <a:schemeClr val="dk1"/>
              </a:solidFill>
              <a:latin typeface="Calibri"/>
              <a:ea typeface="Calibri"/>
              <a:cs typeface="Calibri"/>
              <a:sym typeface="Calibri"/>
            </a:endParaRPr>
          </a:p>
        </p:txBody>
      </p:sp>
      <p:sp>
        <p:nvSpPr>
          <p:cNvPr id="162" name="Google Shape;162;p6"/>
          <p:cNvSpPr txBox="1"/>
          <p:nvPr/>
        </p:nvSpPr>
        <p:spPr>
          <a:xfrm>
            <a:off x="4718304"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Accuracy = 0,81</a:t>
            </a:r>
            <a:endParaRPr sz="2700">
              <a:solidFill>
                <a:schemeClr val="dk1"/>
              </a:solidFill>
              <a:latin typeface="Calibri"/>
              <a:ea typeface="Calibri"/>
              <a:cs typeface="Calibri"/>
              <a:sym typeface="Calibri"/>
            </a:endParaRPr>
          </a:p>
        </p:txBody>
      </p:sp>
      <p:sp>
        <p:nvSpPr>
          <p:cNvPr id="163" name="Google Shape;163;p6"/>
          <p:cNvSpPr txBox="1"/>
          <p:nvPr/>
        </p:nvSpPr>
        <p:spPr>
          <a:xfrm>
            <a:off x="4718304"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Solo acierta de qué lado de 1 frontera cae</a:t>
            </a:r>
            <a:endParaRPr sz="1500">
              <a:solidFill>
                <a:schemeClr val="dk1"/>
              </a:solidFill>
              <a:latin typeface="Calibri"/>
              <a:ea typeface="Calibri"/>
              <a:cs typeface="Calibri"/>
              <a:sym typeface="Calibri"/>
            </a:endParaRPr>
          </a:p>
        </p:txBody>
      </p:sp>
      <p:sp>
        <p:nvSpPr>
          <p:cNvPr id="164" name="Google Shape;164;p6"/>
          <p:cNvSpPr/>
          <p:nvPr/>
        </p:nvSpPr>
        <p:spPr>
          <a:xfrm>
            <a:off x="8065008"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5" name="Google Shape;165;p6"/>
          <p:cNvSpPr txBox="1"/>
          <p:nvPr/>
        </p:nvSpPr>
        <p:spPr>
          <a:xfrm>
            <a:off x="8430768"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03</a:t>
            </a:r>
            <a:endParaRPr sz="2600">
              <a:solidFill>
                <a:schemeClr val="dk1"/>
              </a:solidFill>
              <a:latin typeface="Calibri"/>
              <a:ea typeface="Calibri"/>
              <a:cs typeface="Calibri"/>
              <a:sym typeface="Calibri"/>
            </a:endParaRPr>
          </a:p>
        </p:txBody>
      </p:sp>
      <p:sp>
        <p:nvSpPr>
          <p:cNvPr id="166" name="Google Shape;166;p6"/>
          <p:cNvSpPr txBox="1"/>
          <p:nvPr/>
        </p:nvSpPr>
        <p:spPr>
          <a:xfrm>
            <a:off x="8430768"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MISMA SEÑAL</a:t>
            </a:r>
            <a:endParaRPr sz="1100">
              <a:solidFill>
                <a:schemeClr val="dk1"/>
              </a:solidFill>
              <a:latin typeface="Calibri"/>
              <a:ea typeface="Calibri"/>
              <a:cs typeface="Calibri"/>
              <a:sym typeface="Calibri"/>
            </a:endParaRPr>
          </a:p>
        </p:txBody>
      </p:sp>
      <p:sp>
        <p:nvSpPr>
          <p:cNvPr id="167" name="Google Shape;167;p6"/>
          <p:cNvSpPr txBox="1"/>
          <p:nvPr/>
        </p:nvSpPr>
        <p:spPr>
          <a:xfrm>
            <a:off x="8430768"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0,80 ≈ 0,81</a:t>
            </a:r>
            <a:endParaRPr sz="2700">
              <a:solidFill>
                <a:schemeClr val="dk1"/>
              </a:solidFill>
              <a:latin typeface="Calibri"/>
              <a:ea typeface="Calibri"/>
              <a:cs typeface="Calibri"/>
              <a:sym typeface="Calibri"/>
            </a:endParaRPr>
          </a:p>
        </p:txBody>
      </p:sp>
      <p:sp>
        <p:nvSpPr>
          <p:cNvPr id="168" name="Google Shape;168;p6"/>
          <p:cNvSpPr txBox="1"/>
          <p:nvPr/>
        </p:nvSpPr>
        <p:spPr>
          <a:xfrm>
            <a:off x="8430768"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El propio regresor, agrupado en la mediana, ya da 0,80</a:t>
            </a:r>
            <a:endParaRPr sz="1500">
              <a:solidFill>
                <a:schemeClr val="dk1"/>
              </a:solidFill>
              <a:latin typeface="Calibri"/>
              <a:ea typeface="Calibri"/>
              <a:cs typeface="Calibri"/>
              <a:sym typeface="Calibri"/>
            </a:endParaRPr>
          </a:p>
        </p:txBody>
      </p:sp>
      <p:sp>
        <p:nvSpPr>
          <p:cNvPr id="169" name="Google Shape;169;p6"/>
          <p:cNvSpPr txBox="1"/>
          <p:nvPr/>
        </p:nvSpPr>
        <p:spPr>
          <a:xfrm>
            <a:off x="640080" y="5349240"/>
            <a:ext cx="1090879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500"/>
              <a:buFont typeface="Calibri"/>
              <a:buNone/>
            </a:pPr>
            <a:r>
              <a:rPr b="1" lang="en-US" sz="1500">
                <a:solidFill>
                  <a:srgbClr val="0E6B39"/>
                </a:solidFill>
                <a:latin typeface="Calibri"/>
                <a:ea typeface="Calibri"/>
                <a:cs typeface="Calibri"/>
                <a:sym typeface="Calibri"/>
              </a:rPr>
              <a:t>Clasificar en 2 categorías balanceadas tolera mucho más error que acertar el número exacto</a:t>
            </a:r>
            <a:endParaRPr sz="15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7"/>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CLASIFICACIÓN</a:t>
            </a:r>
            <a:endParaRPr sz="1000">
              <a:solidFill>
                <a:schemeClr val="dk1"/>
              </a:solidFill>
              <a:latin typeface="Calibri"/>
              <a:ea typeface="Calibri"/>
              <a:cs typeface="Calibri"/>
              <a:sym typeface="Calibri"/>
            </a:endParaRPr>
          </a:p>
        </p:txBody>
      </p:sp>
      <p:sp>
        <p:nvSpPr>
          <p:cNvPr id="176" name="Google Shape;176;p7"/>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Precision y recall equilibrados entre ambas clases</a:t>
            </a:r>
            <a:endParaRPr sz="2600">
              <a:solidFill>
                <a:schemeClr val="dk1"/>
              </a:solidFill>
              <a:latin typeface="Calibri"/>
              <a:ea typeface="Calibri"/>
              <a:cs typeface="Calibri"/>
              <a:sym typeface="Calibri"/>
            </a:endParaRPr>
          </a:p>
        </p:txBody>
      </p:sp>
      <p:pic>
        <p:nvPicPr>
          <p:cNvPr id="177" name="Picture 176" descr="matriz_confusion.png"/>
          <p:cNvPicPr>
            <a:picLocks noChangeAspect="1"/>
          </p:cNvPicPr>
          <p:nvPr/>
        </p:nvPicPr>
        <p:blipFill>
          <a:blip r:embed="rId2"/>
          <a:stretch>
            <a:fillRect/>
          </a:stretch>
        </p:blipFill>
        <p:spPr>
          <a:xfrm>
            <a:off x="3531076" y="1850000"/>
            <a:ext cx="5126799" cy="4850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0" name="Shape 150"/>
        <p:cNvGrpSpPr/>
        <p:nvPr/>
      </p:nvGrpSpPr>
      <p:grpSpPr>
        <a:xfrm>
          <a:off x="0" y="0"/>
          <a:ext cx="0" cy="0"/>
          <a:chOff x="0" y="0"/>
          <a:chExt cx="0" cy="0"/>
        </a:xfrm>
      </p:grpSpPr>
      <p:sp>
        <p:nvSpPr>
          <p:cNvPr id="151" name="Google Shape;151;p6"/>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CLUSTERING</a:t>
            </a:r>
            <a:endParaRPr sz="1000">
              <a:solidFill>
                <a:schemeClr val="dk1"/>
              </a:solidFill>
              <a:latin typeface="Calibri"/>
              <a:ea typeface="Calibri"/>
              <a:cs typeface="Calibri"/>
              <a:sym typeface="Calibri"/>
            </a:endParaRPr>
          </a:p>
        </p:txBody>
      </p:sp>
      <p:sp>
        <p:nvSpPr>
          <p:cNvPr id="152" name="Google Shape;152;p6"/>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Cuatro perfiles de sonido, con diferencias de popularidad acotadas</a:t>
            </a:r>
            <a:endParaRPr sz="2600">
              <a:solidFill>
                <a:schemeClr val="dk1"/>
              </a:solidFill>
              <a:latin typeface="Calibri"/>
              <a:ea typeface="Calibri"/>
              <a:cs typeface="Calibri"/>
              <a:sym typeface="Calibri"/>
            </a:endParaRPr>
          </a:p>
        </p:txBody>
      </p:sp>
      <p:sp>
        <p:nvSpPr>
          <p:cNvPr id="153" name="Google Shape;153;p6"/>
          <p:cNvSpPr txBox="1"/>
          <p:nvPr/>
        </p:nvSpPr>
        <p:spPr>
          <a:xfrm>
            <a:off x="11000232" y="6419088"/>
            <a:ext cx="548640" cy="23774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AFAFAF"/>
              </a:buClr>
              <a:buSzPts val="900"/>
              <a:buFont typeface="Calibri"/>
              <a:buNone/>
            </a:pPr>
            <a:r>
              <a:t/>
            </a:r>
            <a:endParaRPr sz="900">
              <a:solidFill>
                <a:schemeClr val="dk1"/>
              </a:solidFill>
              <a:latin typeface="Calibri"/>
              <a:ea typeface="Calibri"/>
              <a:cs typeface="Calibri"/>
              <a:sym typeface="Calibri"/>
            </a:endParaRPr>
          </a:p>
        </p:txBody>
      </p:sp>
      <p:sp>
        <p:nvSpPr>
          <p:cNvPr id="154" name="Google Shape;154;p6"/>
          <p:cNvSpPr/>
          <p:nvPr/>
        </p:nvSpPr>
        <p:spPr>
          <a:xfrm>
            <a:off x="640080"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55" name="Google Shape;155;p6"/>
          <p:cNvSpPr txBox="1"/>
          <p:nvPr/>
        </p:nvSpPr>
        <p:spPr>
          <a:xfrm>
            <a:off x="1005840"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01</a:t>
            </a:r>
            <a:endParaRPr sz="2600">
              <a:solidFill>
                <a:schemeClr val="dk1"/>
              </a:solidFill>
              <a:latin typeface="Calibri"/>
              <a:ea typeface="Calibri"/>
              <a:cs typeface="Calibri"/>
              <a:sym typeface="Calibri"/>
            </a:endParaRPr>
          </a:p>
        </p:txBody>
      </p:sp>
      <p:sp>
        <p:nvSpPr>
          <p:cNvPr id="156" name="Google Shape;156;p6"/>
          <p:cNvSpPr txBox="1"/>
          <p:nvPr/>
        </p:nvSpPr>
        <p:spPr>
          <a:xfrm>
            <a:off x="1005840"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MÁS POPULAR</a:t>
            </a:r>
            <a:endParaRPr sz="1100">
              <a:solidFill>
                <a:schemeClr val="dk1"/>
              </a:solidFill>
              <a:latin typeface="Calibri"/>
              <a:ea typeface="Calibri"/>
              <a:cs typeface="Calibri"/>
              <a:sym typeface="Calibri"/>
            </a:endParaRPr>
          </a:p>
        </p:txBody>
      </p:sp>
      <p:sp>
        <p:nvSpPr>
          <p:cNvPr id="157" name="Google Shape;157;p6"/>
          <p:cNvSpPr txBox="1"/>
          <p:nvPr/>
        </p:nvSpPr>
        <p:spPr>
          <a:xfrm>
            <a:off x="1005840"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36,8 pts</a:t>
            </a:r>
            <a:endParaRPr sz="2700">
              <a:solidFill>
                <a:schemeClr val="dk1"/>
              </a:solidFill>
              <a:latin typeface="Calibri"/>
              <a:ea typeface="Calibri"/>
              <a:cs typeface="Calibri"/>
              <a:sym typeface="Calibri"/>
            </a:endParaRPr>
          </a:p>
        </p:txBody>
      </p:sp>
      <p:sp>
        <p:nvSpPr>
          <p:cNvPr id="158" name="Google Shape;158;p6"/>
          <p:cNvSpPr txBox="1"/>
          <p:nvPr/>
        </p:nvSpPr>
        <p:spPr>
          <a:xfrm>
            <a:off x="1005840"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Pop/dance alegre: bailable, energético, positivo</a:t>
            </a:r>
            <a:endParaRPr sz="1500">
              <a:solidFill>
                <a:schemeClr val="dk1"/>
              </a:solidFill>
              <a:latin typeface="Calibri"/>
              <a:ea typeface="Calibri"/>
              <a:cs typeface="Calibri"/>
              <a:sym typeface="Calibri"/>
            </a:endParaRPr>
          </a:p>
        </p:txBody>
      </p:sp>
      <p:sp>
        <p:nvSpPr>
          <p:cNvPr id="159" name="Google Shape;159;p6"/>
          <p:cNvSpPr/>
          <p:nvPr/>
        </p:nvSpPr>
        <p:spPr>
          <a:xfrm>
            <a:off x="4352544"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0" name="Google Shape;160;p6"/>
          <p:cNvSpPr txBox="1"/>
          <p:nvPr/>
        </p:nvSpPr>
        <p:spPr>
          <a:xfrm>
            <a:off x="4718304"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02</a:t>
            </a:r>
            <a:endParaRPr sz="2600">
              <a:solidFill>
                <a:schemeClr val="dk1"/>
              </a:solidFill>
              <a:latin typeface="Calibri"/>
              <a:ea typeface="Calibri"/>
              <a:cs typeface="Calibri"/>
              <a:sym typeface="Calibri"/>
            </a:endParaRPr>
          </a:p>
        </p:txBody>
      </p:sp>
      <p:sp>
        <p:nvSpPr>
          <p:cNvPr id="161" name="Google Shape;161;p6"/>
          <p:cNvSpPr txBox="1"/>
          <p:nvPr/>
        </p:nvSpPr>
        <p:spPr>
          <a:xfrm>
            <a:off x="4718304"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MENOS POPULAR</a:t>
            </a:r>
            <a:endParaRPr sz="1100">
              <a:solidFill>
                <a:schemeClr val="dk1"/>
              </a:solidFill>
              <a:latin typeface="Calibri"/>
              <a:ea typeface="Calibri"/>
              <a:cs typeface="Calibri"/>
              <a:sym typeface="Calibri"/>
            </a:endParaRPr>
          </a:p>
        </p:txBody>
      </p:sp>
      <p:sp>
        <p:nvSpPr>
          <p:cNvPr id="162" name="Google Shape;162;p6"/>
          <p:cNvSpPr txBox="1"/>
          <p:nvPr/>
        </p:nvSpPr>
        <p:spPr>
          <a:xfrm>
            <a:off x="4718304"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32,0 pts</a:t>
            </a:r>
            <a:endParaRPr sz="2700">
              <a:solidFill>
                <a:schemeClr val="dk1"/>
              </a:solidFill>
              <a:latin typeface="Calibri"/>
              <a:ea typeface="Calibri"/>
              <a:cs typeface="Calibri"/>
              <a:sym typeface="Calibri"/>
            </a:endParaRPr>
          </a:p>
        </p:txBody>
      </p:sp>
      <p:sp>
        <p:nvSpPr>
          <p:cNvPr id="163" name="Google Shape;163;p6"/>
          <p:cNvSpPr txBox="1"/>
          <p:nvPr/>
        </p:nvSpPr>
        <p:spPr>
          <a:xfrm>
            <a:off x="4718304"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Acústico/calmado: introspectivo, poco bailable</a:t>
            </a:r>
            <a:endParaRPr sz="1500">
              <a:solidFill>
                <a:schemeClr val="dk1"/>
              </a:solidFill>
              <a:latin typeface="Calibri"/>
              <a:ea typeface="Calibri"/>
              <a:cs typeface="Calibri"/>
              <a:sym typeface="Calibri"/>
            </a:endParaRPr>
          </a:p>
        </p:txBody>
      </p:sp>
      <p:sp>
        <p:nvSpPr>
          <p:cNvPr id="164" name="Google Shape;164;p6"/>
          <p:cNvSpPr/>
          <p:nvPr/>
        </p:nvSpPr>
        <p:spPr>
          <a:xfrm>
            <a:off x="8065008" y="1965960"/>
            <a:ext cx="3483864" cy="301752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165" name="Google Shape;165;p6"/>
          <p:cNvSpPr txBox="1"/>
          <p:nvPr/>
        </p:nvSpPr>
        <p:spPr>
          <a:xfrm>
            <a:off x="8430768" y="2258568"/>
            <a:ext cx="914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8A558"/>
              </a:buClr>
              <a:buSzPts val="2600"/>
              <a:buFont typeface="Cambria"/>
              <a:buNone/>
            </a:pPr>
            <a:r>
              <a:rPr b="1" lang="en-US" sz="2600">
                <a:solidFill>
                  <a:srgbClr val="18A558"/>
                </a:solidFill>
                <a:latin typeface="Cambria"/>
                <a:ea typeface="Cambria"/>
                <a:cs typeface="Cambria"/>
                <a:sym typeface="Cambria"/>
              </a:rPr>
              <a:t>03</a:t>
            </a:r>
            <a:endParaRPr sz="2600">
              <a:solidFill>
                <a:schemeClr val="dk1"/>
              </a:solidFill>
              <a:latin typeface="Calibri"/>
              <a:ea typeface="Calibri"/>
              <a:cs typeface="Calibri"/>
              <a:sym typeface="Calibri"/>
            </a:endParaRPr>
          </a:p>
        </p:txBody>
      </p:sp>
      <p:sp>
        <p:nvSpPr>
          <p:cNvPr id="166" name="Google Shape;166;p6"/>
          <p:cNvSpPr txBox="1"/>
          <p:nvPr/>
        </p:nvSpPr>
        <p:spPr>
          <a:xfrm>
            <a:off x="8430768" y="2788920"/>
            <a:ext cx="2752344"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100"/>
              <a:buFont typeface="Calibri"/>
              <a:buNone/>
            </a:pPr>
            <a:r>
              <a:rPr b="1" lang="en-US" sz="1100">
                <a:solidFill>
                  <a:srgbClr val="767676"/>
                </a:solidFill>
                <a:latin typeface="Calibri"/>
                <a:ea typeface="Calibri"/>
                <a:cs typeface="Calibri"/>
                <a:sym typeface="Calibri"/>
              </a:rPr>
              <a:t>DIFERENCIA</a:t>
            </a:r>
            <a:endParaRPr sz="1100">
              <a:solidFill>
                <a:schemeClr val="dk1"/>
              </a:solidFill>
              <a:latin typeface="Calibri"/>
              <a:ea typeface="Calibri"/>
              <a:cs typeface="Calibri"/>
              <a:sym typeface="Calibri"/>
            </a:endParaRPr>
          </a:p>
        </p:txBody>
      </p:sp>
      <p:sp>
        <p:nvSpPr>
          <p:cNvPr id="167" name="Google Shape;167;p6"/>
          <p:cNvSpPr txBox="1"/>
          <p:nvPr/>
        </p:nvSpPr>
        <p:spPr>
          <a:xfrm>
            <a:off x="8430768" y="3172968"/>
            <a:ext cx="2752344"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2700"/>
              <a:buFont typeface="Cambria"/>
              <a:buNone/>
            </a:pPr>
            <a:r>
              <a:rPr b="1" lang="en-US" sz="2700">
                <a:solidFill>
                  <a:srgbClr val="1C1C1C"/>
                </a:solidFill>
                <a:latin typeface="Cambria"/>
                <a:ea typeface="Cambria"/>
                <a:cs typeface="Cambria"/>
                <a:sym typeface="Cambria"/>
              </a:rPr>
              <a:t>~5 puntos</a:t>
            </a:r>
            <a:endParaRPr sz="2700">
              <a:solidFill>
                <a:schemeClr val="dk1"/>
              </a:solidFill>
              <a:latin typeface="Calibri"/>
              <a:ea typeface="Calibri"/>
              <a:cs typeface="Calibri"/>
              <a:sym typeface="Calibri"/>
            </a:endParaRPr>
          </a:p>
        </p:txBody>
      </p:sp>
      <p:sp>
        <p:nvSpPr>
          <p:cNvPr id="168" name="Google Shape;168;p6"/>
          <p:cNvSpPr txBox="1"/>
          <p:nvPr/>
        </p:nvSpPr>
        <p:spPr>
          <a:xfrm>
            <a:off x="8430768" y="3931920"/>
            <a:ext cx="2752344" cy="685800"/>
          </a:xfrm>
          <a:prstGeom prst="rect">
            <a:avLst/>
          </a:prstGeom>
          <a:noFill/>
          <a:ln>
            <a:noFill/>
          </a:ln>
        </p:spPr>
        <p:txBody>
          <a:bodyPr anchorCtr="0" anchor="ctr" bIns="0" lIns="0" spcFirstLastPara="1" rIns="0" wrap="square" tIns="0">
            <a:noAutofit/>
          </a:bodyPr>
          <a:lstStyle/>
          <a:p>
            <a:pPr indent="0" lvl="0" marL="0" marR="0" rtl="0" algn="l">
              <a:lnSpc>
                <a:spcPct val="115000"/>
              </a:lnSpc>
              <a:spcBef>
                <a:spcPts val="0"/>
              </a:spcBef>
              <a:spcAft>
                <a:spcPts val="0"/>
              </a:spcAft>
              <a:buClr>
                <a:srgbClr val="3F4A44"/>
              </a:buClr>
              <a:buSzPts val="1500"/>
              <a:buFont typeface="Calibri"/>
              <a:buNone/>
            </a:pPr>
            <a:r>
              <a:rPr lang="en-US" sz="1500">
                <a:solidFill>
                  <a:srgbClr val="3F4A44"/>
                </a:solidFill>
                <a:latin typeface="Calibri"/>
                <a:ea typeface="Calibri"/>
                <a:cs typeface="Calibri"/>
                <a:sym typeface="Calibri"/>
              </a:rPr>
              <a:t>Confirma, sin ver popularity, el hallazgo del EDA</a:t>
            </a:r>
            <a:endParaRPr sz="1500">
              <a:solidFill>
                <a:schemeClr val="dk1"/>
              </a:solidFill>
              <a:latin typeface="Calibri"/>
              <a:ea typeface="Calibri"/>
              <a:cs typeface="Calibri"/>
              <a:sym typeface="Calibri"/>
            </a:endParaRPr>
          </a:p>
        </p:txBody>
      </p:sp>
      <p:sp>
        <p:nvSpPr>
          <p:cNvPr id="169" name="Google Shape;169;p6"/>
          <p:cNvSpPr txBox="1"/>
          <p:nvPr/>
        </p:nvSpPr>
        <p:spPr>
          <a:xfrm>
            <a:off x="640080" y="5349240"/>
            <a:ext cx="10908792"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500"/>
              <a:buFont typeface="Calibri"/>
              <a:buNone/>
            </a:pPr>
            <a:r>
              <a:rPr b="1" lang="en-US" sz="1500">
                <a:solidFill>
                  <a:srgbClr val="0E6B39"/>
                </a:solidFill>
                <a:latin typeface="Calibri"/>
                <a:ea typeface="Calibri"/>
                <a:cs typeface="Calibri"/>
                <a:sym typeface="Calibri"/>
              </a:rPr>
              <a:t>k=4, elegido por elbow + silhouette, priorizando interpretabilidad de negocio</a:t>
            </a:r>
            <a:endParaRPr sz="1500">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4" name="Shape 174"/>
        <p:cNvGrpSpPr/>
        <p:nvPr/>
      </p:nvGrpSpPr>
      <p:grpSpPr>
        <a:xfrm>
          <a:off x="0" y="0"/>
          <a:ext cx="0" cy="0"/>
          <a:chOff x="0" y="0"/>
          <a:chExt cx="0" cy="0"/>
        </a:xfrm>
      </p:grpSpPr>
      <p:sp>
        <p:nvSpPr>
          <p:cNvPr id="175" name="Google Shape;175;p7"/>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CLUSTERING</a:t>
            </a:r>
            <a:endParaRPr sz="1000">
              <a:solidFill>
                <a:schemeClr val="dk1"/>
              </a:solidFill>
              <a:latin typeface="Calibri"/>
              <a:ea typeface="Calibri"/>
              <a:cs typeface="Calibri"/>
              <a:sym typeface="Calibri"/>
            </a:endParaRPr>
          </a:p>
        </p:txBody>
      </p:sp>
      <p:sp>
        <p:nvSpPr>
          <p:cNvPr id="176" name="Google Shape;176;p7"/>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Los 4 segmentos se distinguen al proyectar en 3 componentes</a:t>
            </a:r>
            <a:endParaRPr sz="2600">
              <a:solidFill>
                <a:schemeClr val="dk1"/>
              </a:solidFill>
              <a:latin typeface="Calibri"/>
              <a:ea typeface="Calibri"/>
              <a:cs typeface="Calibri"/>
              <a:sym typeface="Calibri"/>
            </a:endParaRPr>
          </a:p>
        </p:txBody>
      </p:sp>
      <p:pic>
        <p:nvPicPr>
          <p:cNvPr id="177" name="Picture 176" descr="clusters_pca_3d.png"/>
          <p:cNvPicPr>
            <a:picLocks noChangeAspect="1"/>
          </p:cNvPicPr>
          <p:nvPr/>
        </p:nvPicPr>
        <p:blipFill>
          <a:blip r:embed="rId2"/>
          <a:stretch>
            <a:fillRect/>
          </a:stretch>
        </p:blipFill>
        <p:spPr>
          <a:xfrm>
            <a:off x="3741100" y="1850000"/>
            <a:ext cx="4706751" cy="4850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8" name="Shape 528"/>
        <p:cNvGrpSpPr/>
        <p:nvPr/>
      </p:nvGrpSpPr>
      <p:grpSpPr>
        <a:xfrm>
          <a:off x="0" y="0"/>
          <a:ext cx="0" cy="0"/>
          <a:chOff x="0" y="0"/>
          <a:chExt cx="0" cy="0"/>
        </a:xfrm>
      </p:grpSpPr>
      <p:sp>
        <p:nvSpPr>
          <p:cNvPr id="529" name="Google Shape;529;p17"/>
          <p:cNvSpPr txBox="1"/>
          <p:nvPr/>
        </p:nvSpPr>
        <p:spPr>
          <a:xfrm>
            <a:off x="640080" y="384048"/>
            <a:ext cx="10908792" cy="21945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00"/>
              <a:buFont typeface="Calibri"/>
              <a:buNone/>
            </a:pPr>
            <a:r>
              <a:rPr b="1" lang="en-US" sz="1000">
                <a:solidFill>
                  <a:srgbClr val="0E6B39"/>
                </a:solidFill>
                <a:latin typeface="Calibri"/>
                <a:ea typeface="Calibri"/>
                <a:cs typeface="Calibri"/>
                <a:sym typeface="Calibri"/>
              </a:rPr>
              <a:t>ESTADO</a:t>
            </a:r>
            <a:endParaRPr sz="1000">
              <a:solidFill>
                <a:schemeClr val="dk1"/>
              </a:solidFill>
              <a:latin typeface="Calibri"/>
              <a:ea typeface="Calibri"/>
              <a:cs typeface="Calibri"/>
              <a:sym typeface="Calibri"/>
            </a:endParaRPr>
          </a:p>
        </p:txBody>
      </p:sp>
      <p:sp>
        <p:nvSpPr>
          <p:cNvPr id="530" name="Google Shape;530;p17"/>
          <p:cNvSpPr txBox="1"/>
          <p:nvPr/>
        </p:nvSpPr>
        <p:spPr>
          <a:xfrm>
            <a:off x="640080" y="640080"/>
            <a:ext cx="10908792" cy="50292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C1C1C"/>
              </a:buClr>
              <a:buSzPts val="2600"/>
              <a:buFont typeface="Cambria"/>
              <a:buNone/>
            </a:pPr>
            <a:r>
              <a:rPr b="1" lang="en-US" sz="2600">
                <a:solidFill>
                  <a:srgbClr val="1C1C1C"/>
                </a:solidFill>
                <a:latin typeface="Cambria"/>
                <a:ea typeface="Cambria"/>
                <a:cs typeface="Cambria"/>
                <a:sym typeface="Cambria"/>
              </a:rPr>
              <a:t>El modelado está listo; el despliegue queda como trabajo futuro</a:t>
            </a:r>
            <a:endParaRPr sz="2600">
              <a:solidFill>
                <a:schemeClr val="dk1"/>
              </a:solidFill>
              <a:latin typeface="Calibri"/>
              <a:ea typeface="Calibri"/>
              <a:cs typeface="Calibri"/>
              <a:sym typeface="Calibri"/>
            </a:endParaRPr>
          </a:p>
        </p:txBody>
      </p:sp>
      <p:sp>
        <p:nvSpPr>
          <p:cNvPr id="531" name="Google Shape;531;p17"/>
          <p:cNvSpPr/>
          <p:nvPr/>
        </p:nvSpPr>
        <p:spPr>
          <a:xfrm>
            <a:off x="640080" y="1965960"/>
            <a:ext cx="5120640" cy="3383280"/>
          </a:xfrm>
          <a:prstGeom prst="rect">
            <a:avLst/>
          </a:prstGeom>
          <a:solidFill>
            <a:srgbClr val="F1F6F3"/>
          </a:solidFill>
          <a:ln cap="flat" cmpd="sng" w="12700">
            <a:solidFill>
              <a:srgbClr val="F1F6F3"/>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2" name="Google Shape;532;p17"/>
          <p:cNvSpPr txBox="1"/>
          <p:nvPr/>
        </p:nvSpPr>
        <p:spPr>
          <a:xfrm>
            <a:off x="1051560" y="2258568"/>
            <a:ext cx="429768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E6B39"/>
              </a:buClr>
              <a:buSzPts val="1050"/>
              <a:buFont typeface="Calibri"/>
              <a:buNone/>
            </a:pPr>
            <a:r>
              <a:rPr b="1" lang="en-US" sz="1050">
                <a:solidFill>
                  <a:srgbClr val="0E6B39"/>
                </a:solidFill>
                <a:latin typeface="Calibri"/>
                <a:ea typeface="Calibri"/>
                <a:cs typeface="Calibri"/>
                <a:sym typeface="Calibri"/>
              </a:rPr>
              <a:t>ENTREGADO</a:t>
            </a:r>
            <a:endParaRPr sz="1050">
              <a:solidFill>
                <a:schemeClr val="dk1"/>
              </a:solidFill>
              <a:latin typeface="Calibri"/>
              <a:ea typeface="Calibri"/>
              <a:cs typeface="Calibri"/>
              <a:sym typeface="Calibri"/>
            </a:endParaRPr>
          </a:p>
        </p:txBody>
      </p:sp>
      <p:sp>
        <p:nvSpPr>
          <p:cNvPr id="533" name="Google Shape;533;p17"/>
          <p:cNvSpPr/>
          <p:nvPr/>
        </p:nvSpPr>
        <p:spPr>
          <a:xfrm>
            <a:off x="1051560" y="2715768"/>
            <a:ext cx="237744" cy="237744"/>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4" name="Google Shape;534;p17"/>
          <p:cNvSpPr txBox="1"/>
          <p:nvPr/>
        </p:nvSpPr>
        <p:spPr>
          <a:xfrm>
            <a:off x="1051560" y="2743200"/>
            <a:ext cx="237744"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
        <p:nvSpPr>
          <p:cNvPr id="535" name="Google Shape;535;p17"/>
          <p:cNvSpPr txBox="1"/>
          <p:nvPr/>
        </p:nvSpPr>
        <p:spPr>
          <a:xfrm>
            <a:off x="1481328" y="2679192"/>
            <a:ext cx="40233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Informe en Markdown (actualizado)</a:t>
            </a:r>
            <a:endParaRPr sz="1400">
              <a:solidFill>
                <a:schemeClr val="dk1"/>
              </a:solidFill>
              <a:latin typeface="Calibri"/>
              <a:ea typeface="Calibri"/>
              <a:cs typeface="Calibri"/>
              <a:sym typeface="Calibri"/>
            </a:endParaRPr>
          </a:p>
        </p:txBody>
      </p:sp>
      <p:sp>
        <p:nvSpPr>
          <p:cNvPr id="536" name="Google Shape;536;p17"/>
          <p:cNvSpPr/>
          <p:nvPr/>
        </p:nvSpPr>
        <p:spPr>
          <a:xfrm>
            <a:off x="1051560" y="3227832"/>
            <a:ext cx="237744" cy="237744"/>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37" name="Google Shape;537;p17"/>
          <p:cNvSpPr txBox="1"/>
          <p:nvPr/>
        </p:nvSpPr>
        <p:spPr>
          <a:xfrm>
            <a:off x="1051560" y="3255264"/>
            <a:ext cx="237744"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
        <p:nvSpPr>
          <p:cNvPr id="538" name="Google Shape;538;p17"/>
          <p:cNvSpPr txBox="1"/>
          <p:nvPr/>
        </p:nvSpPr>
        <p:spPr>
          <a:xfrm>
            <a:off x="1481328" y="3191256"/>
            <a:ext cx="40233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Notebook de análisis exploratorio</a:t>
            </a:r>
            <a:endParaRPr sz="1400">
              <a:solidFill>
                <a:schemeClr val="dk1"/>
              </a:solidFill>
              <a:latin typeface="Calibri"/>
              <a:ea typeface="Calibri"/>
              <a:cs typeface="Calibri"/>
              <a:sym typeface="Calibri"/>
            </a:endParaRPr>
          </a:p>
        </p:txBody>
      </p:sp>
      <p:sp>
        <p:nvSpPr>
          <p:cNvPr id="539" name="Google Shape;539;p17"/>
          <p:cNvSpPr/>
          <p:nvPr/>
        </p:nvSpPr>
        <p:spPr>
          <a:xfrm>
            <a:off x="1051560" y="3739896"/>
            <a:ext cx="237744" cy="237744"/>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0" name="Google Shape;540;p17"/>
          <p:cNvSpPr txBox="1"/>
          <p:nvPr/>
        </p:nvSpPr>
        <p:spPr>
          <a:xfrm>
            <a:off x="1051560" y="3767328"/>
            <a:ext cx="237744"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
        <p:nvSpPr>
          <p:cNvPr id="541" name="Google Shape;541;p17"/>
          <p:cNvSpPr txBox="1"/>
          <p:nvPr/>
        </p:nvSpPr>
        <p:spPr>
          <a:xfrm>
            <a:off x="1481328" y="3703320"/>
            <a:ext cx="40233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Notebook de preprocesamiento</a:t>
            </a:r>
            <a:endParaRPr sz="1400">
              <a:solidFill>
                <a:schemeClr val="dk1"/>
              </a:solidFill>
              <a:latin typeface="Calibri"/>
              <a:ea typeface="Calibri"/>
              <a:cs typeface="Calibri"/>
              <a:sym typeface="Calibri"/>
            </a:endParaRPr>
          </a:p>
        </p:txBody>
      </p:sp>
      <p:sp>
        <p:nvSpPr>
          <p:cNvPr id="542" name="Google Shape;542;p17"/>
          <p:cNvSpPr/>
          <p:nvPr/>
        </p:nvSpPr>
        <p:spPr>
          <a:xfrm>
            <a:off x="1051560" y="4251960"/>
            <a:ext cx="237744" cy="237744"/>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3" name="Google Shape;543;p17"/>
          <p:cNvSpPr txBox="1"/>
          <p:nvPr/>
        </p:nvSpPr>
        <p:spPr>
          <a:xfrm>
            <a:off x="1051560" y="4279392"/>
            <a:ext cx="237744"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
        <p:nvSpPr>
          <p:cNvPr id="544" name="Google Shape;544;p17"/>
          <p:cNvSpPr txBox="1"/>
          <p:nvPr/>
        </p:nvSpPr>
        <p:spPr>
          <a:xfrm>
            <a:off x="1481328" y="4215384"/>
            <a:ext cx="40233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Notebook de modelamiento</a:t>
            </a:r>
            <a:endParaRPr sz="1400">
              <a:solidFill>
                <a:schemeClr val="dk1"/>
              </a:solidFill>
              <a:latin typeface="Calibri"/>
              <a:ea typeface="Calibri"/>
              <a:cs typeface="Calibri"/>
              <a:sym typeface="Calibri"/>
            </a:endParaRPr>
          </a:p>
        </p:txBody>
      </p:sp>
      <p:sp>
        <p:nvSpPr>
          <p:cNvPr id="545" name="Google Shape;545;p17"/>
          <p:cNvSpPr/>
          <p:nvPr/>
        </p:nvSpPr>
        <p:spPr>
          <a:xfrm>
            <a:off x="1051560" y="4764024"/>
            <a:ext cx="237744" cy="237744"/>
          </a:xfrm>
          <a:prstGeom prst="ellipse">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46" name="Google Shape;546;p17"/>
          <p:cNvSpPr txBox="1"/>
          <p:nvPr/>
        </p:nvSpPr>
        <p:spPr>
          <a:xfrm>
            <a:off x="1051560" y="4791456"/>
            <a:ext cx="237744" cy="1828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000"/>
              <a:buFont typeface="Calibri"/>
              <a:buNone/>
            </a:pPr>
            <a:r>
              <a:rPr b="1" lang="en-US" sz="1000">
                <a:solidFill>
                  <a:srgbClr val="FFFFFF"/>
                </a:solidFill>
                <a:latin typeface="Calibri"/>
                <a:ea typeface="Calibri"/>
                <a:cs typeface="Calibri"/>
                <a:sym typeface="Calibri"/>
              </a:rPr>
              <a:t>✓</a:t>
            </a:r>
            <a:endParaRPr sz="1000">
              <a:solidFill>
                <a:schemeClr val="dk1"/>
              </a:solidFill>
              <a:latin typeface="Calibri"/>
              <a:ea typeface="Calibri"/>
              <a:cs typeface="Calibri"/>
              <a:sym typeface="Calibri"/>
            </a:endParaRPr>
          </a:p>
        </p:txBody>
      </p:sp>
      <p:sp>
        <p:nvSpPr>
          <p:cNvPr id="547" name="Google Shape;547;p17"/>
          <p:cNvSpPr txBox="1"/>
          <p:nvPr/>
        </p:nvSpPr>
        <p:spPr>
          <a:xfrm>
            <a:off x="1481328" y="4727448"/>
            <a:ext cx="4023360" cy="32918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400"/>
              <a:buFont typeface="Calibri"/>
              <a:buNone/>
            </a:pPr>
            <a:r>
              <a:rPr lang="en-US" sz="1400">
                <a:solidFill>
                  <a:srgbClr val="1C1C1C"/>
                </a:solidFill>
                <a:latin typeface="Calibri"/>
                <a:ea typeface="Calibri"/>
                <a:cs typeface="Calibri"/>
                <a:sym typeface="Calibri"/>
              </a:rPr>
              <a:t>Presentación (este documento)</a:t>
            </a:r>
            <a:endParaRPr sz="1400">
              <a:solidFill>
                <a:schemeClr val="dk1"/>
              </a:solidFill>
              <a:latin typeface="Calibri"/>
              <a:ea typeface="Calibri"/>
              <a:cs typeface="Calibri"/>
              <a:sym typeface="Calibri"/>
            </a:endParaRPr>
          </a:p>
        </p:txBody>
      </p:sp>
      <p:sp>
        <p:nvSpPr>
          <p:cNvPr id="548" name="Google Shape;548;p17"/>
          <p:cNvSpPr txBox="1"/>
          <p:nvPr/>
        </p:nvSpPr>
        <p:spPr>
          <a:xfrm>
            <a:off x="6126480" y="2258568"/>
            <a:ext cx="4572000" cy="25603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050"/>
              <a:buFont typeface="Calibri"/>
              <a:buNone/>
            </a:pPr>
            <a:r>
              <a:rPr b="1" lang="en-US" sz="1050">
                <a:solidFill>
                  <a:srgbClr val="767676"/>
                </a:solidFill>
                <a:latin typeface="Calibri"/>
                <a:ea typeface="Calibri"/>
                <a:cs typeface="Calibri"/>
                <a:sym typeface="Calibri"/>
              </a:rPr>
              <a:t>PRÓXIMOS PASOS</a:t>
            </a:r>
            <a:endParaRPr sz="1050">
              <a:solidFill>
                <a:schemeClr val="dk1"/>
              </a:solidFill>
              <a:latin typeface="Calibri"/>
              <a:ea typeface="Calibri"/>
              <a:cs typeface="Calibri"/>
              <a:sym typeface="Calibri"/>
            </a:endParaRPr>
          </a:p>
        </p:txBody>
      </p:sp>
      <p:sp>
        <p:nvSpPr>
          <p:cNvPr id="549" name="Google Shape;549;p17"/>
          <p:cNvSpPr/>
          <p:nvPr/>
        </p:nvSpPr>
        <p:spPr>
          <a:xfrm>
            <a:off x="6126480" y="2679192"/>
            <a:ext cx="64008" cy="73152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0" name="Google Shape;550;p17"/>
          <p:cNvSpPr txBox="1"/>
          <p:nvPr/>
        </p:nvSpPr>
        <p:spPr>
          <a:xfrm>
            <a:off x="6446520" y="2679192"/>
            <a:ext cx="5029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C1C1C"/>
              </a:buClr>
              <a:buSzPts val="1500"/>
              <a:buFont typeface="Calibri"/>
              <a:buNone/>
            </a:pPr>
            <a:r>
              <a:rPr b="1" lang="en-US" sz="1500">
                <a:solidFill>
                  <a:srgbClr val="1C1C1C"/>
                </a:solidFill>
                <a:latin typeface="Calibri"/>
                <a:ea typeface="Calibri"/>
                <a:cs typeface="Calibri"/>
                <a:sym typeface="Calibri"/>
              </a:rPr>
              <a:t>Fase 6 · Despliegue</a:t>
            </a:r>
            <a:endParaRPr sz="1500">
              <a:solidFill>
                <a:schemeClr val="dk1"/>
              </a:solidFill>
              <a:latin typeface="Calibri"/>
              <a:ea typeface="Calibri"/>
              <a:cs typeface="Calibri"/>
              <a:sym typeface="Calibri"/>
            </a:endParaRPr>
          </a:p>
        </p:txBody>
      </p:sp>
      <p:sp>
        <p:nvSpPr>
          <p:cNvPr id="551" name="Google Shape;551;p17"/>
          <p:cNvSpPr/>
          <p:nvPr/>
        </p:nvSpPr>
        <p:spPr>
          <a:xfrm>
            <a:off x="6126480" y="3593592"/>
            <a:ext cx="64008" cy="73152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2" name="Google Shape;552;p17"/>
          <p:cNvSpPr txBox="1"/>
          <p:nvPr/>
        </p:nvSpPr>
        <p:spPr>
          <a:xfrm>
            <a:off x="6446520" y="3593592"/>
            <a:ext cx="5029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500"/>
              <a:buFont typeface="Calibri"/>
              <a:buNone/>
            </a:pPr>
            <a:r>
              <a:rPr b="1" lang="en-US" sz="1500">
                <a:solidFill>
                  <a:srgbClr val="767676"/>
                </a:solidFill>
                <a:latin typeface="Calibri"/>
                <a:ea typeface="Calibri"/>
                <a:cs typeface="Calibri"/>
                <a:sym typeface="Calibri"/>
              </a:rPr>
              <a:t>Búsqueda de hiperparámetros más amplia</a:t>
            </a:r>
            <a:endParaRPr sz="1500">
              <a:solidFill>
                <a:schemeClr val="dk1"/>
              </a:solidFill>
              <a:latin typeface="Calibri"/>
              <a:ea typeface="Calibri"/>
              <a:cs typeface="Calibri"/>
              <a:sym typeface="Calibri"/>
            </a:endParaRPr>
          </a:p>
        </p:txBody>
      </p:sp>
      <p:sp>
        <p:nvSpPr>
          <p:cNvPr id="553" name="Google Shape;553;p17"/>
          <p:cNvSpPr/>
          <p:nvPr/>
        </p:nvSpPr>
        <p:spPr>
          <a:xfrm>
            <a:off x="6126480" y="4507992"/>
            <a:ext cx="64008" cy="731520"/>
          </a:xfrm>
          <a:prstGeom prst="rect">
            <a:avLst/>
          </a:prstGeom>
          <a:solidFill>
            <a:srgbClr val="E4E7E5"/>
          </a:solidFill>
          <a:ln cap="flat" cmpd="sng" w="12700">
            <a:solidFill>
              <a:srgbClr val="E4E7E5"/>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54" name="Google Shape;554;p17"/>
          <p:cNvSpPr txBox="1"/>
          <p:nvPr/>
        </p:nvSpPr>
        <p:spPr>
          <a:xfrm>
            <a:off x="6446520" y="4507992"/>
            <a:ext cx="5029200" cy="2926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767676"/>
              </a:buClr>
              <a:buSzPts val="1500"/>
              <a:buFont typeface="Calibri"/>
              <a:buNone/>
            </a:pPr>
            <a:r>
              <a:rPr b="1" lang="en-US" sz="1500">
                <a:solidFill>
                  <a:srgbClr val="767676"/>
                </a:solidFill>
                <a:latin typeface="Calibri"/>
                <a:ea typeface="Calibri"/>
                <a:cs typeface="Calibri"/>
                <a:sym typeface="Calibri"/>
              </a:rPr>
              <a:t>Modelos adicionales (gradient boosting)</a:t>
            </a:r>
            <a:endParaRPr sz="15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9" name="Shape 559"/>
        <p:cNvGrpSpPr/>
        <p:nvPr/>
      </p:nvGrpSpPr>
      <p:grpSpPr>
        <a:xfrm>
          <a:off x="0" y="0"/>
          <a:ext cx="0" cy="0"/>
          <a:chOff x="0" y="0"/>
          <a:chExt cx="0" cy="0"/>
        </a:xfrm>
      </p:grpSpPr>
      <p:sp>
        <p:nvSpPr>
          <p:cNvPr id="560" name="Google Shape;560;p18"/>
          <p:cNvSpPr/>
          <p:nvPr/>
        </p:nvSpPr>
        <p:spPr>
          <a:xfrm>
            <a:off x="0" y="0"/>
            <a:ext cx="12188952" cy="6858000"/>
          </a:xfrm>
          <a:prstGeom prst="rect">
            <a:avLst/>
          </a:prstGeom>
          <a:solidFill>
            <a:srgbClr val="0F2118"/>
          </a:solidFill>
          <a:ln cap="flat" cmpd="sng" w="12700">
            <a:solidFill>
              <a:srgbClr val="0F211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1" name="Google Shape;561;p18"/>
          <p:cNvSpPr/>
          <p:nvPr/>
        </p:nvSpPr>
        <p:spPr>
          <a:xfrm>
            <a:off x="640080" y="1325880"/>
            <a:ext cx="82296" cy="27432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2" name="Google Shape;562;p18"/>
          <p:cNvSpPr/>
          <p:nvPr/>
        </p:nvSpPr>
        <p:spPr>
          <a:xfrm>
            <a:off x="864108" y="1211580"/>
            <a:ext cx="82296" cy="5029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3" name="Google Shape;563;p18"/>
          <p:cNvSpPr/>
          <p:nvPr/>
        </p:nvSpPr>
        <p:spPr>
          <a:xfrm>
            <a:off x="1088136" y="1074420"/>
            <a:ext cx="82296" cy="7772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4" name="Google Shape;564;p18"/>
          <p:cNvSpPr/>
          <p:nvPr/>
        </p:nvSpPr>
        <p:spPr>
          <a:xfrm>
            <a:off x="1312164" y="891540"/>
            <a:ext cx="82296" cy="114300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5" name="Google Shape;565;p18"/>
          <p:cNvSpPr/>
          <p:nvPr/>
        </p:nvSpPr>
        <p:spPr>
          <a:xfrm>
            <a:off x="1536192" y="1143000"/>
            <a:ext cx="82296" cy="64008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6" name="Google Shape;566;p18"/>
          <p:cNvSpPr/>
          <p:nvPr/>
        </p:nvSpPr>
        <p:spPr>
          <a:xfrm>
            <a:off x="1760220" y="754380"/>
            <a:ext cx="82296" cy="14173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7" name="Google Shape;567;p18"/>
          <p:cNvSpPr/>
          <p:nvPr/>
        </p:nvSpPr>
        <p:spPr>
          <a:xfrm>
            <a:off x="1984248" y="982980"/>
            <a:ext cx="82296" cy="96012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8" name="Google Shape;568;p18"/>
          <p:cNvSpPr/>
          <p:nvPr/>
        </p:nvSpPr>
        <p:spPr>
          <a:xfrm>
            <a:off x="2208276" y="1257300"/>
            <a:ext cx="82296" cy="41148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69" name="Google Shape;569;p18"/>
          <p:cNvSpPr/>
          <p:nvPr/>
        </p:nvSpPr>
        <p:spPr>
          <a:xfrm>
            <a:off x="2432304" y="764568"/>
            <a:ext cx="82296" cy="822960"/>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0" name="Google Shape;570;p18"/>
          <p:cNvSpPr/>
          <p:nvPr/>
        </p:nvSpPr>
        <p:spPr>
          <a:xfrm>
            <a:off x="2656332" y="845820"/>
            <a:ext cx="82296" cy="12344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1" name="Google Shape;571;p18"/>
          <p:cNvSpPr/>
          <p:nvPr/>
        </p:nvSpPr>
        <p:spPr>
          <a:xfrm>
            <a:off x="2880360" y="1179576"/>
            <a:ext cx="82296" cy="566928"/>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2" name="Google Shape;572;p18"/>
          <p:cNvSpPr/>
          <p:nvPr/>
        </p:nvSpPr>
        <p:spPr>
          <a:xfrm>
            <a:off x="3104388" y="960120"/>
            <a:ext cx="82296" cy="1005840"/>
          </a:xfrm>
          <a:prstGeom prst="rect">
            <a:avLst/>
          </a:prstGeom>
          <a:solidFill>
            <a:srgbClr val="26473A"/>
          </a:solidFill>
          <a:ln cap="flat" cmpd="sng" w="12700">
            <a:solidFill>
              <a:srgbClr val="26473A"/>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3" name="Google Shape;573;p18"/>
          <p:cNvSpPr txBox="1"/>
          <p:nvPr/>
        </p:nvSpPr>
        <p:spPr>
          <a:xfrm>
            <a:off x="640080" y="2651760"/>
            <a:ext cx="10515600" cy="1371600"/>
          </a:xfrm>
          <a:prstGeom prst="rect">
            <a:avLst/>
          </a:prstGeom>
          <a:noFill/>
          <a:ln>
            <a:noFill/>
          </a:ln>
        </p:spPr>
        <p:txBody>
          <a:bodyPr anchorCtr="0" anchor="ctr" bIns="0" lIns="0" spcFirstLastPara="1" rIns="0" wrap="square" tIns="0">
            <a:noAutofit/>
          </a:bodyPr>
          <a:lstStyle/>
          <a:p>
            <a:pPr indent="0" lvl="0" marL="0" marR="0" rtl="0" algn="l">
              <a:lnSpc>
                <a:spcPct val="108000"/>
              </a:lnSpc>
              <a:spcBef>
                <a:spcPts val="0"/>
              </a:spcBef>
              <a:spcAft>
                <a:spcPts val="0"/>
              </a:spcAft>
              <a:buClr>
                <a:srgbClr val="FFFFFF"/>
              </a:buClr>
              <a:buSzPts val="3400"/>
              <a:buFont typeface="Cambria"/>
              <a:buNone/>
            </a:pPr>
            <a:r>
              <a:rPr b="1" lang="en-US" sz="3400">
                <a:solidFill>
                  <a:srgbClr val="FFFFFF"/>
                </a:solidFill>
                <a:latin typeface="Cambria"/>
                <a:ea typeface="Cambria"/>
                <a:cs typeface="Cambria"/>
                <a:sym typeface="Cambria"/>
              </a:rPr>
              <a:t>El dato más valioso fue descubrir</a:t>
            </a:r>
            <a:endParaRPr sz="3400">
              <a:solidFill>
                <a:schemeClr val="dk1"/>
              </a:solidFill>
              <a:latin typeface="Calibri"/>
              <a:ea typeface="Calibri"/>
              <a:cs typeface="Calibri"/>
              <a:sym typeface="Calibri"/>
            </a:endParaRPr>
          </a:p>
          <a:p>
            <a:pPr indent="0" lvl="0" marL="0" marR="0" rtl="0" algn="l">
              <a:lnSpc>
                <a:spcPct val="108000"/>
              </a:lnSpc>
              <a:spcBef>
                <a:spcPts val="0"/>
              </a:spcBef>
              <a:spcAft>
                <a:spcPts val="0"/>
              </a:spcAft>
              <a:buClr>
                <a:srgbClr val="FFFFFF"/>
              </a:buClr>
              <a:buSzPts val="3400"/>
              <a:buFont typeface="Cambria"/>
              <a:buNone/>
            </a:pPr>
            <a:r>
              <a:rPr b="1" lang="en-US" sz="3400">
                <a:solidFill>
                  <a:srgbClr val="FFFFFF"/>
                </a:solidFill>
                <a:latin typeface="Cambria"/>
                <a:ea typeface="Cambria"/>
                <a:cs typeface="Cambria"/>
                <a:sym typeface="Cambria"/>
              </a:rPr>
              <a:t>qué no debíamos usar.</a:t>
            </a:r>
            <a:endParaRPr sz="3400">
              <a:solidFill>
                <a:schemeClr val="dk1"/>
              </a:solidFill>
              <a:latin typeface="Calibri"/>
              <a:ea typeface="Calibri"/>
              <a:cs typeface="Calibri"/>
              <a:sym typeface="Calibri"/>
            </a:endParaRPr>
          </a:p>
        </p:txBody>
      </p:sp>
      <p:sp>
        <p:nvSpPr>
          <p:cNvPr id="574" name="Google Shape;574;p18"/>
          <p:cNvSpPr/>
          <p:nvPr/>
        </p:nvSpPr>
        <p:spPr>
          <a:xfrm>
            <a:off x="640080" y="4389120"/>
            <a:ext cx="1005840" cy="32004"/>
          </a:xfrm>
          <a:prstGeom prst="rect">
            <a:avLst/>
          </a:prstGeom>
          <a:solidFill>
            <a:srgbClr val="18A558"/>
          </a:solidFill>
          <a:ln cap="flat" cmpd="sng" w="12700">
            <a:solidFill>
              <a:srgbClr val="18A558"/>
            </a:solidFill>
            <a:prstDash val="solid"/>
            <a:round/>
            <a:headEnd len="sm" w="sm" type="none"/>
            <a:tailEnd len="sm" w="sm" type="none"/>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Calibri"/>
              <a:ea typeface="Calibri"/>
              <a:cs typeface="Calibri"/>
              <a:sym typeface="Calibri"/>
            </a:endParaRPr>
          </a:p>
        </p:txBody>
      </p:sp>
      <p:sp>
        <p:nvSpPr>
          <p:cNvPr id="575" name="Google Shape;575;p18"/>
          <p:cNvSpPr txBox="1"/>
          <p:nvPr/>
        </p:nvSpPr>
        <p:spPr>
          <a:xfrm>
            <a:off x="640080" y="4663440"/>
            <a:ext cx="5486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2600"/>
              <a:buFont typeface="Cambria"/>
              <a:buNone/>
            </a:pPr>
            <a:r>
              <a:rPr b="1" lang="en-US" sz="2600">
                <a:solidFill>
                  <a:srgbClr val="FFFFFF"/>
                </a:solidFill>
                <a:latin typeface="Cambria"/>
                <a:ea typeface="Cambria"/>
                <a:cs typeface="Cambria"/>
                <a:sym typeface="Cambria"/>
              </a:rPr>
              <a:t>Preguntas</a:t>
            </a:r>
            <a:endParaRPr sz="2600">
              <a:solidFill>
                <a:schemeClr val="dk1"/>
              </a:solidFill>
              <a:latin typeface="Calibri"/>
              <a:ea typeface="Calibri"/>
              <a:cs typeface="Calibri"/>
              <a:sym typeface="Calibri"/>
            </a:endParaRPr>
          </a:p>
        </p:txBody>
      </p:sp>
      <p:sp>
        <p:nvSpPr>
          <p:cNvPr id="576" name="Google Shape;576;p18"/>
          <p:cNvSpPr txBox="1"/>
          <p:nvPr/>
        </p:nvSpPr>
        <p:spPr>
          <a:xfrm>
            <a:off x="640080" y="6035040"/>
            <a:ext cx="731520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F8578"/>
              </a:buClr>
              <a:buSzPts val="1100"/>
              <a:buFont typeface="Calibri"/>
              <a:buNone/>
            </a:pPr>
            <a:r>
              <a:rPr lang="en-US" sz="1100">
                <a:solidFill>
                  <a:srgbClr val="6F8578"/>
                </a:solidFill>
                <a:latin typeface="Calibri"/>
                <a:ea typeface="Calibri"/>
                <a:cs typeface="Calibri"/>
                <a:sym typeface="Calibri"/>
              </a:rPr>
              <a:t>Felipe Ahumada Silva – Francisca Carrasco Lozano  ·  MLY1101  ·  Duoc UC</a:t>
            </a:r>
            <a:endParaRPr sz="11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Tema de Offic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2026-09-07T15:01:25Z</dcterms:created>
  <dc:creator>Felipe Ahumada Silva</dc:creator>
</cp:coreProperties>
</file>