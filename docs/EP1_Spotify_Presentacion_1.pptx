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slides/slide19.xml" ContentType="application/vnd.openxmlformats-officedocument.presentationml.slide+xml"/>
  <Override PartName="/ppt/slides/slide20.xml" ContentType="application/vnd.openxmlformats-officedocument.presentationml.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62" r:id="rId12"/>
    <p:sldId id="263" r:id="rId13"/>
    <p:sldId id="264" r:id="rId14"/>
    <p:sldId id="282" r:id="rId33"/>
    <p:sldId id="268" r:id="rId18"/>
    <p:sldId id="270" r:id="rId20"/>
    <p:sldId id="271" r:id="rId21"/>
    <p:sldId id="274" r:id="rId25"/>
    <p:sldId id="278" r:id="rId29"/>
    <p:sldId id="281" r:id="rId32"/>
    <p:sldId id="276" r:id="rId27"/>
    <p:sldId id="279" r:id="rId30"/>
    <p:sldId id="277" r:id="rId28"/>
    <p:sldId id="280" r:id="rId31"/>
    <p:sldId id="283" r:id="rId34"/>
    <p:sldId id="272" r:id="rId22"/>
    <p:sldId id="273" r:id="rId23"/>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h/ZBlogRo7tUl3dDTlpW2Qwvb73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5596F70-3E84-48C9-8163-9B32549E12F5}">
  <a:tblStyle styleId="{D5596F70-3E84-48C9-8163-9B32549E12F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8"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7.xml"/><Relationship Id="rId23" Type="http://schemas.openxmlformats.org/officeDocument/2006/relationships/slide" Target="slides/slide18.xml"/><Relationship Id="rId24" Type="http://customschemas.google.com/relationships/presentationmetadata" Target="metadata"/><Relationship Id="rId25" Type="http://schemas.openxmlformats.org/officeDocument/2006/relationships/slide" Target="slides/slide10.xml"/><Relationship Id="rId27" Type="http://schemas.openxmlformats.org/officeDocument/2006/relationships/slide" Target="slides/slide13.xml"/><Relationship Id="rId28" Type="http://schemas.openxmlformats.org/officeDocument/2006/relationships/slide" Target="slides/slide15.xml"/><Relationship Id="rId29" Type="http://schemas.openxmlformats.org/officeDocument/2006/relationships/slide" Target="slides/slide11.xml"/><Relationship Id="rId30" Type="http://schemas.openxmlformats.org/officeDocument/2006/relationships/slide" Target="slides/slide14.xml"/><Relationship Id="rId31" Type="http://schemas.openxmlformats.org/officeDocument/2006/relationships/slide" Target="slides/slide16.xml"/><Relationship Id="rId32" Type="http://schemas.openxmlformats.org/officeDocument/2006/relationships/slide" Target="slides/slide12.xml"/><Relationship Id="rId33" Type="http://schemas.openxmlformats.org/officeDocument/2006/relationships/slide" Target="slides/slide19.xml"/><Relationship Id="rId34"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Buenos días. Voy a presentar la fase de comprensión y preparación de datos del caso C, inteligencia musical sobre el Spotify Tracks Dataset: 114.000 canciones con características de audio, género y una métrica de popularidad.</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El alcance de esta entrega son las fases 1 a 3 de CRISP-DM: comprensión del negocio, comprensión de los datos y preparación de datos. El modelado queda declarado explícitamente fuera de alcance, no por falta de tiempo sino porque el entregable de esta evaluación es el trabajo previo al modelo.</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problema no es técnico, es de priorización comercial. Un sello, una plataforma de streaming o un equipo de A&amp;R evalúa material nuevo constantemente y tiene que decidir dónde poner el esfuerzo de promoción.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La complicación: hoy esa decisión se apoya en la reputación ya instalada del artista. Eso perjudica sistemáticamente al artista nuevo, porque sin trayectoria previa no queda ninguna señal sobre la canción en sí.</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De ahí sale la pregunta del proyecto: cuánto de la popularidad se explica por los atributos propios de la canción, su sonido y su género, con independencia de la fama de quien la interpreta.</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Quiero ser claro en que es una pregunta exploratoria, no una promesa de resultado. El propio análisis la responde de forma más matizada de lo que esperábamos: el audio explica muy poco. Y eso, en sí mismo, es un hallazgo útil para el negocio, porque acota qué se puede esperar de un futuro modelo y lo posiciona como señal complementaria, no como reemplazo del criterio humano.</a:t>
            </a:r>
            <a:endParaRPr/>
          </a:p>
        </p:txBody>
      </p:sp>
      <p:sp>
        <p:nvSpPr>
          <p:cNvPr id="42" name="Google Shape;42;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Cuatro objetivos y los cuatro están cubiertos.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El primero es de calidad: identificar y resolver duplicación, valores inválidos e inconsistencias antes de concluir nada sobre popularidad. Deliberadamente va primero, porque cualquier conclusión sacada sobre datos sucios es una conclusión sobre el ruido.</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El segundo es exploratorio: cuantificar qué atributos se asocian con la popularidad —audio, género y contexto de publicación— sin asumir de antemano que la asociación exista.</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El tercero es de ingeniería: dejar un pipeline reproducible con scikit-learn, sin fuga de información entre entrenamiento y prueba.</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El cuarto es documentar sesgos y limitaciones éticas antes de avanzar a modelado, no después.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Y el punto de abajo es importante: el modelado no se omitió, se declaró fuera de alcance desde el diseño del informe.</a:t>
            </a:r>
            <a:endParaRPr/>
          </a:p>
        </p:txBody>
      </p:sp>
      <p:sp>
        <p:nvSpPr>
          <p:cNvPr id="58" name="Google Shape;58;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Estos tres son los KPIs de negocio: responden directamente la pregunta de la slide 4, no son solo calidad de datos.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Uno: el techo de senal sin usar identidad de artista o album. El audio da 0,13 como maximo, el genero 0,62 -- esa es la cota realista de lo que el contenido de la cancion puede explicar sin depender de quien la interpreta.</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Dos: cero features de identidad de artista o album en el modelo final. Es una restriccion etica que nos autoimpusimos, a pesar de medir que son lo mas predictivo del dataset (r entre 0,71 y 0,72). Lo desarrollo mas en la slide de sesgos.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Tres: 54% del pico de canciones con popularity cero es un artefacto del contexto de publicacion -- el mismo audio en otro release sin traccion -- no que la cancion sea mala. Sin este KPI el negocio podria descartar por error contenido que en realidad si tiene traccion, solo mal catalogado.</a:t>
            </a:r>
            <a:endParaRPr/>
          </a:p>
        </p:txBody>
      </p:sp>
      <p:sp>
        <p:nvSpPr>
          <p:cNvPr id="173" name="Google Shape;17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Este es el hallazgo de calidad más importante, y la duplicación ocurre en dos niveles distintos.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El primero es evidente una vez que lo ves: la misma canción aparece una vez por cada género bajo el que Spotify la cataloga. Son 24.259 filas. Las consolidamos agrupando por track_id: unimos los géneros separados por punto y coma, con el mismo criterio que ya usa la columna artists para las colaboraciones, y promediamos la popularidad, que variaba en apenas el 4,33% de los casos. También eliminamos una fila con duración cero y metadatos nulos, que es un error de carga.</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El segundo nivel no es evidente: track_id identifica un release —un álbum, un single, un recopilatorio—, no la canción. Así que la misma grabación vuelve a aparecer si está en una reedición. Para detectarlo agrupamos por las 13 columnas de audio, o sea por el contenido, no por identificadores. Aparecieron 9.284 filas en 3.022 grupos.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En total, más de un cuarto del dataset eran filas repetidas. Sin este paso, cualquier correlación o promedio habría quedado ponderado por cuántas veces se repite cada canción.</a:t>
            </a:r>
            <a:endParaRPr/>
          </a:p>
        </p:txBody>
      </p:sp>
      <p:sp>
        <p:nvSpPr>
          <p:cNvPr id="181" name="Google Shape;181;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Analizamos el target por separado porque hasta ese punto solo lo habíamos visto junto al resto de las variables numéricas.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Fuera del pico, la distribución es razonablemente simétrica. Pero el pico en cero es real y grande: 9.413 canciones, el 10,49% del dataset, muchas más de las que esperarías en una distribución continua suave.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Tiene dos explicaciones. La primera es el diseño del dataset: buena parte de él es música de catálogo o de producción —ambient, sleep, stock— que en Spotify prácticamente no se reproduce.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La segunda conecta con la slide anterior: el 54% de esas filas con popularidad cero pertenece a los grupos de audio duplicado. O sea, no es que la canción no se escuche, es que ese release específico no se escucha. En 779 de los 3.022 grupos la misma canción tiene cero en un release y más de cero en otro.</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El punto es que el pico en cero no es ruido a eliminar: es información sobre cómo se construyó el dataset y sobre qué significa realmente la variable objetivo.</a:t>
            </a:r>
            <a:endParaRPr/>
          </a:p>
        </p:txBody>
      </p:sp>
      <p:sp>
        <p:nvSpPr>
          <p:cNvPr id="200" name="Google Shape;200;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Aquí sí hay señal, y es la más fuerte que encontramos.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La popularidad promedio va de 2,2 puntos en iranian a 59,3 en pop-film. Es un rango enorme comparado con cualquier variable de audio. Codificado por el promedio de popularidad de su género —lo que se llama mean encoding— la correlación con popularity llega a 0,62, unas cinco veces más fuerte que la mejor variable de audio. Por eso lo incorporamos como predictor en vez de descartarlo.</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Pero hay una advertencia de diseño importante. Los 114 géneros tienen casi exactamente mil canciones cada uno: media 996, mínimo 904, máximo 1.000. Eso no es una distribución orgánica de la música, es la huella del muestreo estratificado con que se construyó el dataset. Un modelo entrenado con esta variable aprende qué tan popular es un género en esta muestra, que no es lo mismo que qué tan popular es entre oyentes reales de Spotify. Es una limitación que hay que comunicar si el modelo se usa para decisiones reales.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Un detalle técnico: el género es multietiqueta, separado por punto y coma. El 82% de las canciones tiene uno solo, con un promedio de 1,27. Para analizarlo hay que explotar la columna, una fila por par canción-género.</a:t>
            </a:r>
            <a:endParaRPr/>
          </a:p>
        </p:txBody>
      </p:sp>
      <p:sp>
        <p:nvSpPr>
          <p:cNvPr id="372" name="Google Shape;372;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9" name="Google Shape;45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pipeline tiene tres carriles según el tipo de variable y converge en un ColumnTransformer.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El carril numérico: Winsorizer para recortar los percentiles extremos —justificado por los boxplots del EDA, que mostraron outliers marcados en duración, loudness y en las variables concentradas cerca de cero—, después el imputador con la media, después el escalador. El orden importa: el recorte va antes de imputar, e ignora los NaN que introdujimos, para que el imputador siga siendo el único paso que los completa.</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El carril categórico: imputación por moda, que resuelve de forma natural los NaN de time_signature, y codificación one-hot.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El carril del género: el GenreMeanEncoder, un transformador que escribimos nosotros.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Tres cosas que quiero destacar. Primera: Winsorizer, CorrelationFilter y GenreMeanEncoder son transformadores propios, escritos sobre la API de scikit-learn con BaseEstimator y TransformerMixin, precisamente para poder combinarlos dentro del pipeline.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Segunda: no hay fuga de información. El encoder del género se ajusta solo con el conjunto de entrenamiento, y lo verificamos comparándolo contra una versión out-of-fold: la diferencia es de r igual a 0,002, despreciable.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Tercera: excluimos track_id, artists, album_name y track_name por cardinalidad altísima —73.261 nombres de canción distintos sobre 83.478 filas, casi cada valor aparece una sola vez—.</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El resultado son 29 columnas finales, sin ningún nulo, verificado ejecutando el pipeline de punta a punta.</a:t>
            </a:r>
            <a:endParaRPr/>
          </a:p>
        </p:txBody>
      </p:sp>
      <p:sp>
        <p:nvSpPr>
          <p:cNvPr id="460" name="Google Shape;460;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5" name="Google Shape;495;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Esta es la decisión más importante del proyecto.</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Evaluamos codificar artista y álbum con la misma técnica de promedio histórico que usamos para el género. El resultado: álbum correlaciona 0,72 y artista 0,71 en el conjunto de prueba, contra 0,62 del género y 0,13 de la mejor variable de audio. Es, por lejos, la señal más fuerte de todo el dataset.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Y decidimos no usarla, por dos razones. La primera es de negocio: predeciría principalmente qué tan famoso ya es el artista, no qué hace que una canción funcione. Un modelo así sería inútil justo para el caso de uso que motivó el proyecto, que es descubrir artistas nuevos. La segunda es ética: reforzaría un sesgo de retroalimentación, el «rich get richer». Un modelo que aprende que un artista ya famoso seguirá siendo popular perpetúa esa ventaja en vez de evaluar la canción por sus propios méritos. Usarla resolvería el problema estadístico, pero no el problema de negocio.</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Este es el KPI ético de la sección 3: cero features de identidad, con la pérdida de precisión asumida y documentada.</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Sobre los otros tres puntos. Privacidad: el dataset no contiene datos personales de oyentes, no hay historial de escucha ni identificadores de usuario. La única variable sobre personas es artists, que son nombres de artistas públicos de un catálogo comercial. Quiero ser preciso en algo: excluimos artists del modelo por cardinalidad, no como medida de anonimización. Es una distinción importante y está explícita en el informe.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Sesgo de diseño: ya lo vimos, la distribución uniforme de géneros es artefacto del muestreo.</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Y sesgo de contexto: el mismo audio cambia de popularidad según el release, así que hay un techo de precisión que ningún modelo de audio y género puede superar.</a:t>
            </a:r>
            <a:endParaRPr/>
          </a:p>
        </p:txBody>
      </p:sp>
      <p:sp>
        <p:nvSpPr>
          <p:cNvPr id="496" name="Google Shape;496;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6" name="Google Shape;526;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Lo entregado son cinco artefactos: el informe técnico en Markdown con las secciones que pide la pauta, los dos notebooks documentados en español celda a celda, el repositorio con estructura profesional —data, docs, notebooks, images y README— y el requirements.txt con versiones fijadas.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Un detalle de diseño que vale la pena mencionar: ambos notebooks reconstruyen su propio dataset desde el CSV crudo. Son autocontenidos, así que se pueden ejecutar en cualquier orden y la fase de modelado puede partir directamente del notebook de preprocesamiento sin depender de haber corrido el otro antes.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El siguiente paso está definido con precisión, incluida la línea base ingenua: predecir siempre el promedio de popularidad. Es contra eso que hay que comparar cualquier modelo antes de declararlo útil, y va a ir dentro del notebook de modelado.</a:t>
            </a:r>
            <a:endParaRPr/>
          </a:p>
        </p:txBody>
      </p:sp>
      <p:sp>
        <p:nvSpPr>
          <p:cNvPr id="527" name="Google Shape;527;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7" name="Google Shape;55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Cierro con el mensaje central. En esta etapa el hallazgo más valioso no fue encontrar una variable predictiva, sino identificar cuál no debíamos usar y poder justificar por qué, midiendo primero lo que estábamos dejando sobre la mesa.</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Quedo atento a sus preguntas.</a:t>
            </a:r>
            <a:endParaRPr/>
          </a:p>
        </p:txBody>
      </p:sp>
      <p:sp>
        <p:nvSpPr>
          <p:cNvPr id="558" name="Google Shape;55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 name="Shape 11"/>
        <p:cNvGrpSpPr/>
        <p:nvPr/>
      </p:nvGrpSpPr>
      <p:grpSpPr>
        <a:xfrm>
          <a:off x="0" y="0"/>
          <a:ext cx="0" cy="0"/>
          <a:chOff x="0" y="0"/>
          <a:chExt cx="0" cy="0"/>
        </a:xfrm>
      </p:grpSpPr>
      <p:sp>
        <p:nvSpPr>
          <p:cNvPr id="12" name="Google Shape;12;p1"/>
          <p:cNvSpPr/>
          <p:nvPr/>
        </p:nvSpPr>
        <p:spPr>
          <a:xfrm>
            <a:off x="0" y="0"/>
            <a:ext cx="12188952" cy="6858000"/>
          </a:xfrm>
          <a:prstGeom prst="rect">
            <a:avLst/>
          </a:prstGeom>
          <a:solidFill>
            <a:srgbClr val="0F2118"/>
          </a:solidFill>
          <a:ln cap="flat" cmpd="sng" w="12700">
            <a:solidFill>
              <a:srgbClr val="0F21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1"/>
          <p:cNvSpPr/>
          <p:nvPr/>
        </p:nvSpPr>
        <p:spPr>
          <a:xfrm>
            <a:off x="7818120" y="3429000"/>
            <a:ext cx="82296" cy="274320"/>
          </a:xfrm>
          <a:prstGeom prst="rect">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 name="Google Shape;14;p1"/>
          <p:cNvSpPr/>
          <p:nvPr/>
        </p:nvSpPr>
        <p:spPr>
          <a:xfrm>
            <a:off x="8042148" y="3314700"/>
            <a:ext cx="82296" cy="502920"/>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 name="Google Shape;15;p1"/>
          <p:cNvSpPr/>
          <p:nvPr/>
        </p:nvSpPr>
        <p:spPr>
          <a:xfrm>
            <a:off x="8266176" y="3177540"/>
            <a:ext cx="82296" cy="777240"/>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 name="Google Shape;16;p1"/>
          <p:cNvSpPr/>
          <p:nvPr/>
        </p:nvSpPr>
        <p:spPr>
          <a:xfrm>
            <a:off x="8490204" y="2994660"/>
            <a:ext cx="82296" cy="1143000"/>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 name="Google Shape;17;p1"/>
          <p:cNvSpPr/>
          <p:nvPr/>
        </p:nvSpPr>
        <p:spPr>
          <a:xfrm>
            <a:off x="8714232" y="3246120"/>
            <a:ext cx="82296" cy="640080"/>
          </a:xfrm>
          <a:prstGeom prst="rect">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 name="Google Shape;18;p1"/>
          <p:cNvSpPr/>
          <p:nvPr/>
        </p:nvSpPr>
        <p:spPr>
          <a:xfrm>
            <a:off x="8938260" y="2857500"/>
            <a:ext cx="82296" cy="1417320"/>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 name="Google Shape;19;p1"/>
          <p:cNvSpPr/>
          <p:nvPr/>
        </p:nvSpPr>
        <p:spPr>
          <a:xfrm>
            <a:off x="9162288" y="3086100"/>
            <a:ext cx="82296" cy="960120"/>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9386316" y="3360420"/>
            <a:ext cx="82296" cy="411480"/>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 name="Google Shape;21;p1"/>
          <p:cNvSpPr/>
          <p:nvPr/>
        </p:nvSpPr>
        <p:spPr>
          <a:xfrm>
            <a:off x="9610344" y="3154680"/>
            <a:ext cx="82296" cy="822960"/>
          </a:xfrm>
          <a:prstGeom prst="rect">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 name="Google Shape;22;p1"/>
          <p:cNvSpPr/>
          <p:nvPr/>
        </p:nvSpPr>
        <p:spPr>
          <a:xfrm>
            <a:off x="9834372" y="2948940"/>
            <a:ext cx="82296" cy="1234440"/>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 name="Google Shape;23;p1"/>
          <p:cNvSpPr/>
          <p:nvPr/>
        </p:nvSpPr>
        <p:spPr>
          <a:xfrm>
            <a:off x="10058400" y="3282696"/>
            <a:ext cx="82296" cy="566928"/>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 name="Google Shape;24;p1"/>
          <p:cNvSpPr/>
          <p:nvPr/>
        </p:nvSpPr>
        <p:spPr>
          <a:xfrm>
            <a:off x="10282428" y="3063240"/>
            <a:ext cx="82296" cy="1005840"/>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 name="Google Shape;25;p1"/>
          <p:cNvSpPr/>
          <p:nvPr/>
        </p:nvSpPr>
        <p:spPr>
          <a:xfrm>
            <a:off x="10506456" y="3392424"/>
            <a:ext cx="82296" cy="347472"/>
          </a:xfrm>
          <a:prstGeom prst="rect">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 name="Google Shape;26;p1"/>
          <p:cNvSpPr/>
          <p:nvPr/>
        </p:nvSpPr>
        <p:spPr>
          <a:xfrm>
            <a:off x="10730484" y="3200400"/>
            <a:ext cx="82296" cy="731520"/>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 name="Google Shape;27;p1"/>
          <p:cNvSpPr/>
          <p:nvPr/>
        </p:nvSpPr>
        <p:spPr>
          <a:xfrm>
            <a:off x="10954512" y="2903220"/>
            <a:ext cx="82296" cy="1325880"/>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 name="Google Shape;28;p1"/>
          <p:cNvSpPr/>
          <p:nvPr/>
        </p:nvSpPr>
        <p:spPr>
          <a:xfrm>
            <a:off x="11178540" y="3314700"/>
            <a:ext cx="82296" cy="502920"/>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 name="Google Shape;29;p1"/>
          <p:cNvSpPr/>
          <p:nvPr/>
        </p:nvSpPr>
        <p:spPr>
          <a:xfrm>
            <a:off x="11402568" y="3131820"/>
            <a:ext cx="82296" cy="868680"/>
          </a:xfrm>
          <a:prstGeom prst="rect">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 name="Google Shape;30;p1"/>
          <p:cNvSpPr/>
          <p:nvPr/>
        </p:nvSpPr>
        <p:spPr>
          <a:xfrm>
            <a:off x="11626596" y="3429000"/>
            <a:ext cx="82296" cy="274320"/>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 name="Google Shape;31;p1"/>
          <p:cNvSpPr txBox="1"/>
          <p:nvPr/>
        </p:nvSpPr>
        <p:spPr>
          <a:xfrm>
            <a:off x="640080" y="137160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A558"/>
              </a:buClr>
              <a:buSzPts val="1100"/>
              <a:buFont typeface="Calibri"/>
              <a:buNone/>
            </a:pPr>
            <a:r>
              <a:rPr b="1" lang="en-US" sz="1100">
                <a:solidFill>
                  <a:srgbClr val="18A558"/>
                </a:solidFill>
                <a:latin typeface="Calibri"/>
                <a:ea typeface="Calibri"/>
                <a:cs typeface="Calibri"/>
                <a:sym typeface="Calibri"/>
              </a:rPr>
              <a:t>EP2  ·  MLY1101 MACHINE LEARNING  ·  CASO C</a:t>
            </a:r>
            <a:endParaRPr sz="1100">
              <a:solidFill>
                <a:schemeClr val="dk1"/>
              </a:solidFill>
              <a:latin typeface="Calibri"/>
              <a:ea typeface="Calibri"/>
              <a:cs typeface="Calibri"/>
              <a:sym typeface="Calibri"/>
            </a:endParaRPr>
          </a:p>
        </p:txBody>
      </p:sp>
      <p:sp>
        <p:nvSpPr>
          <p:cNvPr id="32" name="Google Shape;32;p1"/>
          <p:cNvSpPr txBox="1"/>
          <p:nvPr/>
        </p:nvSpPr>
        <p:spPr>
          <a:xfrm>
            <a:off x="640080" y="1828800"/>
            <a:ext cx="7132320" cy="219456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Inteligencia musical:</a:t>
            </a:r>
            <a:endParaRPr sz="4000">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predicción de popularidad</a:t>
            </a:r>
            <a:endParaRPr sz="4000">
              <a:solidFill>
                <a:schemeClr val="dk1"/>
              </a:solidFill>
              <a:latin typeface="Calibri"/>
              <a:ea typeface="Calibri"/>
              <a:cs typeface="Calibri"/>
              <a:sym typeface="Calibri"/>
            </a:endParaRPr>
          </a:p>
        </p:txBody>
      </p:sp>
      <p:sp>
        <p:nvSpPr>
          <p:cNvPr id="33" name="Google Shape;33;p1"/>
          <p:cNvSpPr/>
          <p:nvPr/>
        </p:nvSpPr>
        <p:spPr>
          <a:xfrm>
            <a:off x="640080" y="4206240"/>
            <a:ext cx="1005840" cy="32004"/>
          </a:xfrm>
          <a:prstGeom prst="rect">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p1"/>
          <p:cNvSpPr txBox="1"/>
          <p:nvPr/>
        </p:nvSpPr>
        <p:spPr>
          <a:xfrm>
            <a:off x="640080" y="4480560"/>
            <a:ext cx="6858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3CD"/>
              </a:buClr>
              <a:buSzPts val="1500"/>
              <a:buFont typeface="Calibri"/>
              <a:buNone/>
            </a:pPr>
            <a:r>
              <a:rPr lang="en-US" sz="1500">
                <a:solidFill>
                  <a:srgbClr val="C9D3CD"/>
                </a:solidFill>
                <a:latin typeface="Calibri"/>
                <a:ea typeface="Calibri"/>
                <a:cs typeface="Calibri"/>
                <a:sym typeface="Calibri"/>
              </a:rPr>
              <a:t>Podemos estimar qué tan prometedora suena una canción, no si será un éxito</a:t>
            </a:r>
            <a:endParaRPr sz="1500">
              <a:solidFill>
                <a:schemeClr val="dk1"/>
              </a:solidFill>
              <a:latin typeface="Calibri"/>
              <a:ea typeface="Calibri"/>
              <a:cs typeface="Calibri"/>
              <a:sym typeface="Calibri"/>
            </a:endParaRPr>
          </a:p>
        </p:txBody>
      </p:sp>
      <p:sp>
        <p:nvSpPr>
          <p:cNvPr id="35" name="Google Shape;35;p1"/>
          <p:cNvSpPr txBox="1"/>
          <p:nvPr/>
        </p:nvSpPr>
        <p:spPr>
          <a:xfrm>
            <a:off x="640080" y="5394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lang="en-US" sz="1400">
                <a:solidFill>
                  <a:srgbClr val="FFFFFF"/>
                </a:solidFill>
                <a:latin typeface="Calibri"/>
                <a:ea typeface="Calibri"/>
                <a:cs typeface="Calibri"/>
                <a:sym typeface="Calibri"/>
              </a:rPr>
              <a:t>Felipe Ahumada Silva – Francisca Carrasco Lozano</a:t>
            </a:r>
            <a:endParaRPr sz="1400">
              <a:solidFill>
                <a:schemeClr val="dk1"/>
              </a:solidFill>
              <a:latin typeface="Calibri"/>
              <a:ea typeface="Calibri"/>
              <a:cs typeface="Calibri"/>
              <a:sym typeface="Calibri"/>
            </a:endParaRPr>
          </a:p>
        </p:txBody>
      </p:sp>
      <p:sp>
        <p:nvSpPr>
          <p:cNvPr id="36" name="Google Shape;36;p1"/>
          <p:cNvSpPr txBox="1"/>
          <p:nvPr/>
        </p:nvSpPr>
        <p:spPr>
          <a:xfrm>
            <a:off x="640080" y="568756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69A"/>
              </a:buClr>
              <a:buSzPts val="1100"/>
              <a:buFont typeface="Calibri"/>
              <a:buNone/>
            </a:pPr>
            <a:r>
              <a:rPr lang="en-US" sz="1100">
                <a:solidFill>
                  <a:srgbClr val="8FA69A"/>
                </a:solidFill>
                <a:latin typeface="Calibri"/>
                <a:ea typeface="Calibri"/>
                <a:cs typeface="Calibri"/>
                <a:sym typeface="Calibri"/>
              </a:rPr>
              <a:t>Duoc UC</a:t>
            </a:r>
            <a:endParaRPr sz="1100">
              <a:solidFill>
                <a:schemeClr val="dk1"/>
              </a:solidFill>
              <a:latin typeface="Calibri"/>
              <a:ea typeface="Calibri"/>
              <a:cs typeface="Calibri"/>
              <a:sym typeface="Calibri"/>
            </a:endParaRPr>
          </a:p>
        </p:txBody>
      </p:sp>
      <p:pic>
        <p:nvPicPr>
          <p:cNvPr descr="Archivo:Logo DuocUC.svg - Wikipedia, la enciclopedia libre" id="37" name="Google Shape;37;p1"/>
          <p:cNvPicPr preferRelativeResize="0"/>
          <p:nvPr/>
        </p:nvPicPr>
        <p:blipFill rotWithShape="1">
          <a:blip r:embed="rId3">
            <a:alphaModFix/>
          </a:blip>
          <a:srcRect b="0" l="0" r="0" t="0"/>
          <a:stretch/>
        </p:blipFill>
        <p:spPr>
          <a:xfrm>
            <a:off x="640080" y="388959"/>
            <a:ext cx="2639992" cy="648998"/>
          </a:xfrm>
          <a:prstGeom prst="rect">
            <a:avLst/>
          </a:prstGeom>
          <a:noFill/>
          <a:ln>
            <a:noFill/>
          </a:ln>
        </p:spPr>
      </p:pic>
      <p:pic>
        <p:nvPicPr>
          <p:cNvPr descr="Archivo:Spotify logo with text.svg - Wikipedia, la enciclopedia libre" id="38" name="Google Shape;38;p1"/>
          <p:cNvPicPr preferRelativeResize="0"/>
          <p:nvPr/>
        </p:nvPicPr>
        <p:blipFill rotWithShape="1">
          <a:blip r:embed="rId4">
            <a:alphaModFix/>
          </a:blip>
          <a:srcRect b="0" l="0" r="0" t="0"/>
          <a:stretch/>
        </p:blipFill>
        <p:spPr>
          <a:xfrm>
            <a:off x="8342715" y="1828800"/>
            <a:ext cx="2965704" cy="8897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 name="Shape 43"/>
        <p:cNvGrpSpPr/>
        <p:nvPr/>
      </p:nvGrpSpPr>
      <p:grpSpPr>
        <a:xfrm>
          <a:off x="0" y="0"/>
          <a:ext cx="0" cy="0"/>
          <a:chOff x="0" y="0"/>
          <a:chExt cx="0" cy="0"/>
        </a:xfrm>
      </p:grpSpPr>
      <p:sp>
        <p:nvSpPr>
          <p:cNvPr id="44" name="Google Shape;44;p2"/>
          <p:cNvSpPr txBox="1"/>
          <p:nvPr/>
        </p:nvSpPr>
        <p:spPr>
          <a:xfrm>
            <a:off x="640080" y="384048"/>
            <a:ext cx="1090879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00"/>
              <a:buFont typeface="Calibri"/>
              <a:buNone/>
            </a:pPr>
            <a:r>
              <a:rPr b="1" lang="en-US" sz="1000">
                <a:solidFill>
                  <a:srgbClr val="0E6B39"/>
                </a:solidFill>
                <a:latin typeface="Calibri"/>
                <a:ea typeface="Calibri"/>
                <a:cs typeface="Calibri"/>
                <a:sym typeface="Calibri"/>
              </a:rPr>
              <a:t>PROBLEMA DE NEGOCIO</a:t>
            </a:r>
            <a:endParaRPr sz="1000">
              <a:solidFill>
                <a:schemeClr val="dk1"/>
              </a:solidFill>
              <a:latin typeface="Calibri"/>
              <a:ea typeface="Calibri"/>
              <a:cs typeface="Calibri"/>
              <a:sym typeface="Calibri"/>
            </a:endParaRPr>
          </a:p>
        </p:txBody>
      </p:sp>
      <p:sp>
        <p:nvSpPr>
          <p:cNvPr id="45" name="Google Shape;45;p2"/>
          <p:cNvSpPr txBox="1"/>
          <p:nvPr/>
        </p:nvSpPr>
        <p:spPr>
          <a:xfrm>
            <a:off x="640080" y="640080"/>
            <a:ext cx="1090879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2600"/>
              <a:buFont typeface="Cambria"/>
              <a:buNone/>
            </a:pPr>
            <a:r>
              <a:rPr b="1" lang="en-US" sz="2600">
                <a:solidFill>
                  <a:srgbClr val="1C1C1C"/>
                </a:solidFill>
                <a:latin typeface="Cambria"/>
                <a:ea typeface="Cambria"/>
                <a:cs typeface="Cambria"/>
                <a:sym typeface="Cambria"/>
              </a:rPr>
              <a:t>Hoy se prioriza por la fama del artista, no por la canción</a:t>
            </a:r>
            <a:endParaRPr sz="2600">
              <a:solidFill>
                <a:schemeClr val="dk1"/>
              </a:solidFill>
              <a:latin typeface="Calibri"/>
              <a:ea typeface="Calibri"/>
              <a:cs typeface="Calibri"/>
              <a:sym typeface="Calibri"/>
            </a:endParaRPr>
          </a:p>
        </p:txBody>
      </p:sp>
      <p:sp>
        <p:nvSpPr>
          <p:cNvPr id="46" name="Google Shape;46;p2"/>
          <p:cNvSpPr/>
          <p:nvPr/>
        </p:nvSpPr>
        <p:spPr>
          <a:xfrm>
            <a:off x="640080" y="1965960"/>
            <a:ext cx="5120640" cy="338328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2"/>
          <p:cNvSpPr txBox="1"/>
          <p:nvPr/>
        </p:nvSpPr>
        <p:spPr>
          <a:xfrm>
            <a:off x="1051560" y="2331720"/>
            <a:ext cx="42976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050"/>
              <a:buFont typeface="Calibri"/>
              <a:buNone/>
            </a:pPr>
            <a:r>
              <a:rPr b="1" lang="en-US" sz="1050">
                <a:solidFill>
                  <a:srgbClr val="767676"/>
                </a:solidFill>
                <a:latin typeface="Calibri"/>
                <a:ea typeface="Calibri"/>
                <a:cs typeface="Calibri"/>
                <a:sym typeface="Calibri"/>
              </a:rPr>
              <a:t>SITUACIÓN</a:t>
            </a:r>
            <a:endParaRPr sz="1050">
              <a:solidFill>
                <a:schemeClr val="dk1"/>
              </a:solidFill>
              <a:latin typeface="Calibri"/>
              <a:ea typeface="Calibri"/>
              <a:cs typeface="Calibri"/>
              <a:sym typeface="Calibri"/>
            </a:endParaRPr>
          </a:p>
        </p:txBody>
      </p:sp>
      <p:sp>
        <p:nvSpPr>
          <p:cNvPr id="48" name="Google Shape;48;p2"/>
          <p:cNvSpPr txBox="1"/>
          <p:nvPr/>
        </p:nvSpPr>
        <p:spPr>
          <a:xfrm>
            <a:off x="1051560" y="2651760"/>
            <a:ext cx="4297680" cy="7772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C1C1C"/>
              </a:buClr>
              <a:buSzPts val="1900"/>
              <a:buFont typeface="Cambria"/>
              <a:buNone/>
            </a:pPr>
            <a:r>
              <a:rPr lang="en-US" sz="1900">
                <a:solidFill>
                  <a:srgbClr val="1C1C1C"/>
                </a:solidFill>
                <a:latin typeface="Cambria"/>
                <a:ea typeface="Cambria"/>
                <a:cs typeface="Cambria"/>
                <a:sym typeface="Cambria"/>
              </a:rPr>
              <a:t>Hay que decidir en qué canciones invertir promoción.</a:t>
            </a:r>
            <a:endParaRPr sz="1900">
              <a:solidFill>
                <a:schemeClr val="dk1"/>
              </a:solidFill>
              <a:latin typeface="Calibri"/>
              <a:ea typeface="Calibri"/>
              <a:cs typeface="Calibri"/>
              <a:sym typeface="Calibri"/>
            </a:endParaRPr>
          </a:p>
        </p:txBody>
      </p:sp>
      <p:sp>
        <p:nvSpPr>
          <p:cNvPr id="49" name="Google Shape;49;p2"/>
          <p:cNvSpPr txBox="1"/>
          <p:nvPr/>
        </p:nvSpPr>
        <p:spPr>
          <a:xfrm>
            <a:off x="1051560" y="3657600"/>
            <a:ext cx="42976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50"/>
              <a:buFont typeface="Calibri"/>
              <a:buNone/>
            </a:pPr>
            <a:r>
              <a:rPr b="1" lang="en-US" sz="1050">
                <a:solidFill>
                  <a:srgbClr val="C0392B"/>
                </a:solidFill>
                <a:latin typeface="Calibri"/>
                <a:ea typeface="Calibri"/>
                <a:cs typeface="Calibri"/>
                <a:sym typeface="Calibri"/>
              </a:rPr>
              <a:t>COMPLICACIÓN</a:t>
            </a:r>
            <a:endParaRPr sz="1050">
              <a:solidFill>
                <a:schemeClr val="dk1"/>
              </a:solidFill>
              <a:latin typeface="Calibri"/>
              <a:ea typeface="Calibri"/>
              <a:cs typeface="Calibri"/>
              <a:sym typeface="Calibri"/>
            </a:endParaRPr>
          </a:p>
        </p:txBody>
      </p:sp>
      <p:sp>
        <p:nvSpPr>
          <p:cNvPr id="50" name="Google Shape;50;p2"/>
          <p:cNvSpPr txBox="1"/>
          <p:nvPr/>
        </p:nvSpPr>
        <p:spPr>
          <a:xfrm>
            <a:off x="1051560" y="3977640"/>
            <a:ext cx="4297680" cy="7772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C1C1C"/>
              </a:buClr>
              <a:buSzPts val="1900"/>
              <a:buFont typeface="Cambria"/>
              <a:buNone/>
            </a:pPr>
            <a:r>
              <a:rPr lang="en-US" sz="1900">
                <a:solidFill>
                  <a:srgbClr val="1C1C1C"/>
                </a:solidFill>
                <a:latin typeface="Cambria"/>
                <a:ea typeface="Cambria"/>
                <a:cs typeface="Cambria"/>
                <a:sym typeface="Cambria"/>
              </a:rPr>
              <a:t>El artista nuevo no tiene trayectoria que mostrar.</a:t>
            </a:r>
            <a:endParaRPr sz="1900">
              <a:solidFill>
                <a:schemeClr val="dk1"/>
              </a:solidFill>
              <a:latin typeface="Calibri"/>
              <a:ea typeface="Calibri"/>
              <a:cs typeface="Calibri"/>
              <a:sym typeface="Calibri"/>
            </a:endParaRPr>
          </a:p>
        </p:txBody>
      </p:sp>
      <p:sp>
        <p:nvSpPr>
          <p:cNvPr id="51" name="Google Shape;51;p2"/>
          <p:cNvSpPr/>
          <p:nvPr/>
        </p:nvSpPr>
        <p:spPr>
          <a:xfrm>
            <a:off x="6126480" y="1965960"/>
            <a:ext cx="5422392" cy="3383280"/>
          </a:xfrm>
          <a:prstGeom prst="rect">
            <a:avLst/>
          </a:prstGeom>
          <a:solidFill>
            <a:srgbClr val="0F2118"/>
          </a:solidFill>
          <a:ln cap="flat" cmpd="sng" w="12700">
            <a:solidFill>
              <a:srgbClr val="0F21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2"/>
          <p:cNvSpPr txBox="1"/>
          <p:nvPr/>
        </p:nvSpPr>
        <p:spPr>
          <a:xfrm>
            <a:off x="6537960" y="2331720"/>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A558"/>
              </a:buClr>
              <a:buSzPts val="1050"/>
              <a:buFont typeface="Calibri"/>
              <a:buNone/>
            </a:pPr>
            <a:r>
              <a:rPr b="1" lang="en-US" sz="1050">
                <a:solidFill>
                  <a:srgbClr val="18A558"/>
                </a:solidFill>
                <a:latin typeface="Calibri"/>
                <a:ea typeface="Calibri"/>
                <a:cs typeface="Calibri"/>
                <a:sym typeface="Calibri"/>
              </a:rPr>
              <a:t>PREGUNTA</a:t>
            </a:r>
            <a:endParaRPr sz="1050">
              <a:solidFill>
                <a:schemeClr val="dk1"/>
              </a:solidFill>
              <a:latin typeface="Calibri"/>
              <a:ea typeface="Calibri"/>
              <a:cs typeface="Calibri"/>
              <a:sym typeface="Calibri"/>
            </a:endParaRPr>
          </a:p>
        </p:txBody>
      </p:sp>
      <p:sp>
        <p:nvSpPr>
          <p:cNvPr id="53" name="Google Shape;53;p2"/>
          <p:cNvSpPr txBox="1"/>
          <p:nvPr/>
        </p:nvSpPr>
        <p:spPr>
          <a:xfrm>
            <a:off x="6537960" y="2743200"/>
            <a:ext cx="4617720" cy="164592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FFFFFF"/>
              </a:buClr>
              <a:buSzPts val="2800"/>
              <a:buFont typeface="Cambria"/>
              <a:buNone/>
            </a:pPr>
            <a:r>
              <a:rPr b="1" lang="en-US" sz="2800">
                <a:solidFill>
                  <a:srgbClr val="FFFFFF"/>
                </a:solidFill>
                <a:latin typeface="Cambria"/>
                <a:ea typeface="Cambria"/>
                <a:cs typeface="Cambria"/>
                <a:sym typeface="Cambria"/>
              </a:rPr>
              <a:t>¿Cuánta popularidad explica la canción misma?</a:t>
            </a:r>
            <a:endParaRPr sz="2800">
              <a:solidFill>
                <a:schemeClr val="dk1"/>
              </a:solidFill>
              <a:latin typeface="Calibri"/>
              <a:ea typeface="Calibri"/>
              <a:cs typeface="Calibri"/>
              <a:sym typeface="Calibri"/>
            </a:endParaRPr>
          </a:p>
        </p:txBody>
      </p:sp>
      <p:sp>
        <p:nvSpPr>
          <p:cNvPr id="54" name="Google Shape;54;p2"/>
          <p:cNvSpPr txBox="1"/>
          <p:nvPr/>
        </p:nvSpPr>
        <p:spPr>
          <a:xfrm>
            <a:off x="6537960" y="4434840"/>
            <a:ext cx="461772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A9BAB0"/>
              </a:buClr>
              <a:buSzPts val="1350"/>
              <a:buFont typeface="Calibri"/>
              <a:buNone/>
            </a:pPr>
            <a:r>
              <a:rPr lang="en-US" sz="1350">
                <a:solidFill>
                  <a:srgbClr val="A9BAB0"/>
                </a:solidFill>
                <a:latin typeface="Calibri"/>
                <a:ea typeface="Calibri"/>
                <a:cs typeface="Calibri"/>
                <a:sym typeface="Calibri"/>
              </a:rPr>
              <a:t>Su sonido y su género, con independencia de quién la interpreta.</a:t>
            </a:r>
            <a:endParaRPr sz="135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 name="Shape 59"/>
        <p:cNvGrpSpPr/>
        <p:nvPr/>
      </p:nvGrpSpPr>
      <p:grpSpPr>
        <a:xfrm>
          <a:off x="0" y="0"/>
          <a:ext cx="0" cy="0"/>
          <a:chOff x="0" y="0"/>
          <a:chExt cx="0" cy="0"/>
        </a:xfrm>
      </p:grpSpPr>
      <p:sp>
        <p:nvSpPr>
          <p:cNvPr id="60" name="Google Shape;60;p3"/>
          <p:cNvSpPr txBox="1"/>
          <p:nvPr/>
        </p:nvSpPr>
        <p:spPr>
          <a:xfrm>
            <a:off x="640080" y="384048"/>
            <a:ext cx="1090879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00"/>
              <a:buFont typeface="Calibri"/>
              <a:buNone/>
            </a:pPr>
            <a:r>
              <a:rPr b="1" lang="en-US" sz="1000">
                <a:solidFill>
                  <a:srgbClr val="0E6B39"/>
                </a:solidFill>
                <a:latin typeface="Calibri"/>
                <a:ea typeface="Calibri"/>
                <a:cs typeface="Calibri"/>
                <a:sym typeface="Calibri"/>
              </a:rPr>
              <a:t>OBJETIVOS</a:t>
            </a:r>
            <a:endParaRPr sz="1000">
              <a:solidFill>
                <a:schemeClr val="dk1"/>
              </a:solidFill>
              <a:latin typeface="Calibri"/>
              <a:ea typeface="Calibri"/>
              <a:cs typeface="Calibri"/>
              <a:sym typeface="Calibri"/>
            </a:endParaRPr>
          </a:p>
        </p:txBody>
      </p:sp>
      <p:sp>
        <p:nvSpPr>
          <p:cNvPr id="61" name="Google Shape;61;p3"/>
          <p:cNvSpPr txBox="1"/>
          <p:nvPr/>
        </p:nvSpPr>
        <p:spPr>
          <a:xfrm>
            <a:off x="640080" y="640080"/>
            <a:ext cx="1090879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2600"/>
              <a:buFont typeface="Cambria"/>
              <a:buNone/>
            </a:pPr>
            <a:r>
              <a:rPr b="1" lang="en-US" sz="2600">
                <a:solidFill>
                  <a:srgbClr val="1C1C1C"/>
                </a:solidFill>
                <a:latin typeface="Cambria"/>
                <a:ea typeface="Cambria"/>
                <a:cs typeface="Cambria"/>
                <a:sym typeface="Cambria"/>
              </a:rPr>
              <a:t>Cuatro objetivos guían el proyecto</a:t>
            </a:r>
            <a:endParaRPr sz="2600">
              <a:solidFill>
                <a:schemeClr val="dk1"/>
              </a:solidFill>
              <a:latin typeface="Calibri"/>
              <a:ea typeface="Calibri"/>
              <a:cs typeface="Calibri"/>
              <a:sym typeface="Calibri"/>
            </a:endParaRPr>
          </a:p>
        </p:txBody>
      </p:sp>
      <p:sp>
        <p:nvSpPr>
          <p:cNvPr id="62" name="Google Shape;62;p3"/>
          <p:cNvSpPr/>
          <p:nvPr/>
        </p:nvSpPr>
        <p:spPr>
          <a:xfrm>
            <a:off x="640080" y="2011680"/>
            <a:ext cx="5317236" cy="137160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 name="Google Shape;63;p3"/>
          <p:cNvSpPr txBox="1"/>
          <p:nvPr/>
        </p:nvSpPr>
        <p:spPr>
          <a:xfrm>
            <a:off x="1005840" y="2331720"/>
            <a:ext cx="731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A558"/>
              </a:buClr>
              <a:buSzPts val="2200"/>
              <a:buFont typeface="Cambria"/>
              <a:buNone/>
            </a:pPr>
            <a:r>
              <a:rPr b="1" lang="en-US" sz="2200">
                <a:solidFill>
                  <a:srgbClr val="18A558"/>
                </a:solidFill>
                <a:latin typeface="Cambria"/>
                <a:ea typeface="Cambria"/>
                <a:cs typeface="Cambria"/>
                <a:sym typeface="Cambria"/>
              </a:rPr>
              <a:t>01</a:t>
            </a:r>
            <a:endParaRPr sz="2200">
              <a:solidFill>
                <a:schemeClr val="dk1"/>
              </a:solidFill>
              <a:latin typeface="Calibri"/>
              <a:ea typeface="Calibri"/>
              <a:cs typeface="Calibri"/>
              <a:sym typeface="Calibri"/>
            </a:endParaRPr>
          </a:p>
        </p:txBody>
      </p:sp>
      <p:sp>
        <p:nvSpPr>
          <p:cNvPr id="64" name="Google Shape;64;p3"/>
          <p:cNvSpPr txBox="1"/>
          <p:nvPr/>
        </p:nvSpPr>
        <p:spPr>
          <a:xfrm>
            <a:off x="1783080" y="2313432"/>
            <a:ext cx="2939796" cy="8229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C1C1C"/>
              </a:buClr>
              <a:buSzPts val="1700"/>
              <a:buFont typeface="Cambria"/>
              <a:buNone/>
            </a:pPr>
            <a:r>
              <a:rPr b="1" lang="en-US" sz="1700">
                <a:solidFill>
                  <a:srgbClr val="1C1C1C"/>
                </a:solidFill>
                <a:latin typeface="Cambria"/>
                <a:ea typeface="Cambria"/>
                <a:cs typeface="Cambria"/>
                <a:sym typeface="Cambria"/>
              </a:rPr>
              <a:t>Calidad y estructura del dataset</a:t>
            </a:r>
            <a:endParaRPr sz="1700">
              <a:solidFill>
                <a:schemeClr val="dk1"/>
              </a:solidFill>
              <a:latin typeface="Calibri"/>
              <a:ea typeface="Calibri"/>
              <a:cs typeface="Calibri"/>
              <a:sym typeface="Calibri"/>
            </a:endParaRPr>
          </a:p>
        </p:txBody>
      </p:sp>
      <p:sp>
        <p:nvSpPr>
          <p:cNvPr id="67" name="Google Shape;67;p3"/>
          <p:cNvSpPr/>
          <p:nvPr/>
        </p:nvSpPr>
        <p:spPr>
          <a:xfrm>
            <a:off x="6231636" y="2011680"/>
            <a:ext cx="5317236" cy="137160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3"/>
          <p:cNvSpPr txBox="1"/>
          <p:nvPr/>
        </p:nvSpPr>
        <p:spPr>
          <a:xfrm>
            <a:off x="6597396" y="2331720"/>
            <a:ext cx="731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A558"/>
              </a:buClr>
              <a:buSzPts val="2200"/>
              <a:buFont typeface="Cambria"/>
              <a:buNone/>
            </a:pPr>
            <a:r>
              <a:rPr b="1" lang="en-US" sz="2200">
                <a:solidFill>
                  <a:srgbClr val="18A558"/>
                </a:solidFill>
                <a:latin typeface="Cambria"/>
                <a:ea typeface="Cambria"/>
                <a:cs typeface="Cambria"/>
                <a:sym typeface="Cambria"/>
              </a:rPr>
              <a:t>02</a:t>
            </a:r>
            <a:endParaRPr sz="2200">
              <a:solidFill>
                <a:schemeClr val="dk1"/>
              </a:solidFill>
              <a:latin typeface="Calibri"/>
              <a:ea typeface="Calibri"/>
              <a:cs typeface="Calibri"/>
              <a:sym typeface="Calibri"/>
            </a:endParaRPr>
          </a:p>
        </p:txBody>
      </p:sp>
      <p:sp>
        <p:nvSpPr>
          <p:cNvPr id="69" name="Google Shape;69;p3"/>
          <p:cNvSpPr txBox="1"/>
          <p:nvPr/>
        </p:nvSpPr>
        <p:spPr>
          <a:xfrm>
            <a:off x="7374636" y="2313432"/>
            <a:ext cx="2939796" cy="8229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C1C1C"/>
              </a:buClr>
              <a:buSzPts val="1700"/>
              <a:buFont typeface="Cambria"/>
              <a:buNone/>
            </a:pPr>
            <a:r>
              <a:rPr b="1" lang="en-US" sz="1700">
                <a:solidFill>
                  <a:srgbClr val="1C1C1C"/>
                </a:solidFill>
                <a:latin typeface="Cambria"/>
                <a:ea typeface="Cambria"/>
                <a:cs typeface="Cambria"/>
                <a:sym typeface="Cambria"/>
              </a:rPr>
              <a:t>Qué atributos se asocian con la popularidad</a:t>
            </a:r>
            <a:endParaRPr sz="1700">
              <a:solidFill>
                <a:schemeClr val="dk1"/>
              </a:solidFill>
              <a:latin typeface="Calibri"/>
              <a:ea typeface="Calibri"/>
              <a:cs typeface="Calibri"/>
              <a:sym typeface="Calibri"/>
            </a:endParaRPr>
          </a:p>
        </p:txBody>
      </p:sp>
      <p:sp>
        <p:nvSpPr>
          <p:cNvPr id="72" name="Google Shape;72;p3"/>
          <p:cNvSpPr/>
          <p:nvPr/>
        </p:nvSpPr>
        <p:spPr>
          <a:xfrm>
            <a:off x="640080" y="3657600"/>
            <a:ext cx="5317236" cy="137160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 name="Google Shape;73;p3"/>
          <p:cNvSpPr txBox="1"/>
          <p:nvPr/>
        </p:nvSpPr>
        <p:spPr>
          <a:xfrm>
            <a:off x="1005840" y="3977640"/>
            <a:ext cx="731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A558"/>
              </a:buClr>
              <a:buSzPts val="2200"/>
              <a:buFont typeface="Cambria"/>
              <a:buNone/>
            </a:pPr>
            <a:r>
              <a:rPr b="1" lang="en-US" sz="2200">
                <a:solidFill>
                  <a:srgbClr val="18A558"/>
                </a:solidFill>
                <a:latin typeface="Cambria"/>
                <a:ea typeface="Cambria"/>
                <a:cs typeface="Cambria"/>
                <a:sym typeface="Cambria"/>
              </a:rPr>
              <a:t>03</a:t>
            </a:r>
            <a:endParaRPr sz="2200">
              <a:solidFill>
                <a:schemeClr val="dk1"/>
              </a:solidFill>
              <a:latin typeface="Calibri"/>
              <a:ea typeface="Calibri"/>
              <a:cs typeface="Calibri"/>
              <a:sym typeface="Calibri"/>
            </a:endParaRPr>
          </a:p>
        </p:txBody>
      </p:sp>
      <p:sp>
        <p:nvSpPr>
          <p:cNvPr id="74" name="Google Shape;74;p3"/>
          <p:cNvSpPr txBox="1"/>
          <p:nvPr/>
        </p:nvSpPr>
        <p:spPr>
          <a:xfrm>
            <a:off x="1783080" y="3959352"/>
            <a:ext cx="2939796" cy="8229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C1C1C"/>
              </a:buClr>
              <a:buSzPts val="1700"/>
              <a:buFont typeface="Cambria"/>
              <a:buNone/>
            </a:pPr>
            <a:r>
              <a:rPr b="1" lang="en-US" sz="1700">
                <a:solidFill>
                  <a:srgbClr val="1C1C1C"/>
                </a:solidFill>
                <a:latin typeface="Cambria"/>
                <a:ea typeface="Cambria"/>
                <a:cs typeface="Cambria"/>
                <a:sym typeface="Cambria"/>
              </a:rPr>
              <a:t>Pipeline de preparación reproducible</a:t>
            </a:r>
            <a:endParaRPr sz="1700">
              <a:solidFill>
                <a:schemeClr val="dk1"/>
              </a:solidFill>
              <a:latin typeface="Calibri"/>
              <a:ea typeface="Calibri"/>
              <a:cs typeface="Calibri"/>
              <a:sym typeface="Calibri"/>
            </a:endParaRPr>
          </a:p>
        </p:txBody>
      </p:sp>
      <p:sp>
        <p:nvSpPr>
          <p:cNvPr id="77" name="Google Shape;77;p3"/>
          <p:cNvSpPr/>
          <p:nvPr/>
        </p:nvSpPr>
        <p:spPr>
          <a:xfrm>
            <a:off x="6231636" y="3657600"/>
            <a:ext cx="5317236" cy="137160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3"/>
          <p:cNvSpPr txBox="1"/>
          <p:nvPr/>
        </p:nvSpPr>
        <p:spPr>
          <a:xfrm>
            <a:off x="6597396" y="3977640"/>
            <a:ext cx="731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A558"/>
              </a:buClr>
              <a:buSzPts val="2200"/>
              <a:buFont typeface="Cambria"/>
              <a:buNone/>
            </a:pPr>
            <a:r>
              <a:rPr b="1" lang="en-US" sz="2200">
                <a:solidFill>
                  <a:srgbClr val="18A558"/>
                </a:solidFill>
                <a:latin typeface="Cambria"/>
                <a:ea typeface="Cambria"/>
                <a:cs typeface="Cambria"/>
                <a:sym typeface="Cambria"/>
              </a:rPr>
              <a:t>04</a:t>
            </a:r>
            <a:endParaRPr sz="2200">
              <a:solidFill>
                <a:schemeClr val="dk1"/>
              </a:solidFill>
              <a:latin typeface="Calibri"/>
              <a:ea typeface="Calibri"/>
              <a:cs typeface="Calibri"/>
              <a:sym typeface="Calibri"/>
            </a:endParaRPr>
          </a:p>
        </p:txBody>
      </p:sp>
      <p:sp>
        <p:nvSpPr>
          <p:cNvPr id="79" name="Google Shape;79;p3"/>
          <p:cNvSpPr txBox="1"/>
          <p:nvPr/>
        </p:nvSpPr>
        <p:spPr>
          <a:xfrm>
            <a:off x="7374636" y="3959352"/>
            <a:ext cx="2939796" cy="8229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C1C1C"/>
              </a:buClr>
              <a:buSzPts val="1700"/>
              <a:buFont typeface="Cambria"/>
              <a:buNone/>
            </a:pPr>
            <a:r>
              <a:rPr b="1" lang="en-US" sz="1700">
                <a:solidFill>
                  <a:srgbClr val="1C1C1C"/>
                </a:solidFill>
                <a:latin typeface="Cambria"/>
                <a:ea typeface="Cambria"/>
                <a:cs typeface="Cambria"/>
                <a:sym typeface="Cambria"/>
              </a:rPr>
              <a:t>Sesgos y limitaciones éticas</a:t>
            </a:r>
            <a:endParaRPr sz="17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0" name="Shape 900"/>
        <p:cNvGrpSpPr/>
        <p:nvPr/>
      </p:nvGrpSpPr>
      <p:grpSpPr>
        <a:xfrm>
          <a:off x="0" y="0"/>
          <a:ext cx="0" cy="0"/>
          <a:chOff x="0" y="0"/>
          <a:chExt cx="0" cy="0"/>
        </a:xfrm>
      </p:grpSpPr>
      <p:sp>
        <p:nvSpPr>
          <p:cNvPr id="901" name="eyebrow"/>
          <p:cNvSpPr txBox="1"/>
          <p:nvPr/>
        </p:nvSpPr>
        <p:spPr>
          <a:xfrm>
            <a:off x="640080" y="384048"/>
            <a:ext cx="1090879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00"/>
              <a:buFont typeface="Calibri"/>
              <a:buNone/>
            </a:pPr>
            <a:r>
              <a:rPr b="1" lang="en-US" sz="1000">
                <a:solidFill>
                  <a:srgbClr val="0E6B39"/>
                </a:solidFill>
                <a:latin typeface="Calibri"/>
                <a:ea typeface="Calibri"/>
                <a:cs typeface="Calibri"/>
                <a:sym typeface="Calibri"/>
              </a:rPr>
              <a:t>KPIS</a:t>
            </a:r>
            <a:endParaRPr sz="1000">
              <a:solidFill>
                <a:schemeClr val="dk1"/>
              </a:solidFill>
              <a:latin typeface="Calibri"/>
              <a:ea typeface="Calibri"/>
              <a:cs typeface="Calibri"/>
              <a:sym typeface="Calibri"/>
            </a:endParaRPr>
          </a:p>
        </p:txBody>
      </p:sp>
      <p:sp>
        <p:nvSpPr>
          <p:cNvPr id="902" name="headline"/>
          <p:cNvSpPr txBox="1"/>
          <p:nvPr/>
        </p:nvSpPr>
        <p:spPr>
          <a:xfrm>
            <a:off x="640080" y="640080"/>
            <a:ext cx="1090879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2600"/>
              <a:buFont typeface="Cambria"/>
              <a:buNone/>
            </a:pPr>
            <a:r>
              <a:rPr b="1" lang="en-US" sz="2600">
                <a:solidFill>
                  <a:srgbClr val="1C1C1C"/>
                </a:solidFill>
                <a:latin typeface="Cambria"/>
                <a:ea typeface="Cambria"/>
                <a:cs typeface="Cambria"/>
                <a:sym typeface="Cambria"/>
              </a:rPr>
              <a:t>Tres grupos de KPIs, una pregunta cada uno</a:t>
            </a:r>
            <a:endParaRPr sz="2600">
              <a:solidFill>
                <a:schemeClr val="dk1"/>
              </a:solidFill>
              <a:latin typeface="Calibri"/>
              <a:ea typeface="Calibri"/>
              <a:cs typeface="Calibri"/>
              <a:sym typeface="Calibri"/>
            </a:endParaRPr>
          </a:p>
        </p:txBody>
      </p:sp>
      <p:sp>
        <p:nvSpPr>
          <p:cNvPr id="903" name="card_bg"/>
          <p:cNvSpPr/>
          <p:nvPr/>
        </p:nvSpPr>
        <p:spPr>
          <a:xfrm>
            <a:off x="640080" y="1965960"/>
            <a:ext cx="3483864" cy="301752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4" name="tb"/>
          <p:cNvSpPr txBox="1"/>
          <p:nvPr/>
        </p:nvSpPr>
        <p:spPr>
          <a:xfrm>
            <a:off x="1005840" y="2258568"/>
            <a:ext cx="914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600">
                <a:solidFill>
                  <a:srgbClr val="18A558"/>
                </a:solidFill>
                <a:latin typeface="Cambria"/>
                <a:ea typeface="Cambria"/>
                <a:cs typeface="Cambria"/>
                <a:sym typeface="Cambria"/>
              </a:rPr>
              <a:t>01</a:t>
            </a:r>
            <a:endParaRPr sz="2600">
              <a:solidFill>
                <a:schemeClr val="dk1"/>
              </a:solidFill>
              <a:latin typeface="Calibri"/>
              <a:ea typeface="Calibri"/>
              <a:cs typeface="Calibri"/>
              <a:sym typeface="Calibri"/>
            </a:endParaRPr>
          </a:p>
        </p:txBody>
      </p:sp>
      <p:sp>
        <p:nvSpPr>
          <p:cNvPr id="905" name="tb"/>
          <p:cNvSpPr txBox="1"/>
          <p:nvPr/>
        </p:nvSpPr>
        <p:spPr>
          <a:xfrm>
            <a:off x="1005840" y="2788920"/>
            <a:ext cx="2752344"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100">
                <a:solidFill>
                  <a:srgbClr val="767676"/>
                </a:solidFill>
                <a:latin typeface="Calibri"/>
                <a:ea typeface="Calibri"/>
                <a:cs typeface="Calibri"/>
                <a:sym typeface="Calibri"/>
              </a:rPr>
              <a:t>NEGOCIO</a:t>
            </a:r>
            <a:endParaRPr sz="1100">
              <a:solidFill>
                <a:schemeClr val="dk1"/>
              </a:solidFill>
              <a:latin typeface="Calibri"/>
              <a:ea typeface="Calibri"/>
              <a:cs typeface="Calibri"/>
              <a:sym typeface="Calibri"/>
            </a:endParaRPr>
          </a:p>
        </p:txBody>
      </p:sp>
      <p:sp>
        <p:nvSpPr>
          <p:cNvPr id="906" name="tb"/>
          <p:cNvSpPr txBox="1"/>
          <p:nvPr/>
        </p:nvSpPr>
        <p:spPr>
          <a:xfrm>
            <a:off x="1005840" y="3172968"/>
            <a:ext cx="2752344" cy="1700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US" sz="1800">
                <a:solidFill>
                  <a:srgbClr val="1C1C1C"/>
                </a:solidFill>
                <a:latin typeface="Cambria"/>
                <a:ea typeface="Cambria"/>
                <a:cs typeface="Cambria"/>
                <a:sym typeface="Cambria"/>
              </a:rPr>
              <a:t>¿Qué tan bien explica la canción su propia popularidad?</a:t>
            </a:r>
            <a:endParaRPr sz="1800">
              <a:solidFill>
                <a:schemeClr val="dk1"/>
              </a:solidFill>
              <a:latin typeface="Calibri"/>
              <a:ea typeface="Calibri"/>
              <a:cs typeface="Calibri"/>
              <a:sym typeface="Calibri"/>
            </a:endParaRPr>
          </a:p>
        </p:txBody>
      </p:sp>
      <p:sp>
        <p:nvSpPr>
          <p:cNvPr id="907" name="card_bg"/>
          <p:cNvSpPr/>
          <p:nvPr/>
        </p:nvSpPr>
        <p:spPr>
          <a:xfrm>
            <a:off x="4352544" y="1965960"/>
            <a:ext cx="3483864" cy="301752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8" name="tb"/>
          <p:cNvSpPr txBox="1"/>
          <p:nvPr/>
        </p:nvSpPr>
        <p:spPr>
          <a:xfrm>
            <a:off x="4718304" y="2258568"/>
            <a:ext cx="914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600">
                <a:solidFill>
                  <a:srgbClr val="18A558"/>
                </a:solidFill>
                <a:latin typeface="Cambria"/>
                <a:ea typeface="Cambria"/>
                <a:cs typeface="Cambria"/>
                <a:sym typeface="Cambria"/>
              </a:rPr>
              <a:t>02</a:t>
            </a:r>
            <a:endParaRPr sz="2600">
              <a:solidFill>
                <a:schemeClr val="dk1"/>
              </a:solidFill>
              <a:latin typeface="Calibri"/>
              <a:ea typeface="Calibri"/>
              <a:cs typeface="Calibri"/>
              <a:sym typeface="Calibri"/>
            </a:endParaRPr>
          </a:p>
        </p:txBody>
      </p:sp>
      <p:sp>
        <p:nvSpPr>
          <p:cNvPr id="909" name="tb"/>
          <p:cNvSpPr txBox="1"/>
          <p:nvPr/>
        </p:nvSpPr>
        <p:spPr>
          <a:xfrm>
            <a:off x="4718304" y="2788920"/>
            <a:ext cx="2752344"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100">
                <a:solidFill>
                  <a:srgbClr val="767676"/>
                </a:solidFill>
                <a:latin typeface="Calibri"/>
                <a:ea typeface="Calibri"/>
                <a:cs typeface="Calibri"/>
                <a:sym typeface="Calibri"/>
              </a:rPr>
              <a:t>CALIDAD DE DATOS</a:t>
            </a:r>
            <a:endParaRPr sz="1100">
              <a:solidFill>
                <a:schemeClr val="dk1"/>
              </a:solidFill>
              <a:latin typeface="Calibri"/>
              <a:ea typeface="Calibri"/>
              <a:cs typeface="Calibri"/>
              <a:sym typeface="Calibri"/>
            </a:endParaRPr>
          </a:p>
        </p:txBody>
      </p:sp>
      <p:sp>
        <p:nvSpPr>
          <p:cNvPr id="910" name="tb"/>
          <p:cNvSpPr txBox="1"/>
          <p:nvPr/>
        </p:nvSpPr>
        <p:spPr>
          <a:xfrm>
            <a:off x="4718304" y="3172968"/>
            <a:ext cx="2752344" cy="1700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US" sz="1800">
                <a:solidFill>
                  <a:srgbClr val="1C1C1C"/>
                </a:solidFill>
                <a:latin typeface="Cambria"/>
                <a:ea typeface="Cambria"/>
                <a:cs typeface="Cambria"/>
                <a:sym typeface="Cambria"/>
              </a:rPr>
              <a:t>¿Son confiables los datos antes de modelar?</a:t>
            </a:r>
            <a:endParaRPr sz="1800">
              <a:solidFill>
                <a:schemeClr val="dk1"/>
              </a:solidFill>
              <a:latin typeface="Calibri"/>
              <a:ea typeface="Calibri"/>
              <a:cs typeface="Calibri"/>
              <a:sym typeface="Calibri"/>
            </a:endParaRPr>
          </a:p>
        </p:txBody>
      </p:sp>
      <p:sp>
        <p:nvSpPr>
          <p:cNvPr id="911" name="card_bg"/>
          <p:cNvSpPr/>
          <p:nvPr/>
        </p:nvSpPr>
        <p:spPr>
          <a:xfrm>
            <a:off x="8065008" y="1965960"/>
            <a:ext cx="3483864" cy="301752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2" name="tb"/>
          <p:cNvSpPr txBox="1"/>
          <p:nvPr/>
        </p:nvSpPr>
        <p:spPr>
          <a:xfrm>
            <a:off x="8430768" y="2258568"/>
            <a:ext cx="914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600">
                <a:solidFill>
                  <a:srgbClr val="18A558"/>
                </a:solidFill>
                <a:latin typeface="Cambria"/>
                <a:ea typeface="Cambria"/>
                <a:cs typeface="Cambria"/>
                <a:sym typeface="Cambria"/>
              </a:rPr>
              <a:t>03</a:t>
            </a:r>
            <a:endParaRPr sz="2600">
              <a:solidFill>
                <a:schemeClr val="dk1"/>
              </a:solidFill>
              <a:latin typeface="Calibri"/>
              <a:ea typeface="Calibri"/>
              <a:cs typeface="Calibri"/>
              <a:sym typeface="Calibri"/>
            </a:endParaRPr>
          </a:p>
        </p:txBody>
      </p:sp>
      <p:sp>
        <p:nvSpPr>
          <p:cNvPr id="913" name="tb"/>
          <p:cNvSpPr txBox="1"/>
          <p:nvPr/>
        </p:nvSpPr>
        <p:spPr>
          <a:xfrm>
            <a:off x="8430768" y="2788920"/>
            <a:ext cx="2752344"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100">
                <a:solidFill>
                  <a:srgbClr val="767676"/>
                </a:solidFill>
                <a:latin typeface="Calibri"/>
                <a:ea typeface="Calibri"/>
                <a:cs typeface="Calibri"/>
                <a:sym typeface="Calibri"/>
              </a:rPr>
              <a:t>MODELADO</a:t>
            </a:r>
            <a:endParaRPr sz="1100">
              <a:solidFill>
                <a:schemeClr val="dk1"/>
              </a:solidFill>
              <a:latin typeface="Calibri"/>
              <a:ea typeface="Calibri"/>
              <a:cs typeface="Calibri"/>
              <a:sym typeface="Calibri"/>
            </a:endParaRPr>
          </a:p>
        </p:txBody>
      </p:sp>
      <p:sp>
        <p:nvSpPr>
          <p:cNvPr id="914" name="tb"/>
          <p:cNvSpPr txBox="1"/>
          <p:nvPr/>
        </p:nvSpPr>
        <p:spPr>
          <a:xfrm>
            <a:off x="8430768" y="3172968"/>
            <a:ext cx="2752344" cy="1700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US" sz="1800">
                <a:solidFill>
                  <a:srgbClr val="1C1C1C"/>
                </a:solidFill>
                <a:latin typeface="Cambria"/>
                <a:ea typeface="Cambria"/>
                <a:cs typeface="Cambria"/>
                <a:sym typeface="Cambria"/>
              </a:rPr>
              <a:t>¿Qué tan bien predicen los modelos entrenados?</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sp>
        <p:nvSpPr>
          <p:cNvPr id="183" name="Google Shape;183;p8"/>
          <p:cNvSpPr txBox="1"/>
          <p:nvPr/>
        </p:nvSpPr>
        <p:spPr>
          <a:xfrm>
            <a:off x="640080" y="384048"/>
            <a:ext cx="1090879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00"/>
              <a:buFont typeface="Calibri"/>
              <a:buNone/>
            </a:pPr>
            <a:r>
              <a:rPr b="1" lang="en-US" sz="1000">
                <a:solidFill>
                  <a:srgbClr val="0E6B39"/>
                </a:solidFill>
                <a:latin typeface="Calibri"/>
                <a:ea typeface="Calibri"/>
                <a:cs typeface="Calibri"/>
                <a:sym typeface="Calibri"/>
              </a:rPr>
              <a:t>CALIDAD DE LOS DATOS</a:t>
            </a:r>
            <a:endParaRPr sz="1000">
              <a:solidFill>
                <a:schemeClr val="dk1"/>
              </a:solidFill>
              <a:latin typeface="Calibri"/>
              <a:ea typeface="Calibri"/>
              <a:cs typeface="Calibri"/>
              <a:sym typeface="Calibri"/>
            </a:endParaRPr>
          </a:p>
        </p:txBody>
      </p:sp>
      <p:sp>
        <p:nvSpPr>
          <p:cNvPr id="184" name="Google Shape;184;p8"/>
          <p:cNvSpPr txBox="1"/>
          <p:nvPr/>
        </p:nvSpPr>
        <p:spPr>
          <a:xfrm>
            <a:off x="640080" y="640080"/>
            <a:ext cx="1090879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2600"/>
              <a:buFont typeface="Cambria"/>
              <a:buNone/>
            </a:pPr>
            <a:r>
              <a:rPr b="1" lang="en-US" sz="2600">
                <a:solidFill>
                  <a:srgbClr val="1C1C1C"/>
                </a:solidFill>
                <a:latin typeface="Cambria"/>
                <a:ea typeface="Cambria"/>
                <a:cs typeface="Cambria"/>
                <a:sym typeface="Cambria"/>
              </a:rPr>
              <a:t>Las 114.000 filas son en realidad 83.478 canciones</a:t>
            </a:r>
            <a:endParaRPr sz="2600">
              <a:solidFill>
                <a:schemeClr val="dk1"/>
              </a:solidFill>
              <a:latin typeface="Calibri"/>
              <a:ea typeface="Calibri"/>
              <a:cs typeface="Calibri"/>
              <a:sym typeface="Calibri"/>
            </a:endParaRPr>
          </a:p>
        </p:txBody>
      </p:sp>
      <p:sp>
        <p:nvSpPr>
          <p:cNvPr id="185" name="Google Shape;185;p8"/>
          <p:cNvSpPr/>
          <p:nvPr/>
        </p:nvSpPr>
        <p:spPr>
          <a:xfrm>
            <a:off x="640080" y="2148840"/>
            <a:ext cx="3392424" cy="2331720"/>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8"/>
          <p:cNvSpPr txBox="1"/>
          <p:nvPr/>
        </p:nvSpPr>
        <p:spPr>
          <a:xfrm>
            <a:off x="914400" y="2368296"/>
            <a:ext cx="2843784"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3200"/>
              <a:buFont typeface="Cambria"/>
              <a:buNone/>
            </a:pPr>
            <a:r>
              <a:rPr b="1" lang="en-US" sz="3200">
                <a:solidFill>
                  <a:srgbClr val="1C1C1C"/>
                </a:solidFill>
                <a:latin typeface="Cambria"/>
                <a:ea typeface="Cambria"/>
                <a:cs typeface="Cambria"/>
                <a:sym typeface="Cambria"/>
              </a:rPr>
              <a:t>114.000</a:t>
            </a:r>
            <a:endParaRPr sz="3200">
              <a:solidFill>
                <a:schemeClr val="dk1"/>
              </a:solidFill>
              <a:latin typeface="Calibri"/>
              <a:ea typeface="Calibri"/>
              <a:cs typeface="Calibri"/>
              <a:sym typeface="Calibri"/>
            </a:endParaRPr>
          </a:p>
        </p:txBody>
      </p:sp>
      <p:sp>
        <p:nvSpPr>
          <p:cNvPr id="187" name="Google Shape;187;p8"/>
          <p:cNvSpPr txBox="1"/>
          <p:nvPr/>
        </p:nvSpPr>
        <p:spPr>
          <a:xfrm>
            <a:off x="914400" y="4636008"/>
            <a:ext cx="2843784" cy="3657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767676"/>
              </a:buClr>
              <a:buSzPts val="1400"/>
              <a:buFont typeface="Calibri"/>
              <a:buNone/>
            </a:pPr>
            <a:r>
              <a:rPr lang="en-US" sz="1400">
                <a:solidFill>
                  <a:srgbClr val="767676"/>
                </a:solidFill>
                <a:latin typeface="Calibri"/>
                <a:ea typeface="Calibri"/>
                <a:cs typeface="Calibri"/>
                <a:sym typeface="Calibri"/>
              </a:rPr>
              <a:t>filas del dataset crudo</a:t>
            </a:r>
            <a:endParaRPr sz="1400">
              <a:solidFill>
                <a:schemeClr val="dk1"/>
              </a:solidFill>
              <a:latin typeface="Calibri"/>
              <a:ea typeface="Calibri"/>
              <a:cs typeface="Calibri"/>
              <a:sym typeface="Calibri"/>
            </a:endParaRPr>
          </a:p>
        </p:txBody>
      </p:sp>
      <p:sp>
        <p:nvSpPr>
          <p:cNvPr id="188" name="Google Shape;188;p8"/>
          <p:cNvSpPr txBox="1"/>
          <p:nvPr/>
        </p:nvSpPr>
        <p:spPr>
          <a:xfrm>
            <a:off x="4069080" y="3977640"/>
            <a:ext cx="29260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FAFAF"/>
              </a:buClr>
              <a:buSzPts val="1600"/>
              <a:buFont typeface="Calibri"/>
              <a:buNone/>
            </a:pPr>
            <a:r>
              <a:rPr lang="en-US" sz="1600">
                <a:solidFill>
                  <a:srgbClr val="AFAFAF"/>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189" name="Google Shape;189;p8"/>
          <p:cNvSpPr/>
          <p:nvPr/>
        </p:nvSpPr>
        <p:spPr>
          <a:xfrm>
            <a:off x="4398264" y="2499103"/>
            <a:ext cx="3392424" cy="1981457"/>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8"/>
          <p:cNvSpPr txBox="1"/>
          <p:nvPr/>
        </p:nvSpPr>
        <p:spPr>
          <a:xfrm>
            <a:off x="4672584" y="2718559"/>
            <a:ext cx="2843784"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3200"/>
              <a:buFont typeface="Cambria"/>
              <a:buNone/>
            </a:pPr>
            <a:r>
              <a:rPr b="1" lang="en-US" sz="3200">
                <a:solidFill>
                  <a:srgbClr val="1C1C1C"/>
                </a:solidFill>
                <a:latin typeface="Cambria"/>
                <a:ea typeface="Cambria"/>
                <a:cs typeface="Cambria"/>
                <a:sym typeface="Cambria"/>
              </a:rPr>
              <a:t>89.740</a:t>
            </a:r>
            <a:endParaRPr sz="3200">
              <a:solidFill>
                <a:schemeClr val="dk1"/>
              </a:solidFill>
              <a:latin typeface="Calibri"/>
              <a:ea typeface="Calibri"/>
              <a:cs typeface="Calibri"/>
              <a:sym typeface="Calibri"/>
            </a:endParaRPr>
          </a:p>
        </p:txBody>
      </p:sp>
      <p:sp>
        <p:nvSpPr>
          <p:cNvPr id="191" name="Google Shape;191;p8"/>
          <p:cNvSpPr txBox="1"/>
          <p:nvPr/>
        </p:nvSpPr>
        <p:spPr>
          <a:xfrm>
            <a:off x="4672584" y="4636008"/>
            <a:ext cx="2843784" cy="3657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767676"/>
              </a:buClr>
              <a:buSzPts val="1400"/>
              <a:buFont typeface="Calibri"/>
              <a:buNone/>
            </a:pPr>
            <a:r>
              <a:rPr lang="en-US" sz="1400">
                <a:solidFill>
                  <a:srgbClr val="767676"/>
                </a:solidFill>
                <a:latin typeface="Calibri"/>
                <a:ea typeface="Calibri"/>
                <a:cs typeface="Calibri"/>
                <a:sym typeface="Calibri"/>
              </a:rPr>
              <a:t>−24.259  ·  duplicado por género</a:t>
            </a:r>
            <a:endParaRPr sz="1400">
              <a:solidFill>
                <a:schemeClr val="dk1"/>
              </a:solidFill>
              <a:latin typeface="Calibri"/>
              <a:ea typeface="Calibri"/>
              <a:cs typeface="Calibri"/>
              <a:sym typeface="Calibri"/>
            </a:endParaRPr>
          </a:p>
        </p:txBody>
      </p:sp>
      <p:sp>
        <p:nvSpPr>
          <p:cNvPr id="192" name="Google Shape;192;p8"/>
          <p:cNvSpPr txBox="1"/>
          <p:nvPr/>
        </p:nvSpPr>
        <p:spPr>
          <a:xfrm>
            <a:off x="7827264" y="3977640"/>
            <a:ext cx="29260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FAFAF"/>
              </a:buClr>
              <a:buSzPts val="1600"/>
              <a:buFont typeface="Calibri"/>
              <a:buNone/>
            </a:pPr>
            <a:r>
              <a:rPr lang="en-US" sz="1600">
                <a:solidFill>
                  <a:srgbClr val="AFAFAF"/>
                </a:solidFill>
                <a:latin typeface="Calibri"/>
                <a:ea typeface="Calibri"/>
                <a:cs typeface="Calibri"/>
                <a:sym typeface="Calibri"/>
              </a:rPr>
              <a:t>→</a:t>
            </a:r>
            <a:endParaRPr sz="1600">
              <a:solidFill>
                <a:schemeClr val="dk1"/>
              </a:solidFill>
              <a:latin typeface="Calibri"/>
              <a:ea typeface="Calibri"/>
              <a:cs typeface="Calibri"/>
              <a:sym typeface="Calibri"/>
            </a:endParaRPr>
          </a:p>
        </p:txBody>
      </p:sp>
      <p:sp>
        <p:nvSpPr>
          <p:cNvPr id="193" name="Google Shape;193;p8"/>
          <p:cNvSpPr/>
          <p:nvPr/>
        </p:nvSpPr>
        <p:spPr>
          <a:xfrm>
            <a:off x="8156448" y="2589513"/>
            <a:ext cx="3392424" cy="1891047"/>
          </a:xfrm>
          <a:prstGeom prst="rect">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8"/>
          <p:cNvSpPr txBox="1"/>
          <p:nvPr/>
        </p:nvSpPr>
        <p:spPr>
          <a:xfrm>
            <a:off x="8430768" y="2808969"/>
            <a:ext cx="2843784"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mbria"/>
              <a:buNone/>
            </a:pPr>
            <a:r>
              <a:rPr b="1" lang="en-US" sz="3200">
                <a:solidFill>
                  <a:srgbClr val="FFFFFF"/>
                </a:solidFill>
                <a:latin typeface="Cambria"/>
                <a:ea typeface="Cambria"/>
                <a:cs typeface="Cambria"/>
                <a:sym typeface="Cambria"/>
              </a:rPr>
              <a:t>83.478</a:t>
            </a:r>
            <a:endParaRPr sz="3200">
              <a:solidFill>
                <a:schemeClr val="dk1"/>
              </a:solidFill>
              <a:latin typeface="Calibri"/>
              <a:ea typeface="Calibri"/>
              <a:cs typeface="Calibri"/>
              <a:sym typeface="Calibri"/>
            </a:endParaRPr>
          </a:p>
        </p:txBody>
      </p:sp>
      <p:sp>
        <p:nvSpPr>
          <p:cNvPr id="195" name="Google Shape;195;p8"/>
          <p:cNvSpPr txBox="1"/>
          <p:nvPr/>
        </p:nvSpPr>
        <p:spPr>
          <a:xfrm>
            <a:off x="8430768" y="4636008"/>
            <a:ext cx="2843784" cy="3657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767676"/>
              </a:buClr>
              <a:buSzPts val="1400"/>
              <a:buFont typeface="Calibri"/>
              <a:buNone/>
            </a:pPr>
            <a:r>
              <a:rPr lang="en-US" sz="1400">
                <a:solidFill>
                  <a:srgbClr val="767676"/>
                </a:solidFill>
                <a:latin typeface="Calibri"/>
                <a:ea typeface="Calibri"/>
                <a:cs typeface="Calibri"/>
                <a:sym typeface="Calibri"/>
              </a:rPr>
              <a:t>−6.262  ·  duplicado por release</a:t>
            </a:r>
            <a:endParaRPr sz="1400">
              <a:solidFill>
                <a:schemeClr val="dk1"/>
              </a:solidFill>
              <a:latin typeface="Calibri"/>
              <a:ea typeface="Calibri"/>
              <a:cs typeface="Calibri"/>
              <a:sym typeface="Calibri"/>
            </a:endParaRPr>
          </a:p>
        </p:txBody>
      </p:sp>
      <p:sp>
        <p:nvSpPr>
          <p:cNvPr id="196" name="Google Shape;196;p8"/>
          <p:cNvSpPr txBox="1"/>
          <p:nvPr/>
        </p:nvSpPr>
        <p:spPr>
          <a:xfrm>
            <a:off x="640080" y="5257800"/>
            <a:ext cx="10908792"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2200"/>
              <a:buFont typeface="Cambria"/>
              <a:buNone/>
            </a:pPr>
            <a:r>
              <a:rPr b="1" lang="en-US" sz="2200">
                <a:solidFill>
                  <a:srgbClr val="0E6B39"/>
                </a:solidFill>
                <a:latin typeface="Cambria"/>
                <a:ea typeface="Cambria"/>
                <a:cs typeface="Cambria"/>
                <a:sym typeface="Cambria"/>
              </a:rPr>
              <a:t>26,8% del dataset eran canciones repetidas</a:t>
            </a:r>
            <a:endParaRPr sz="2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sp>
        <p:nvSpPr>
          <p:cNvPr id="202" name="Google Shape;202;p11"/>
          <p:cNvSpPr txBox="1"/>
          <p:nvPr/>
        </p:nvSpPr>
        <p:spPr>
          <a:xfrm>
            <a:off x="640080" y="384048"/>
            <a:ext cx="1090879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00"/>
              <a:buFont typeface="Calibri"/>
              <a:buNone/>
            </a:pPr>
            <a:r>
              <a:rPr b="1" lang="en-US" sz="1000">
                <a:solidFill>
                  <a:srgbClr val="0E6B39"/>
                </a:solidFill>
                <a:latin typeface="Calibri"/>
                <a:ea typeface="Calibri"/>
                <a:cs typeface="Calibri"/>
                <a:sym typeface="Calibri"/>
              </a:rPr>
              <a:t>ANÁLISIS EXPLORATORIO</a:t>
            </a:r>
            <a:endParaRPr sz="1000">
              <a:solidFill>
                <a:schemeClr val="dk1"/>
              </a:solidFill>
              <a:latin typeface="Calibri"/>
              <a:ea typeface="Calibri"/>
              <a:cs typeface="Calibri"/>
              <a:sym typeface="Calibri"/>
            </a:endParaRPr>
          </a:p>
        </p:txBody>
      </p:sp>
      <p:sp>
        <p:nvSpPr>
          <p:cNvPr id="203" name="Google Shape;203;p11"/>
          <p:cNvSpPr txBox="1"/>
          <p:nvPr/>
        </p:nvSpPr>
        <p:spPr>
          <a:xfrm>
            <a:off x="640080" y="640080"/>
            <a:ext cx="1090879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2600"/>
              <a:buFont typeface="Cambria"/>
              <a:buNone/>
            </a:pPr>
            <a:r>
              <a:rPr b="1" lang="en-US" sz="2600">
                <a:solidFill>
                  <a:srgbClr val="1C1C1C"/>
                </a:solidFill>
                <a:latin typeface="Cambria"/>
                <a:ea typeface="Cambria"/>
                <a:cs typeface="Cambria"/>
                <a:sym typeface="Cambria"/>
              </a:rPr>
              <a:t>El 10,5% de las canciones tiene popularidad exactamente cero</a:t>
            </a:r>
            <a:endParaRPr sz="2600">
              <a:solidFill>
                <a:schemeClr val="dk1"/>
              </a:solidFill>
              <a:latin typeface="Calibri"/>
              <a:ea typeface="Calibri"/>
              <a:cs typeface="Calibri"/>
              <a:sym typeface="Calibri"/>
            </a:endParaRPr>
          </a:p>
        </p:txBody>
      </p:sp>
      <p:sp>
        <p:nvSpPr>
          <p:cNvPr id="204" name="Google Shape;204;p11"/>
          <p:cNvSpPr/>
          <p:nvPr/>
        </p:nvSpPr>
        <p:spPr>
          <a:xfrm>
            <a:off x="640080" y="5120640"/>
            <a:ext cx="7772400" cy="10973"/>
          </a:xfrm>
          <a:prstGeom prst="rect">
            <a:avLst/>
          </a:prstGeom>
          <a:solidFill>
            <a:srgbClr val="D6DAD8"/>
          </a:solidFill>
          <a:ln cap="flat" cmpd="sng" w="12700">
            <a:solidFill>
              <a:srgbClr val="D6DA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11"/>
          <p:cNvSpPr/>
          <p:nvPr/>
        </p:nvSpPr>
        <p:spPr>
          <a:xfrm>
            <a:off x="640080" y="2377440"/>
            <a:ext cx="127467" cy="2743200"/>
          </a:xfrm>
          <a:prstGeom prst="rect">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11"/>
          <p:cNvSpPr/>
          <p:nvPr/>
        </p:nvSpPr>
        <p:spPr>
          <a:xfrm>
            <a:off x="795528" y="4908961"/>
            <a:ext cx="127467" cy="211679"/>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11"/>
          <p:cNvSpPr/>
          <p:nvPr/>
        </p:nvSpPr>
        <p:spPr>
          <a:xfrm>
            <a:off x="950976" y="4926470"/>
            <a:ext cx="127467" cy="194170"/>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11"/>
          <p:cNvSpPr/>
          <p:nvPr/>
        </p:nvSpPr>
        <p:spPr>
          <a:xfrm>
            <a:off x="1106424" y="4912881"/>
            <a:ext cx="127467" cy="207759"/>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11"/>
          <p:cNvSpPr/>
          <p:nvPr/>
        </p:nvSpPr>
        <p:spPr>
          <a:xfrm>
            <a:off x="1261872" y="4857218"/>
            <a:ext cx="127467" cy="263422"/>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11"/>
          <p:cNvSpPr/>
          <p:nvPr/>
        </p:nvSpPr>
        <p:spPr>
          <a:xfrm>
            <a:off x="1417320" y="4731778"/>
            <a:ext cx="127467" cy="388862"/>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11"/>
          <p:cNvSpPr/>
          <p:nvPr/>
        </p:nvSpPr>
        <p:spPr>
          <a:xfrm>
            <a:off x="1572768" y="4734653"/>
            <a:ext cx="127467" cy="385987"/>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11"/>
          <p:cNvSpPr/>
          <p:nvPr/>
        </p:nvSpPr>
        <p:spPr>
          <a:xfrm>
            <a:off x="1728216" y="4824812"/>
            <a:ext cx="127467" cy="295828"/>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11"/>
          <p:cNvSpPr/>
          <p:nvPr/>
        </p:nvSpPr>
        <p:spPr>
          <a:xfrm>
            <a:off x="1883664" y="4584387"/>
            <a:ext cx="127467" cy="536253"/>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11"/>
          <p:cNvSpPr/>
          <p:nvPr/>
        </p:nvSpPr>
        <p:spPr>
          <a:xfrm>
            <a:off x="2039112" y="4328543"/>
            <a:ext cx="127467" cy="792097"/>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11"/>
          <p:cNvSpPr/>
          <p:nvPr/>
        </p:nvSpPr>
        <p:spPr>
          <a:xfrm>
            <a:off x="2194560" y="3989596"/>
            <a:ext cx="127467" cy="1131044"/>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11"/>
          <p:cNvSpPr/>
          <p:nvPr/>
        </p:nvSpPr>
        <p:spPr>
          <a:xfrm>
            <a:off x="2350008" y="3997697"/>
            <a:ext cx="127467" cy="1122943"/>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11"/>
          <p:cNvSpPr/>
          <p:nvPr/>
        </p:nvSpPr>
        <p:spPr>
          <a:xfrm>
            <a:off x="2505456" y="4278368"/>
            <a:ext cx="127467" cy="842272"/>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11"/>
          <p:cNvSpPr/>
          <p:nvPr/>
        </p:nvSpPr>
        <p:spPr>
          <a:xfrm>
            <a:off x="2660904" y="4360948"/>
            <a:ext cx="127467" cy="759692"/>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11"/>
          <p:cNvSpPr/>
          <p:nvPr/>
        </p:nvSpPr>
        <p:spPr>
          <a:xfrm>
            <a:off x="2816352" y="4418703"/>
            <a:ext cx="127467" cy="701937"/>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11"/>
          <p:cNvSpPr/>
          <p:nvPr/>
        </p:nvSpPr>
        <p:spPr>
          <a:xfrm>
            <a:off x="2971800" y="4522713"/>
            <a:ext cx="127467" cy="597927"/>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11"/>
          <p:cNvSpPr/>
          <p:nvPr/>
        </p:nvSpPr>
        <p:spPr>
          <a:xfrm>
            <a:off x="3127248" y="4494750"/>
            <a:ext cx="127467" cy="625890"/>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11"/>
          <p:cNvSpPr/>
          <p:nvPr/>
        </p:nvSpPr>
        <p:spPr>
          <a:xfrm>
            <a:off x="3282696" y="4457641"/>
            <a:ext cx="127467" cy="662999"/>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p11"/>
          <p:cNvSpPr/>
          <p:nvPr/>
        </p:nvSpPr>
        <p:spPr>
          <a:xfrm>
            <a:off x="3438144" y="4404591"/>
            <a:ext cx="127467" cy="716049"/>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11"/>
          <p:cNvSpPr/>
          <p:nvPr/>
        </p:nvSpPr>
        <p:spPr>
          <a:xfrm>
            <a:off x="3593592" y="4302671"/>
            <a:ext cx="127467" cy="817969"/>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11"/>
          <p:cNvSpPr/>
          <p:nvPr/>
        </p:nvSpPr>
        <p:spPr>
          <a:xfrm>
            <a:off x="3749040" y="4292741"/>
            <a:ext cx="127467" cy="827899"/>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11"/>
          <p:cNvSpPr/>
          <p:nvPr/>
        </p:nvSpPr>
        <p:spPr>
          <a:xfrm>
            <a:off x="3904488" y="4301103"/>
            <a:ext cx="127467" cy="819537"/>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11"/>
          <p:cNvSpPr/>
          <p:nvPr/>
        </p:nvSpPr>
        <p:spPr>
          <a:xfrm>
            <a:off x="4059936" y="4272618"/>
            <a:ext cx="127467" cy="848022"/>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11"/>
          <p:cNvSpPr/>
          <p:nvPr/>
        </p:nvSpPr>
        <p:spPr>
          <a:xfrm>
            <a:off x="4215384" y="4385514"/>
            <a:ext cx="127467" cy="735126"/>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11"/>
          <p:cNvSpPr/>
          <p:nvPr/>
        </p:nvSpPr>
        <p:spPr>
          <a:xfrm>
            <a:off x="4370832" y="4439609"/>
            <a:ext cx="127467" cy="681031"/>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11"/>
          <p:cNvSpPr/>
          <p:nvPr/>
        </p:nvSpPr>
        <p:spPr>
          <a:xfrm>
            <a:off x="4526280" y="4482990"/>
            <a:ext cx="127467" cy="637650"/>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11"/>
          <p:cNvSpPr/>
          <p:nvPr/>
        </p:nvSpPr>
        <p:spPr>
          <a:xfrm>
            <a:off x="4681728" y="4525587"/>
            <a:ext cx="127467" cy="595053"/>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11"/>
          <p:cNvSpPr/>
          <p:nvPr/>
        </p:nvSpPr>
        <p:spPr>
          <a:xfrm>
            <a:off x="4837176" y="4522713"/>
            <a:ext cx="127467" cy="597927"/>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11"/>
          <p:cNvSpPr/>
          <p:nvPr/>
        </p:nvSpPr>
        <p:spPr>
          <a:xfrm>
            <a:off x="4992624" y="4518009"/>
            <a:ext cx="127467" cy="602631"/>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11"/>
          <p:cNvSpPr/>
          <p:nvPr/>
        </p:nvSpPr>
        <p:spPr>
          <a:xfrm>
            <a:off x="5148072" y="4574979"/>
            <a:ext cx="127467" cy="545661"/>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11"/>
          <p:cNvSpPr/>
          <p:nvPr/>
        </p:nvSpPr>
        <p:spPr>
          <a:xfrm>
            <a:off x="5303520" y="4652072"/>
            <a:ext cx="127467" cy="468568"/>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11"/>
          <p:cNvSpPr/>
          <p:nvPr/>
        </p:nvSpPr>
        <p:spPr>
          <a:xfrm>
            <a:off x="5458968" y="4710872"/>
            <a:ext cx="127467" cy="409768"/>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11"/>
          <p:cNvSpPr/>
          <p:nvPr/>
        </p:nvSpPr>
        <p:spPr>
          <a:xfrm>
            <a:off x="5614416" y="4770978"/>
            <a:ext cx="127467" cy="349662"/>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11"/>
          <p:cNvSpPr/>
          <p:nvPr/>
        </p:nvSpPr>
        <p:spPr>
          <a:xfrm>
            <a:off x="5769864" y="4821415"/>
            <a:ext cx="127467" cy="299225"/>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11"/>
          <p:cNvSpPr/>
          <p:nvPr/>
        </p:nvSpPr>
        <p:spPr>
          <a:xfrm>
            <a:off x="5925312" y="4901905"/>
            <a:ext cx="127467" cy="218735"/>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11"/>
          <p:cNvSpPr/>
          <p:nvPr/>
        </p:nvSpPr>
        <p:spPr>
          <a:xfrm>
            <a:off x="6080760" y="4922289"/>
            <a:ext cx="127467" cy="198351"/>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11"/>
          <p:cNvSpPr/>
          <p:nvPr/>
        </p:nvSpPr>
        <p:spPr>
          <a:xfrm>
            <a:off x="6236208" y="4972204"/>
            <a:ext cx="127467" cy="148436"/>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11"/>
          <p:cNvSpPr/>
          <p:nvPr/>
        </p:nvSpPr>
        <p:spPr>
          <a:xfrm>
            <a:off x="6391656" y="4984747"/>
            <a:ext cx="127467" cy="135893"/>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11"/>
          <p:cNvSpPr/>
          <p:nvPr/>
        </p:nvSpPr>
        <p:spPr>
          <a:xfrm>
            <a:off x="6547104" y="5021857"/>
            <a:ext cx="127467" cy="98783"/>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11"/>
          <p:cNvSpPr/>
          <p:nvPr/>
        </p:nvSpPr>
        <p:spPr>
          <a:xfrm>
            <a:off x="6702552" y="5048512"/>
            <a:ext cx="127467" cy="72128"/>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11"/>
          <p:cNvSpPr/>
          <p:nvPr/>
        </p:nvSpPr>
        <p:spPr>
          <a:xfrm>
            <a:off x="6858000" y="5063670"/>
            <a:ext cx="127467" cy="56970"/>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11"/>
          <p:cNvSpPr/>
          <p:nvPr/>
        </p:nvSpPr>
        <p:spPr>
          <a:xfrm>
            <a:off x="7013448" y="5075691"/>
            <a:ext cx="127467" cy="44949"/>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11"/>
          <p:cNvSpPr/>
          <p:nvPr/>
        </p:nvSpPr>
        <p:spPr>
          <a:xfrm>
            <a:off x="7168896" y="5094507"/>
            <a:ext cx="127467" cy="26133"/>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11"/>
          <p:cNvSpPr/>
          <p:nvPr/>
        </p:nvSpPr>
        <p:spPr>
          <a:xfrm>
            <a:off x="7324344" y="5107312"/>
            <a:ext cx="127467" cy="13328"/>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11"/>
          <p:cNvSpPr/>
          <p:nvPr/>
        </p:nvSpPr>
        <p:spPr>
          <a:xfrm>
            <a:off x="7479792" y="5109141"/>
            <a:ext cx="127467" cy="11499"/>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11"/>
          <p:cNvSpPr/>
          <p:nvPr/>
        </p:nvSpPr>
        <p:spPr>
          <a:xfrm>
            <a:off x="7635240" y="5115675"/>
            <a:ext cx="127467" cy="9144"/>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1"/>
          <p:cNvSpPr/>
          <p:nvPr/>
        </p:nvSpPr>
        <p:spPr>
          <a:xfrm>
            <a:off x="7790688" y="5118027"/>
            <a:ext cx="127467" cy="9144"/>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11"/>
          <p:cNvSpPr/>
          <p:nvPr/>
        </p:nvSpPr>
        <p:spPr>
          <a:xfrm>
            <a:off x="7946136" y="5119595"/>
            <a:ext cx="127467" cy="9144"/>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11"/>
          <p:cNvSpPr/>
          <p:nvPr/>
        </p:nvSpPr>
        <p:spPr>
          <a:xfrm>
            <a:off x="8101584" y="5119333"/>
            <a:ext cx="127467" cy="9144"/>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11"/>
          <p:cNvSpPr/>
          <p:nvPr/>
        </p:nvSpPr>
        <p:spPr>
          <a:xfrm>
            <a:off x="8257032" y="5119595"/>
            <a:ext cx="127467" cy="9144"/>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11"/>
          <p:cNvSpPr txBox="1"/>
          <p:nvPr/>
        </p:nvSpPr>
        <p:spPr>
          <a:xfrm>
            <a:off x="365760" y="5212080"/>
            <a:ext cx="5486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67676"/>
              </a:buClr>
              <a:buSzPts val="1100"/>
              <a:buFont typeface="Calibri"/>
              <a:buNone/>
            </a:pPr>
            <a:r>
              <a:rPr lang="en-US" sz="1100">
                <a:solidFill>
                  <a:srgbClr val="767676"/>
                </a:solidFill>
                <a:latin typeface="Calibri"/>
                <a:ea typeface="Calibri"/>
                <a:cs typeface="Calibri"/>
                <a:sym typeface="Calibri"/>
              </a:rPr>
              <a:t>0</a:t>
            </a:r>
            <a:endParaRPr sz="1100">
              <a:solidFill>
                <a:schemeClr val="dk1"/>
              </a:solidFill>
              <a:latin typeface="Calibri"/>
              <a:ea typeface="Calibri"/>
              <a:cs typeface="Calibri"/>
              <a:sym typeface="Calibri"/>
            </a:endParaRPr>
          </a:p>
        </p:txBody>
      </p:sp>
      <p:sp>
        <p:nvSpPr>
          <p:cNvPr id="256" name="Google Shape;256;p11"/>
          <p:cNvSpPr txBox="1"/>
          <p:nvPr/>
        </p:nvSpPr>
        <p:spPr>
          <a:xfrm>
            <a:off x="2308860" y="5212080"/>
            <a:ext cx="5486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67676"/>
              </a:buClr>
              <a:buSzPts val="1100"/>
              <a:buFont typeface="Calibri"/>
              <a:buNone/>
            </a:pPr>
            <a:r>
              <a:rPr lang="en-US" sz="1100">
                <a:solidFill>
                  <a:srgbClr val="767676"/>
                </a:solidFill>
                <a:latin typeface="Calibri"/>
                <a:ea typeface="Calibri"/>
                <a:cs typeface="Calibri"/>
                <a:sym typeface="Calibri"/>
              </a:rPr>
              <a:t>25</a:t>
            </a:r>
            <a:endParaRPr sz="1100">
              <a:solidFill>
                <a:schemeClr val="dk1"/>
              </a:solidFill>
              <a:latin typeface="Calibri"/>
              <a:ea typeface="Calibri"/>
              <a:cs typeface="Calibri"/>
              <a:sym typeface="Calibri"/>
            </a:endParaRPr>
          </a:p>
        </p:txBody>
      </p:sp>
      <p:sp>
        <p:nvSpPr>
          <p:cNvPr id="257" name="Google Shape;257;p11"/>
          <p:cNvSpPr txBox="1"/>
          <p:nvPr/>
        </p:nvSpPr>
        <p:spPr>
          <a:xfrm>
            <a:off x="4251960" y="5212080"/>
            <a:ext cx="5486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67676"/>
              </a:buClr>
              <a:buSzPts val="1100"/>
              <a:buFont typeface="Calibri"/>
              <a:buNone/>
            </a:pPr>
            <a:r>
              <a:rPr lang="en-US" sz="1100">
                <a:solidFill>
                  <a:srgbClr val="767676"/>
                </a:solidFill>
                <a:latin typeface="Calibri"/>
                <a:ea typeface="Calibri"/>
                <a:cs typeface="Calibri"/>
                <a:sym typeface="Calibri"/>
              </a:rPr>
              <a:t>50</a:t>
            </a:r>
            <a:endParaRPr sz="1100">
              <a:solidFill>
                <a:schemeClr val="dk1"/>
              </a:solidFill>
              <a:latin typeface="Calibri"/>
              <a:ea typeface="Calibri"/>
              <a:cs typeface="Calibri"/>
              <a:sym typeface="Calibri"/>
            </a:endParaRPr>
          </a:p>
        </p:txBody>
      </p:sp>
      <p:sp>
        <p:nvSpPr>
          <p:cNvPr id="258" name="Google Shape;258;p11"/>
          <p:cNvSpPr txBox="1"/>
          <p:nvPr/>
        </p:nvSpPr>
        <p:spPr>
          <a:xfrm>
            <a:off x="6195060" y="5212080"/>
            <a:ext cx="5486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67676"/>
              </a:buClr>
              <a:buSzPts val="1100"/>
              <a:buFont typeface="Calibri"/>
              <a:buNone/>
            </a:pPr>
            <a:r>
              <a:rPr lang="en-US" sz="1100">
                <a:solidFill>
                  <a:srgbClr val="767676"/>
                </a:solidFill>
                <a:latin typeface="Calibri"/>
                <a:ea typeface="Calibri"/>
                <a:cs typeface="Calibri"/>
                <a:sym typeface="Calibri"/>
              </a:rPr>
              <a:t>75</a:t>
            </a:r>
            <a:endParaRPr sz="1100">
              <a:solidFill>
                <a:schemeClr val="dk1"/>
              </a:solidFill>
              <a:latin typeface="Calibri"/>
              <a:ea typeface="Calibri"/>
              <a:cs typeface="Calibri"/>
              <a:sym typeface="Calibri"/>
            </a:endParaRPr>
          </a:p>
        </p:txBody>
      </p:sp>
      <p:sp>
        <p:nvSpPr>
          <p:cNvPr id="259" name="Google Shape;259;p11"/>
          <p:cNvSpPr txBox="1"/>
          <p:nvPr/>
        </p:nvSpPr>
        <p:spPr>
          <a:xfrm>
            <a:off x="8138160" y="5212080"/>
            <a:ext cx="5486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67676"/>
              </a:buClr>
              <a:buSzPts val="1100"/>
              <a:buFont typeface="Calibri"/>
              <a:buNone/>
            </a:pPr>
            <a:r>
              <a:rPr lang="en-US" sz="1100">
                <a:solidFill>
                  <a:srgbClr val="767676"/>
                </a:solidFill>
                <a:latin typeface="Calibri"/>
                <a:ea typeface="Calibri"/>
                <a:cs typeface="Calibri"/>
                <a:sym typeface="Calibri"/>
              </a:rPr>
              <a:t>100</a:t>
            </a:r>
            <a:endParaRPr sz="1100">
              <a:solidFill>
                <a:schemeClr val="dk1"/>
              </a:solidFill>
              <a:latin typeface="Calibri"/>
              <a:ea typeface="Calibri"/>
              <a:cs typeface="Calibri"/>
              <a:sym typeface="Calibri"/>
            </a:endParaRPr>
          </a:p>
        </p:txBody>
      </p:sp>
      <p:sp>
        <p:nvSpPr>
          <p:cNvPr id="260" name="Google Shape;260;p11"/>
          <p:cNvSpPr txBox="1"/>
          <p:nvPr/>
        </p:nvSpPr>
        <p:spPr>
          <a:xfrm>
            <a:off x="640080" y="5504688"/>
            <a:ext cx="77724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FAFAF"/>
              </a:buClr>
              <a:buSzPts val="1100"/>
              <a:buFont typeface="Calibri"/>
              <a:buNone/>
            </a:pPr>
            <a:r>
              <a:rPr i="1" lang="en-US" sz="1100">
                <a:solidFill>
                  <a:srgbClr val="AFAFAF"/>
                </a:solidFill>
                <a:latin typeface="Calibri"/>
                <a:ea typeface="Calibri"/>
                <a:cs typeface="Calibri"/>
                <a:sym typeface="Calibri"/>
              </a:rPr>
              <a:t>popularity</a:t>
            </a:r>
            <a:endParaRPr sz="1100">
              <a:solidFill>
                <a:schemeClr val="dk1"/>
              </a:solidFill>
              <a:latin typeface="Calibri"/>
              <a:ea typeface="Calibri"/>
              <a:cs typeface="Calibri"/>
              <a:sym typeface="Calibri"/>
            </a:endParaRPr>
          </a:p>
        </p:txBody>
      </p:sp>
      <p:sp>
        <p:nvSpPr>
          <p:cNvPr id="261" name="Google Shape;261;p11"/>
          <p:cNvSpPr txBox="1"/>
          <p:nvPr/>
        </p:nvSpPr>
        <p:spPr>
          <a:xfrm>
            <a:off x="960120" y="2011680"/>
            <a:ext cx="2011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400"/>
              <a:buFont typeface="Calibri"/>
              <a:buNone/>
            </a:pPr>
            <a:r>
              <a:rPr b="1" lang="en-US" sz="1400">
                <a:solidFill>
                  <a:srgbClr val="0E6B39"/>
                </a:solidFill>
                <a:latin typeface="Calibri"/>
                <a:ea typeface="Calibri"/>
                <a:cs typeface="Calibri"/>
                <a:sym typeface="Calibri"/>
              </a:rPr>
              <a:t>9.413 canciones</a:t>
            </a:r>
            <a:endParaRPr sz="1400">
              <a:solidFill>
                <a:schemeClr val="dk1"/>
              </a:solidFill>
              <a:latin typeface="Calibri"/>
              <a:ea typeface="Calibri"/>
              <a:cs typeface="Calibri"/>
              <a:sym typeface="Calibri"/>
            </a:endParaRPr>
          </a:p>
        </p:txBody>
      </p:sp>
      <p:sp>
        <p:nvSpPr>
          <p:cNvPr id="262" name="Google Shape;262;p11"/>
          <p:cNvSpPr txBox="1"/>
          <p:nvPr/>
        </p:nvSpPr>
        <p:spPr>
          <a:xfrm>
            <a:off x="8961120" y="2359152"/>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050"/>
              <a:buFont typeface="Calibri"/>
              <a:buNone/>
            </a:pPr>
            <a:r>
              <a:rPr b="1" lang="en-US" sz="1050">
                <a:solidFill>
                  <a:srgbClr val="767676"/>
                </a:solidFill>
                <a:latin typeface="Calibri"/>
                <a:ea typeface="Calibri"/>
                <a:cs typeface="Calibri"/>
                <a:sym typeface="Calibri"/>
              </a:rPr>
              <a:t>DE DÓNDE VIENE</a:t>
            </a:r>
            <a:endParaRPr sz="1050">
              <a:solidFill>
                <a:schemeClr val="dk1"/>
              </a:solidFill>
              <a:latin typeface="Calibri"/>
              <a:ea typeface="Calibri"/>
              <a:cs typeface="Calibri"/>
              <a:sym typeface="Calibri"/>
            </a:endParaRPr>
          </a:p>
        </p:txBody>
      </p:sp>
      <p:sp>
        <p:nvSpPr>
          <p:cNvPr id="263" name="Google Shape;263;p11"/>
          <p:cNvSpPr txBox="1"/>
          <p:nvPr/>
        </p:nvSpPr>
        <p:spPr>
          <a:xfrm>
            <a:off x="8961120" y="2788920"/>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500"/>
              <a:buFont typeface="Calibri"/>
              <a:buNone/>
            </a:pPr>
            <a:r>
              <a:rPr b="1" lang="en-US" sz="1500">
                <a:solidFill>
                  <a:srgbClr val="1C1C1C"/>
                </a:solidFill>
                <a:latin typeface="Calibri"/>
                <a:ea typeface="Calibri"/>
                <a:cs typeface="Calibri"/>
                <a:sym typeface="Calibri"/>
              </a:rPr>
              <a:t>Música de catálogo</a:t>
            </a:r>
            <a:endParaRPr sz="1500">
              <a:solidFill>
                <a:schemeClr val="dk1"/>
              </a:solidFill>
              <a:latin typeface="Calibri"/>
              <a:ea typeface="Calibri"/>
              <a:cs typeface="Calibri"/>
              <a:sym typeface="Calibri"/>
            </a:endParaRPr>
          </a:p>
        </p:txBody>
      </p:sp>
      <p:sp>
        <p:nvSpPr>
          <p:cNvPr id="264" name="Google Shape;264;p11"/>
          <p:cNvSpPr txBox="1"/>
          <p:nvPr/>
        </p:nvSpPr>
        <p:spPr>
          <a:xfrm>
            <a:off x="8961120" y="3081528"/>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300"/>
              <a:buFont typeface="Calibri"/>
              <a:buNone/>
            </a:pPr>
            <a:r>
              <a:rPr lang="en-US" sz="1300">
                <a:solidFill>
                  <a:srgbClr val="767676"/>
                </a:solidFill>
                <a:latin typeface="Calibri"/>
                <a:ea typeface="Calibri"/>
                <a:cs typeface="Calibri"/>
                <a:sym typeface="Calibri"/>
              </a:rPr>
              <a:t>ambient, sleep, stock</a:t>
            </a:r>
            <a:endParaRPr sz="1300">
              <a:solidFill>
                <a:schemeClr val="dk1"/>
              </a:solidFill>
              <a:latin typeface="Calibri"/>
              <a:ea typeface="Calibri"/>
              <a:cs typeface="Calibri"/>
              <a:sym typeface="Calibri"/>
            </a:endParaRPr>
          </a:p>
        </p:txBody>
      </p:sp>
      <p:sp>
        <p:nvSpPr>
          <p:cNvPr id="265" name="Google Shape;265;p11"/>
          <p:cNvSpPr txBox="1"/>
          <p:nvPr/>
        </p:nvSpPr>
        <p:spPr>
          <a:xfrm>
            <a:off x="8961120" y="3703320"/>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500"/>
              <a:buFont typeface="Calibri"/>
              <a:buNone/>
            </a:pPr>
            <a:r>
              <a:rPr b="1" lang="en-US" sz="1500">
                <a:solidFill>
                  <a:srgbClr val="1C1C1C"/>
                </a:solidFill>
                <a:latin typeface="Calibri"/>
                <a:ea typeface="Calibri"/>
                <a:cs typeface="Calibri"/>
                <a:sym typeface="Calibri"/>
              </a:rPr>
              <a:t>Releases sin tracción</a:t>
            </a:r>
            <a:endParaRPr sz="1500">
              <a:solidFill>
                <a:schemeClr val="dk1"/>
              </a:solidFill>
              <a:latin typeface="Calibri"/>
              <a:ea typeface="Calibri"/>
              <a:cs typeface="Calibri"/>
              <a:sym typeface="Calibri"/>
            </a:endParaRPr>
          </a:p>
        </p:txBody>
      </p:sp>
      <p:sp>
        <p:nvSpPr>
          <p:cNvPr id="266" name="Google Shape;266;p11"/>
          <p:cNvSpPr txBox="1"/>
          <p:nvPr/>
        </p:nvSpPr>
        <p:spPr>
          <a:xfrm>
            <a:off x="8961120" y="3995928"/>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300"/>
              <a:buFont typeface="Calibri"/>
              <a:buNone/>
            </a:pPr>
            <a:r>
              <a:rPr lang="en-US" sz="1300">
                <a:solidFill>
                  <a:srgbClr val="767676"/>
                </a:solidFill>
                <a:latin typeface="Calibri"/>
                <a:ea typeface="Calibri"/>
                <a:cs typeface="Calibri"/>
                <a:sym typeface="Calibri"/>
              </a:rPr>
              <a:t>54% de estos ceros</a:t>
            </a:r>
            <a:endParaRPr sz="13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13"/>
          <p:cNvSpPr txBox="1"/>
          <p:nvPr/>
        </p:nvSpPr>
        <p:spPr>
          <a:xfrm>
            <a:off x="640080" y="384048"/>
            <a:ext cx="1090879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00"/>
              <a:buFont typeface="Calibri"/>
              <a:buNone/>
            </a:pPr>
            <a:r>
              <a:rPr b="1" lang="en-US" sz="1000">
                <a:solidFill>
                  <a:srgbClr val="0E6B39"/>
                </a:solidFill>
                <a:latin typeface="Calibri"/>
                <a:ea typeface="Calibri"/>
                <a:cs typeface="Calibri"/>
                <a:sym typeface="Calibri"/>
              </a:rPr>
              <a:t>ANÁLISIS EXPLORATORIO</a:t>
            </a:r>
            <a:endParaRPr sz="1000">
              <a:solidFill>
                <a:schemeClr val="dk1"/>
              </a:solidFill>
              <a:latin typeface="Calibri"/>
              <a:ea typeface="Calibri"/>
              <a:cs typeface="Calibri"/>
              <a:sym typeface="Calibri"/>
            </a:endParaRPr>
          </a:p>
        </p:txBody>
      </p:sp>
      <p:sp>
        <p:nvSpPr>
          <p:cNvPr id="375" name="Google Shape;375;p13"/>
          <p:cNvSpPr txBox="1"/>
          <p:nvPr/>
        </p:nvSpPr>
        <p:spPr>
          <a:xfrm>
            <a:off x="640080" y="640080"/>
            <a:ext cx="1090879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2600"/>
              <a:buFont typeface="Cambria"/>
              <a:buNone/>
            </a:pPr>
            <a:r>
              <a:rPr b="1" lang="en-US" sz="2600">
                <a:solidFill>
                  <a:srgbClr val="1C1C1C"/>
                </a:solidFill>
                <a:latin typeface="Cambria"/>
                <a:ea typeface="Cambria"/>
                <a:cs typeface="Cambria"/>
                <a:sym typeface="Cambria"/>
              </a:rPr>
              <a:t>El género es la señal más fuerte del dataset</a:t>
            </a:r>
            <a:endParaRPr sz="2600">
              <a:solidFill>
                <a:schemeClr val="dk1"/>
              </a:solidFill>
              <a:latin typeface="Calibri"/>
              <a:ea typeface="Calibri"/>
              <a:cs typeface="Calibri"/>
              <a:sym typeface="Calibri"/>
            </a:endParaRPr>
          </a:p>
        </p:txBody>
      </p:sp>
      <p:sp>
        <p:nvSpPr>
          <p:cNvPr id="376" name="Google Shape;376;p13"/>
          <p:cNvSpPr txBox="1"/>
          <p:nvPr/>
        </p:nvSpPr>
        <p:spPr>
          <a:xfrm>
            <a:off x="640080" y="1984248"/>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100"/>
              <a:buFont typeface="Calibri"/>
              <a:buNone/>
            </a:pPr>
            <a:r>
              <a:rPr i="1" lang="en-US" sz="1100">
                <a:solidFill>
                  <a:srgbClr val="767676"/>
                </a:solidFill>
                <a:latin typeface="Calibri"/>
                <a:ea typeface="Calibri"/>
                <a:cs typeface="Calibri"/>
                <a:sym typeface="Calibri"/>
              </a:rPr>
              <a:t>popularidad promedio por género</a:t>
            </a:r>
            <a:endParaRPr sz="1100">
              <a:solidFill>
                <a:schemeClr val="dk1"/>
              </a:solidFill>
              <a:latin typeface="Calibri"/>
              <a:ea typeface="Calibri"/>
              <a:cs typeface="Calibri"/>
              <a:sym typeface="Calibri"/>
            </a:endParaRPr>
          </a:p>
        </p:txBody>
      </p:sp>
      <p:sp>
        <p:nvSpPr>
          <p:cNvPr id="377" name="Google Shape;377;p13"/>
          <p:cNvSpPr/>
          <p:nvPr/>
        </p:nvSpPr>
        <p:spPr>
          <a:xfrm>
            <a:off x="2331720" y="2386584"/>
            <a:ext cx="4446361" cy="173736"/>
          </a:xfrm>
          <a:prstGeom prst="rect">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13"/>
          <p:cNvSpPr txBox="1"/>
          <p:nvPr/>
        </p:nvSpPr>
        <p:spPr>
          <a:xfrm>
            <a:off x="640080" y="2340864"/>
            <a:ext cx="1554480" cy="2651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1C1C"/>
              </a:buClr>
              <a:buSzPts val="1250"/>
              <a:buFont typeface="Calibri"/>
              <a:buNone/>
            </a:pPr>
            <a:r>
              <a:rPr lang="en-US" sz="1250">
                <a:solidFill>
                  <a:srgbClr val="1C1C1C"/>
                </a:solidFill>
                <a:latin typeface="Calibri"/>
                <a:ea typeface="Calibri"/>
                <a:cs typeface="Calibri"/>
                <a:sym typeface="Calibri"/>
              </a:rPr>
              <a:t>pop-film</a:t>
            </a:r>
            <a:endParaRPr sz="1250">
              <a:solidFill>
                <a:schemeClr val="dk1"/>
              </a:solidFill>
              <a:latin typeface="Calibri"/>
              <a:ea typeface="Calibri"/>
              <a:cs typeface="Calibri"/>
              <a:sym typeface="Calibri"/>
            </a:endParaRPr>
          </a:p>
        </p:txBody>
      </p:sp>
      <p:sp>
        <p:nvSpPr>
          <p:cNvPr id="379" name="Google Shape;379;p13"/>
          <p:cNvSpPr txBox="1"/>
          <p:nvPr/>
        </p:nvSpPr>
        <p:spPr>
          <a:xfrm>
            <a:off x="6869521" y="2340864"/>
            <a:ext cx="73152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200"/>
              <a:buFont typeface="Calibri"/>
              <a:buNone/>
            </a:pPr>
            <a:r>
              <a:rPr b="1" lang="en-US" sz="1200">
                <a:solidFill>
                  <a:srgbClr val="0E6B39"/>
                </a:solidFill>
                <a:latin typeface="Calibri"/>
                <a:ea typeface="Calibri"/>
                <a:cs typeface="Calibri"/>
                <a:sym typeface="Calibri"/>
              </a:rPr>
              <a:t>59,3</a:t>
            </a:r>
            <a:endParaRPr sz="1200">
              <a:solidFill>
                <a:schemeClr val="dk1"/>
              </a:solidFill>
              <a:latin typeface="Calibri"/>
              <a:ea typeface="Calibri"/>
              <a:cs typeface="Calibri"/>
              <a:sym typeface="Calibri"/>
            </a:endParaRPr>
          </a:p>
        </p:txBody>
      </p:sp>
      <p:sp>
        <p:nvSpPr>
          <p:cNvPr id="380" name="Google Shape;380;p13"/>
          <p:cNvSpPr/>
          <p:nvPr/>
        </p:nvSpPr>
        <p:spPr>
          <a:xfrm>
            <a:off x="2331720" y="2697480"/>
            <a:ext cx="4273906" cy="173736"/>
          </a:xfrm>
          <a:prstGeom prst="rect">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13"/>
          <p:cNvSpPr txBox="1"/>
          <p:nvPr/>
        </p:nvSpPr>
        <p:spPr>
          <a:xfrm>
            <a:off x="640080" y="2651760"/>
            <a:ext cx="1554480" cy="2651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1C1C"/>
              </a:buClr>
              <a:buSzPts val="1250"/>
              <a:buFont typeface="Calibri"/>
              <a:buNone/>
            </a:pPr>
            <a:r>
              <a:rPr lang="en-US" sz="1250">
                <a:solidFill>
                  <a:srgbClr val="1C1C1C"/>
                </a:solidFill>
                <a:latin typeface="Calibri"/>
                <a:ea typeface="Calibri"/>
                <a:cs typeface="Calibri"/>
                <a:sym typeface="Calibri"/>
              </a:rPr>
              <a:t>k-pop</a:t>
            </a:r>
            <a:endParaRPr sz="1250">
              <a:solidFill>
                <a:schemeClr val="dk1"/>
              </a:solidFill>
              <a:latin typeface="Calibri"/>
              <a:ea typeface="Calibri"/>
              <a:cs typeface="Calibri"/>
              <a:sym typeface="Calibri"/>
            </a:endParaRPr>
          </a:p>
        </p:txBody>
      </p:sp>
      <p:sp>
        <p:nvSpPr>
          <p:cNvPr id="382" name="Google Shape;382;p13"/>
          <p:cNvSpPr txBox="1"/>
          <p:nvPr/>
        </p:nvSpPr>
        <p:spPr>
          <a:xfrm>
            <a:off x="6697066" y="2651760"/>
            <a:ext cx="73152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200"/>
              <a:buFont typeface="Calibri"/>
              <a:buNone/>
            </a:pPr>
            <a:r>
              <a:rPr b="1" lang="en-US" sz="1200">
                <a:solidFill>
                  <a:srgbClr val="0E6B39"/>
                </a:solidFill>
                <a:latin typeface="Calibri"/>
                <a:ea typeface="Calibri"/>
                <a:cs typeface="Calibri"/>
                <a:sym typeface="Calibri"/>
              </a:rPr>
              <a:t>57,0</a:t>
            </a:r>
            <a:endParaRPr sz="1200">
              <a:solidFill>
                <a:schemeClr val="dk1"/>
              </a:solidFill>
              <a:latin typeface="Calibri"/>
              <a:ea typeface="Calibri"/>
              <a:cs typeface="Calibri"/>
              <a:sym typeface="Calibri"/>
            </a:endParaRPr>
          </a:p>
        </p:txBody>
      </p:sp>
      <p:sp>
        <p:nvSpPr>
          <p:cNvPr id="383" name="Google Shape;383;p13"/>
          <p:cNvSpPr/>
          <p:nvPr/>
        </p:nvSpPr>
        <p:spPr>
          <a:xfrm>
            <a:off x="2331720" y="3008376"/>
            <a:ext cx="4026469" cy="173736"/>
          </a:xfrm>
          <a:prstGeom prst="rect">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13"/>
          <p:cNvSpPr txBox="1"/>
          <p:nvPr/>
        </p:nvSpPr>
        <p:spPr>
          <a:xfrm>
            <a:off x="640080" y="2962656"/>
            <a:ext cx="1554480" cy="2651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1C1C"/>
              </a:buClr>
              <a:buSzPts val="1250"/>
              <a:buFont typeface="Calibri"/>
              <a:buNone/>
            </a:pPr>
            <a:r>
              <a:rPr lang="en-US" sz="1250">
                <a:solidFill>
                  <a:srgbClr val="1C1C1C"/>
                </a:solidFill>
                <a:latin typeface="Calibri"/>
                <a:ea typeface="Calibri"/>
                <a:cs typeface="Calibri"/>
                <a:sym typeface="Calibri"/>
              </a:rPr>
              <a:t>chill</a:t>
            </a:r>
            <a:endParaRPr sz="1250">
              <a:solidFill>
                <a:schemeClr val="dk1"/>
              </a:solidFill>
              <a:latin typeface="Calibri"/>
              <a:ea typeface="Calibri"/>
              <a:cs typeface="Calibri"/>
              <a:sym typeface="Calibri"/>
            </a:endParaRPr>
          </a:p>
        </p:txBody>
      </p:sp>
      <p:sp>
        <p:nvSpPr>
          <p:cNvPr id="385" name="Google Shape;385;p13"/>
          <p:cNvSpPr txBox="1"/>
          <p:nvPr/>
        </p:nvSpPr>
        <p:spPr>
          <a:xfrm>
            <a:off x="6449629" y="2962656"/>
            <a:ext cx="73152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200"/>
              <a:buFont typeface="Calibri"/>
              <a:buNone/>
            </a:pPr>
            <a:r>
              <a:rPr b="1" lang="en-US" sz="1200">
                <a:solidFill>
                  <a:srgbClr val="0E6B39"/>
                </a:solidFill>
                <a:latin typeface="Calibri"/>
                <a:ea typeface="Calibri"/>
                <a:cs typeface="Calibri"/>
                <a:sym typeface="Calibri"/>
              </a:rPr>
              <a:t>53,7</a:t>
            </a:r>
            <a:endParaRPr sz="1200">
              <a:solidFill>
                <a:schemeClr val="dk1"/>
              </a:solidFill>
              <a:latin typeface="Calibri"/>
              <a:ea typeface="Calibri"/>
              <a:cs typeface="Calibri"/>
              <a:sym typeface="Calibri"/>
            </a:endParaRPr>
          </a:p>
        </p:txBody>
      </p:sp>
      <p:sp>
        <p:nvSpPr>
          <p:cNvPr id="386" name="Google Shape;386;p13"/>
          <p:cNvSpPr/>
          <p:nvPr/>
        </p:nvSpPr>
        <p:spPr>
          <a:xfrm>
            <a:off x="2331720" y="3319272"/>
            <a:ext cx="3928994" cy="173736"/>
          </a:xfrm>
          <a:prstGeom prst="rect">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13"/>
          <p:cNvSpPr txBox="1"/>
          <p:nvPr/>
        </p:nvSpPr>
        <p:spPr>
          <a:xfrm>
            <a:off x="640080" y="3273552"/>
            <a:ext cx="1554480" cy="2651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1C1C"/>
              </a:buClr>
              <a:buSzPts val="1250"/>
              <a:buFont typeface="Calibri"/>
              <a:buNone/>
            </a:pPr>
            <a:r>
              <a:rPr lang="en-US" sz="1250">
                <a:solidFill>
                  <a:srgbClr val="1C1C1C"/>
                </a:solidFill>
                <a:latin typeface="Calibri"/>
                <a:ea typeface="Calibri"/>
                <a:cs typeface="Calibri"/>
                <a:sym typeface="Calibri"/>
              </a:rPr>
              <a:t>sad</a:t>
            </a:r>
            <a:endParaRPr sz="1250">
              <a:solidFill>
                <a:schemeClr val="dk1"/>
              </a:solidFill>
              <a:latin typeface="Calibri"/>
              <a:ea typeface="Calibri"/>
              <a:cs typeface="Calibri"/>
              <a:sym typeface="Calibri"/>
            </a:endParaRPr>
          </a:p>
        </p:txBody>
      </p:sp>
      <p:sp>
        <p:nvSpPr>
          <p:cNvPr id="388" name="Google Shape;388;p13"/>
          <p:cNvSpPr txBox="1"/>
          <p:nvPr/>
        </p:nvSpPr>
        <p:spPr>
          <a:xfrm>
            <a:off x="6352154" y="3273552"/>
            <a:ext cx="73152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200"/>
              <a:buFont typeface="Calibri"/>
              <a:buNone/>
            </a:pPr>
            <a:r>
              <a:rPr b="1" lang="en-US" sz="1200">
                <a:solidFill>
                  <a:srgbClr val="0E6B39"/>
                </a:solidFill>
                <a:latin typeface="Calibri"/>
                <a:ea typeface="Calibri"/>
                <a:cs typeface="Calibri"/>
                <a:sym typeface="Calibri"/>
              </a:rPr>
              <a:t>52,4</a:t>
            </a:r>
            <a:endParaRPr sz="1200">
              <a:solidFill>
                <a:schemeClr val="dk1"/>
              </a:solidFill>
              <a:latin typeface="Calibri"/>
              <a:ea typeface="Calibri"/>
              <a:cs typeface="Calibri"/>
              <a:sym typeface="Calibri"/>
            </a:endParaRPr>
          </a:p>
        </p:txBody>
      </p:sp>
      <p:sp>
        <p:nvSpPr>
          <p:cNvPr id="389" name="Google Shape;389;p13"/>
          <p:cNvSpPr/>
          <p:nvPr/>
        </p:nvSpPr>
        <p:spPr>
          <a:xfrm>
            <a:off x="2331720" y="3630168"/>
            <a:ext cx="3591580" cy="173736"/>
          </a:xfrm>
          <a:prstGeom prst="rect">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13"/>
          <p:cNvSpPr txBox="1"/>
          <p:nvPr/>
        </p:nvSpPr>
        <p:spPr>
          <a:xfrm>
            <a:off x="640080" y="3584448"/>
            <a:ext cx="1554480" cy="2651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C1C1C"/>
              </a:buClr>
              <a:buSzPts val="1250"/>
              <a:buFont typeface="Calibri"/>
              <a:buNone/>
            </a:pPr>
            <a:r>
              <a:rPr lang="en-US" sz="1250">
                <a:solidFill>
                  <a:srgbClr val="1C1C1C"/>
                </a:solidFill>
                <a:latin typeface="Calibri"/>
                <a:ea typeface="Calibri"/>
                <a:cs typeface="Calibri"/>
                <a:sym typeface="Calibri"/>
              </a:rPr>
              <a:t>pop</a:t>
            </a:r>
            <a:endParaRPr sz="1250">
              <a:solidFill>
                <a:schemeClr val="dk1"/>
              </a:solidFill>
              <a:latin typeface="Calibri"/>
              <a:ea typeface="Calibri"/>
              <a:cs typeface="Calibri"/>
              <a:sym typeface="Calibri"/>
            </a:endParaRPr>
          </a:p>
        </p:txBody>
      </p:sp>
      <p:sp>
        <p:nvSpPr>
          <p:cNvPr id="391" name="Google Shape;391;p13"/>
          <p:cNvSpPr txBox="1"/>
          <p:nvPr/>
        </p:nvSpPr>
        <p:spPr>
          <a:xfrm>
            <a:off x="6014740" y="3584448"/>
            <a:ext cx="73152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200"/>
              <a:buFont typeface="Calibri"/>
              <a:buNone/>
            </a:pPr>
            <a:r>
              <a:rPr b="1" lang="en-US" sz="1200">
                <a:solidFill>
                  <a:srgbClr val="0E6B39"/>
                </a:solidFill>
                <a:latin typeface="Calibri"/>
                <a:ea typeface="Calibri"/>
                <a:cs typeface="Calibri"/>
                <a:sym typeface="Calibri"/>
              </a:rPr>
              <a:t>47,9</a:t>
            </a:r>
            <a:endParaRPr sz="1200">
              <a:solidFill>
                <a:schemeClr val="dk1"/>
              </a:solidFill>
              <a:latin typeface="Calibri"/>
              <a:ea typeface="Calibri"/>
              <a:cs typeface="Calibri"/>
              <a:sym typeface="Calibri"/>
            </a:endParaRPr>
          </a:p>
        </p:txBody>
      </p:sp>
      <p:sp>
        <p:nvSpPr>
          <p:cNvPr id="392" name="Google Shape;392;p13"/>
          <p:cNvSpPr txBox="1"/>
          <p:nvPr/>
        </p:nvSpPr>
        <p:spPr>
          <a:xfrm>
            <a:off x="2331720" y="3913632"/>
            <a:ext cx="3657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AFAF"/>
              </a:buClr>
              <a:buSzPts val="1100"/>
              <a:buFont typeface="Calibri"/>
              <a:buNone/>
            </a:pPr>
            <a:r>
              <a:rPr i="1" lang="en-US" sz="1100">
                <a:solidFill>
                  <a:srgbClr val="AFAFAF"/>
                </a:solidFill>
                <a:latin typeface="Calibri"/>
                <a:ea typeface="Calibri"/>
                <a:cs typeface="Calibri"/>
                <a:sym typeface="Calibri"/>
              </a:rPr>
              <a:t>· · ·  104 géneros  · · ·</a:t>
            </a:r>
            <a:endParaRPr sz="1100">
              <a:solidFill>
                <a:schemeClr val="dk1"/>
              </a:solidFill>
              <a:latin typeface="Calibri"/>
              <a:ea typeface="Calibri"/>
              <a:cs typeface="Calibri"/>
              <a:sym typeface="Calibri"/>
            </a:endParaRPr>
          </a:p>
        </p:txBody>
      </p:sp>
      <p:sp>
        <p:nvSpPr>
          <p:cNvPr id="393" name="Google Shape;393;p13"/>
          <p:cNvSpPr/>
          <p:nvPr/>
        </p:nvSpPr>
        <p:spPr>
          <a:xfrm>
            <a:off x="2331720" y="4251960"/>
            <a:ext cx="1094720" cy="173736"/>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13"/>
          <p:cNvSpPr txBox="1"/>
          <p:nvPr/>
        </p:nvSpPr>
        <p:spPr>
          <a:xfrm>
            <a:off x="640080" y="4206240"/>
            <a:ext cx="1554480" cy="2651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67676"/>
              </a:buClr>
              <a:buSzPts val="1250"/>
              <a:buFont typeface="Calibri"/>
              <a:buNone/>
            </a:pPr>
            <a:r>
              <a:rPr lang="en-US" sz="1250">
                <a:solidFill>
                  <a:srgbClr val="767676"/>
                </a:solidFill>
                <a:latin typeface="Calibri"/>
                <a:ea typeface="Calibri"/>
                <a:cs typeface="Calibri"/>
                <a:sym typeface="Calibri"/>
              </a:rPr>
              <a:t>grindcore</a:t>
            </a:r>
            <a:endParaRPr sz="1250">
              <a:solidFill>
                <a:schemeClr val="dk1"/>
              </a:solidFill>
              <a:latin typeface="Calibri"/>
              <a:ea typeface="Calibri"/>
              <a:cs typeface="Calibri"/>
              <a:sym typeface="Calibri"/>
            </a:endParaRPr>
          </a:p>
        </p:txBody>
      </p:sp>
      <p:sp>
        <p:nvSpPr>
          <p:cNvPr id="395" name="Google Shape;395;p13"/>
          <p:cNvSpPr txBox="1"/>
          <p:nvPr/>
        </p:nvSpPr>
        <p:spPr>
          <a:xfrm>
            <a:off x="3517880" y="4206240"/>
            <a:ext cx="73152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AFAF"/>
              </a:buClr>
              <a:buSzPts val="1200"/>
              <a:buFont typeface="Calibri"/>
              <a:buNone/>
            </a:pPr>
            <a:r>
              <a:rPr lang="en-US" sz="1200">
                <a:solidFill>
                  <a:srgbClr val="AFAFAF"/>
                </a:solidFill>
                <a:latin typeface="Calibri"/>
                <a:ea typeface="Calibri"/>
                <a:cs typeface="Calibri"/>
                <a:sym typeface="Calibri"/>
              </a:rPr>
              <a:t>14,6</a:t>
            </a:r>
            <a:endParaRPr sz="1200">
              <a:solidFill>
                <a:schemeClr val="dk1"/>
              </a:solidFill>
              <a:latin typeface="Calibri"/>
              <a:ea typeface="Calibri"/>
              <a:cs typeface="Calibri"/>
              <a:sym typeface="Calibri"/>
            </a:endParaRPr>
          </a:p>
        </p:txBody>
      </p:sp>
      <p:sp>
        <p:nvSpPr>
          <p:cNvPr id="396" name="Google Shape;396;p13"/>
          <p:cNvSpPr/>
          <p:nvPr/>
        </p:nvSpPr>
        <p:spPr>
          <a:xfrm>
            <a:off x="2331720" y="4562856"/>
            <a:ext cx="1012241" cy="173736"/>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13"/>
          <p:cNvSpPr txBox="1"/>
          <p:nvPr/>
        </p:nvSpPr>
        <p:spPr>
          <a:xfrm>
            <a:off x="640080" y="4517136"/>
            <a:ext cx="1554480" cy="2651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67676"/>
              </a:buClr>
              <a:buSzPts val="1250"/>
              <a:buFont typeface="Calibri"/>
              <a:buNone/>
            </a:pPr>
            <a:r>
              <a:rPr lang="en-US" sz="1250">
                <a:solidFill>
                  <a:srgbClr val="767676"/>
                </a:solidFill>
                <a:latin typeface="Calibri"/>
                <a:ea typeface="Calibri"/>
                <a:cs typeface="Calibri"/>
                <a:sym typeface="Calibri"/>
              </a:rPr>
              <a:t>classical</a:t>
            </a:r>
            <a:endParaRPr sz="1250">
              <a:solidFill>
                <a:schemeClr val="dk1"/>
              </a:solidFill>
              <a:latin typeface="Calibri"/>
              <a:ea typeface="Calibri"/>
              <a:cs typeface="Calibri"/>
              <a:sym typeface="Calibri"/>
            </a:endParaRPr>
          </a:p>
        </p:txBody>
      </p:sp>
      <p:sp>
        <p:nvSpPr>
          <p:cNvPr id="398" name="Google Shape;398;p13"/>
          <p:cNvSpPr txBox="1"/>
          <p:nvPr/>
        </p:nvSpPr>
        <p:spPr>
          <a:xfrm>
            <a:off x="3435401" y="4517136"/>
            <a:ext cx="73152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AFAF"/>
              </a:buClr>
              <a:buSzPts val="1200"/>
              <a:buFont typeface="Calibri"/>
              <a:buNone/>
            </a:pPr>
            <a:r>
              <a:rPr lang="en-US" sz="1200">
                <a:solidFill>
                  <a:srgbClr val="AFAFAF"/>
                </a:solidFill>
                <a:latin typeface="Calibri"/>
                <a:ea typeface="Calibri"/>
                <a:cs typeface="Calibri"/>
                <a:sym typeface="Calibri"/>
              </a:rPr>
              <a:t>13,5</a:t>
            </a:r>
            <a:endParaRPr sz="1200">
              <a:solidFill>
                <a:schemeClr val="dk1"/>
              </a:solidFill>
              <a:latin typeface="Calibri"/>
              <a:ea typeface="Calibri"/>
              <a:cs typeface="Calibri"/>
              <a:sym typeface="Calibri"/>
            </a:endParaRPr>
          </a:p>
        </p:txBody>
      </p:sp>
      <p:sp>
        <p:nvSpPr>
          <p:cNvPr id="399" name="Google Shape;399;p13"/>
          <p:cNvSpPr/>
          <p:nvPr/>
        </p:nvSpPr>
        <p:spPr>
          <a:xfrm>
            <a:off x="2331720" y="4873752"/>
            <a:ext cx="629839" cy="173736"/>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13"/>
          <p:cNvSpPr txBox="1"/>
          <p:nvPr/>
        </p:nvSpPr>
        <p:spPr>
          <a:xfrm>
            <a:off x="640080" y="4828032"/>
            <a:ext cx="1554480" cy="2651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67676"/>
              </a:buClr>
              <a:buSzPts val="1250"/>
              <a:buFont typeface="Calibri"/>
              <a:buNone/>
            </a:pPr>
            <a:r>
              <a:rPr lang="en-US" sz="1250">
                <a:solidFill>
                  <a:srgbClr val="767676"/>
                </a:solidFill>
                <a:latin typeface="Calibri"/>
                <a:ea typeface="Calibri"/>
                <a:cs typeface="Calibri"/>
                <a:sym typeface="Calibri"/>
              </a:rPr>
              <a:t>latin</a:t>
            </a:r>
            <a:endParaRPr sz="1250">
              <a:solidFill>
                <a:schemeClr val="dk1"/>
              </a:solidFill>
              <a:latin typeface="Calibri"/>
              <a:ea typeface="Calibri"/>
              <a:cs typeface="Calibri"/>
              <a:sym typeface="Calibri"/>
            </a:endParaRPr>
          </a:p>
        </p:txBody>
      </p:sp>
      <p:sp>
        <p:nvSpPr>
          <p:cNvPr id="401" name="Google Shape;401;p13"/>
          <p:cNvSpPr txBox="1"/>
          <p:nvPr/>
        </p:nvSpPr>
        <p:spPr>
          <a:xfrm>
            <a:off x="3052999" y="4828032"/>
            <a:ext cx="73152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AFAF"/>
              </a:buClr>
              <a:buSzPts val="1200"/>
              <a:buFont typeface="Calibri"/>
              <a:buNone/>
            </a:pPr>
            <a:r>
              <a:rPr lang="en-US" sz="1200">
                <a:solidFill>
                  <a:srgbClr val="AFAFAF"/>
                </a:solidFill>
                <a:latin typeface="Calibri"/>
                <a:ea typeface="Calibri"/>
                <a:cs typeface="Calibri"/>
                <a:sym typeface="Calibri"/>
              </a:rPr>
              <a:t>8,4</a:t>
            </a:r>
            <a:endParaRPr sz="1200">
              <a:solidFill>
                <a:schemeClr val="dk1"/>
              </a:solidFill>
              <a:latin typeface="Calibri"/>
              <a:ea typeface="Calibri"/>
              <a:cs typeface="Calibri"/>
              <a:sym typeface="Calibri"/>
            </a:endParaRPr>
          </a:p>
        </p:txBody>
      </p:sp>
      <p:sp>
        <p:nvSpPr>
          <p:cNvPr id="402" name="Google Shape;402;p13"/>
          <p:cNvSpPr/>
          <p:nvPr/>
        </p:nvSpPr>
        <p:spPr>
          <a:xfrm>
            <a:off x="2331720" y="5184648"/>
            <a:ext cx="262433" cy="173736"/>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13"/>
          <p:cNvSpPr txBox="1"/>
          <p:nvPr/>
        </p:nvSpPr>
        <p:spPr>
          <a:xfrm>
            <a:off x="640080" y="5138928"/>
            <a:ext cx="1554480" cy="2651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67676"/>
              </a:buClr>
              <a:buSzPts val="1250"/>
              <a:buFont typeface="Calibri"/>
              <a:buNone/>
            </a:pPr>
            <a:r>
              <a:rPr lang="en-US" sz="1250">
                <a:solidFill>
                  <a:srgbClr val="767676"/>
                </a:solidFill>
                <a:latin typeface="Calibri"/>
                <a:ea typeface="Calibri"/>
                <a:cs typeface="Calibri"/>
                <a:sym typeface="Calibri"/>
              </a:rPr>
              <a:t>romance</a:t>
            </a:r>
            <a:endParaRPr sz="1250">
              <a:solidFill>
                <a:schemeClr val="dk1"/>
              </a:solidFill>
              <a:latin typeface="Calibri"/>
              <a:ea typeface="Calibri"/>
              <a:cs typeface="Calibri"/>
              <a:sym typeface="Calibri"/>
            </a:endParaRPr>
          </a:p>
        </p:txBody>
      </p:sp>
      <p:sp>
        <p:nvSpPr>
          <p:cNvPr id="404" name="Google Shape;404;p13"/>
          <p:cNvSpPr txBox="1"/>
          <p:nvPr/>
        </p:nvSpPr>
        <p:spPr>
          <a:xfrm>
            <a:off x="2685593" y="5138928"/>
            <a:ext cx="73152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AFAF"/>
              </a:buClr>
              <a:buSzPts val="1200"/>
              <a:buFont typeface="Calibri"/>
              <a:buNone/>
            </a:pPr>
            <a:r>
              <a:rPr lang="en-US" sz="1200">
                <a:solidFill>
                  <a:srgbClr val="AFAFAF"/>
                </a:solidFill>
                <a:latin typeface="Calibri"/>
                <a:ea typeface="Calibri"/>
                <a:cs typeface="Calibri"/>
                <a:sym typeface="Calibri"/>
              </a:rPr>
              <a:t>3,5</a:t>
            </a:r>
            <a:endParaRPr sz="1200">
              <a:solidFill>
                <a:schemeClr val="dk1"/>
              </a:solidFill>
              <a:latin typeface="Calibri"/>
              <a:ea typeface="Calibri"/>
              <a:cs typeface="Calibri"/>
              <a:sym typeface="Calibri"/>
            </a:endParaRPr>
          </a:p>
        </p:txBody>
      </p:sp>
      <p:sp>
        <p:nvSpPr>
          <p:cNvPr id="405" name="Google Shape;405;p13"/>
          <p:cNvSpPr/>
          <p:nvPr/>
        </p:nvSpPr>
        <p:spPr>
          <a:xfrm>
            <a:off x="2331720" y="5495544"/>
            <a:ext cx="164958" cy="173736"/>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6" name="Google Shape;406;p13"/>
          <p:cNvSpPr txBox="1"/>
          <p:nvPr/>
        </p:nvSpPr>
        <p:spPr>
          <a:xfrm>
            <a:off x="640080" y="5449824"/>
            <a:ext cx="1554480" cy="26517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67676"/>
              </a:buClr>
              <a:buSzPts val="1250"/>
              <a:buFont typeface="Calibri"/>
              <a:buNone/>
            </a:pPr>
            <a:r>
              <a:rPr lang="en-US" sz="1250">
                <a:solidFill>
                  <a:srgbClr val="767676"/>
                </a:solidFill>
                <a:latin typeface="Calibri"/>
                <a:ea typeface="Calibri"/>
                <a:cs typeface="Calibri"/>
                <a:sym typeface="Calibri"/>
              </a:rPr>
              <a:t>iranian</a:t>
            </a:r>
            <a:endParaRPr sz="1250">
              <a:solidFill>
                <a:schemeClr val="dk1"/>
              </a:solidFill>
              <a:latin typeface="Calibri"/>
              <a:ea typeface="Calibri"/>
              <a:cs typeface="Calibri"/>
              <a:sym typeface="Calibri"/>
            </a:endParaRPr>
          </a:p>
        </p:txBody>
      </p:sp>
      <p:sp>
        <p:nvSpPr>
          <p:cNvPr id="407" name="Google Shape;407;p13"/>
          <p:cNvSpPr txBox="1"/>
          <p:nvPr/>
        </p:nvSpPr>
        <p:spPr>
          <a:xfrm>
            <a:off x="2588118" y="5449824"/>
            <a:ext cx="73152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AFAF"/>
              </a:buClr>
              <a:buSzPts val="1200"/>
              <a:buFont typeface="Calibri"/>
              <a:buNone/>
            </a:pPr>
            <a:r>
              <a:rPr lang="en-US" sz="1200">
                <a:solidFill>
                  <a:srgbClr val="AFAFAF"/>
                </a:solidFill>
                <a:latin typeface="Calibri"/>
                <a:ea typeface="Calibri"/>
                <a:cs typeface="Calibri"/>
                <a:sym typeface="Calibri"/>
              </a:rPr>
              <a:t>2,2</a:t>
            </a:r>
            <a:endParaRPr sz="1200">
              <a:solidFill>
                <a:schemeClr val="dk1"/>
              </a:solidFill>
              <a:latin typeface="Calibri"/>
              <a:ea typeface="Calibri"/>
              <a:cs typeface="Calibri"/>
              <a:sym typeface="Calibri"/>
            </a:endParaRPr>
          </a:p>
        </p:txBody>
      </p:sp>
      <p:sp>
        <p:nvSpPr>
          <p:cNvPr id="408" name="Google Shape;408;p13"/>
          <p:cNvSpPr/>
          <p:nvPr/>
        </p:nvSpPr>
        <p:spPr>
          <a:xfrm>
            <a:off x="7406640" y="1984248"/>
            <a:ext cx="4142232" cy="1691640"/>
          </a:xfrm>
          <a:prstGeom prst="rect">
            <a:avLst/>
          </a:prstGeom>
          <a:solidFill>
            <a:srgbClr val="0F2118"/>
          </a:solidFill>
          <a:ln cap="flat" cmpd="sng" w="12700">
            <a:solidFill>
              <a:srgbClr val="0F21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13"/>
          <p:cNvSpPr txBox="1"/>
          <p:nvPr/>
        </p:nvSpPr>
        <p:spPr>
          <a:xfrm>
            <a:off x="7772400" y="2240280"/>
            <a:ext cx="22860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A558"/>
              </a:buClr>
              <a:buSzPts val="4400"/>
              <a:buFont typeface="Cambria"/>
              <a:buNone/>
            </a:pPr>
            <a:r>
              <a:rPr b="1" lang="en-US" sz="4400">
                <a:solidFill>
                  <a:srgbClr val="18A558"/>
                </a:solidFill>
                <a:latin typeface="Cambria"/>
                <a:ea typeface="Cambria"/>
                <a:cs typeface="Cambria"/>
                <a:sym typeface="Cambria"/>
              </a:rPr>
              <a:t>0,62</a:t>
            </a:r>
            <a:endParaRPr sz="4400">
              <a:solidFill>
                <a:schemeClr val="dk1"/>
              </a:solidFill>
              <a:latin typeface="Calibri"/>
              <a:ea typeface="Calibri"/>
              <a:cs typeface="Calibri"/>
              <a:sym typeface="Calibri"/>
            </a:endParaRPr>
          </a:p>
        </p:txBody>
      </p:sp>
      <p:sp>
        <p:nvSpPr>
          <p:cNvPr id="410" name="Google Shape;410;p13"/>
          <p:cNvSpPr txBox="1"/>
          <p:nvPr/>
        </p:nvSpPr>
        <p:spPr>
          <a:xfrm>
            <a:off x="7772400" y="3063240"/>
            <a:ext cx="3474720" cy="457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A9BAB0"/>
              </a:buClr>
              <a:buSzPts val="1300"/>
              <a:buFont typeface="Calibri"/>
              <a:buNone/>
            </a:pPr>
            <a:r>
              <a:rPr lang="en-US" sz="1300">
                <a:solidFill>
                  <a:srgbClr val="A9BAB0"/>
                </a:solidFill>
                <a:latin typeface="Calibri"/>
                <a:ea typeface="Calibri"/>
                <a:cs typeface="Calibri"/>
                <a:sym typeface="Calibri"/>
              </a:rPr>
              <a:t>correlación con popularity  ·  5× el audio</a:t>
            </a:r>
            <a:endParaRPr sz="1300">
              <a:solidFill>
                <a:schemeClr val="dk1"/>
              </a:solidFill>
              <a:latin typeface="Calibri"/>
              <a:ea typeface="Calibri"/>
              <a:cs typeface="Calibri"/>
              <a:sym typeface="Calibri"/>
            </a:endParaRPr>
          </a:p>
        </p:txBody>
      </p:sp>
      <p:sp>
        <p:nvSpPr>
          <p:cNvPr id="411" name="Google Shape;411;p13"/>
          <p:cNvSpPr/>
          <p:nvPr/>
        </p:nvSpPr>
        <p:spPr>
          <a:xfrm>
            <a:off x="7406640" y="3840480"/>
            <a:ext cx="4142232" cy="1938528"/>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2" name="Google Shape;412;p13"/>
          <p:cNvSpPr txBox="1"/>
          <p:nvPr/>
        </p:nvSpPr>
        <p:spPr>
          <a:xfrm>
            <a:off x="7772400" y="4069080"/>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50"/>
              <a:buFont typeface="Calibri"/>
              <a:buNone/>
            </a:pPr>
            <a:r>
              <a:rPr b="1" lang="en-US" sz="1050">
                <a:solidFill>
                  <a:srgbClr val="C0392B"/>
                </a:solidFill>
                <a:latin typeface="Calibri"/>
                <a:ea typeface="Calibri"/>
                <a:cs typeface="Calibri"/>
                <a:sym typeface="Calibri"/>
              </a:rPr>
              <a:t>PERO</a:t>
            </a:r>
            <a:endParaRPr sz="1050">
              <a:solidFill>
                <a:schemeClr val="dk1"/>
              </a:solidFill>
              <a:latin typeface="Calibri"/>
              <a:ea typeface="Calibri"/>
              <a:cs typeface="Calibri"/>
              <a:sym typeface="Calibri"/>
            </a:endParaRPr>
          </a:p>
        </p:txBody>
      </p:sp>
      <p:sp>
        <p:nvSpPr>
          <p:cNvPr id="413" name="Google Shape;413;p13"/>
          <p:cNvSpPr txBox="1"/>
          <p:nvPr/>
        </p:nvSpPr>
        <p:spPr>
          <a:xfrm>
            <a:off x="7772400" y="4389120"/>
            <a:ext cx="3474720" cy="82296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1C1C1C"/>
              </a:buClr>
              <a:buSzPts val="1700"/>
              <a:buFont typeface="Cambria"/>
              <a:buNone/>
            </a:pPr>
            <a:r>
              <a:rPr lang="en-US" sz="1700">
                <a:solidFill>
                  <a:srgbClr val="1C1C1C"/>
                </a:solidFill>
                <a:latin typeface="Cambria"/>
                <a:ea typeface="Cambria"/>
                <a:cs typeface="Cambria"/>
                <a:sym typeface="Cambria"/>
              </a:rPr>
              <a:t>~1.000 canciones por género:</a:t>
            </a:r>
            <a:endParaRPr sz="1700">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1C1C1C"/>
              </a:buClr>
              <a:buSzPts val="1700"/>
              <a:buFont typeface="Cambria"/>
              <a:buNone/>
            </a:pPr>
            <a:r>
              <a:rPr lang="en-US" sz="1700">
                <a:solidFill>
                  <a:srgbClr val="1C1C1C"/>
                </a:solidFill>
                <a:latin typeface="Cambria"/>
                <a:ea typeface="Cambria"/>
                <a:cs typeface="Cambria"/>
                <a:sym typeface="Cambria"/>
              </a:rPr>
              <a:t>es el muestreo, no la realidad.</a:t>
            </a:r>
            <a:endParaRPr sz="17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1" name="Shape 461"/>
        <p:cNvGrpSpPr/>
        <p:nvPr/>
      </p:nvGrpSpPr>
      <p:grpSpPr>
        <a:xfrm>
          <a:off x="0" y="0"/>
          <a:ext cx="0" cy="0"/>
          <a:chOff x="0" y="0"/>
          <a:chExt cx="0" cy="0"/>
        </a:xfrm>
      </p:grpSpPr>
      <p:sp>
        <p:nvSpPr>
          <p:cNvPr id="462" name="Google Shape;462;p15"/>
          <p:cNvSpPr txBox="1"/>
          <p:nvPr/>
        </p:nvSpPr>
        <p:spPr>
          <a:xfrm>
            <a:off x="640080" y="384048"/>
            <a:ext cx="1090879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00"/>
              <a:buFont typeface="Calibri"/>
              <a:buNone/>
            </a:pPr>
            <a:r>
              <a:rPr b="1" lang="en-US" sz="1000">
                <a:solidFill>
                  <a:srgbClr val="0E6B39"/>
                </a:solidFill>
                <a:latin typeface="Calibri"/>
                <a:ea typeface="Calibri"/>
                <a:cs typeface="Calibri"/>
                <a:sym typeface="Calibri"/>
              </a:rPr>
              <a:t>PREPARACIÓN DE DATOS</a:t>
            </a:r>
            <a:endParaRPr sz="1000">
              <a:solidFill>
                <a:schemeClr val="dk1"/>
              </a:solidFill>
              <a:latin typeface="Calibri"/>
              <a:ea typeface="Calibri"/>
              <a:cs typeface="Calibri"/>
              <a:sym typeface="Calibri"/>
            </a:endParaRPr>
          </a:p>
        </p:txBody>
      </p:sp>
      <p:sp>
        <p:nvSpPr>
          <p:cNvPr id="463" name="Google Shape;463;p15"/>
          <p:cNvSpPr txBox="1"/>
          <p:nvPr/>
        </p:nvSpPr>
        <p:spPr>
          <a:xfrm>
            <a:off x="640080" y="640080"/>
            <a:ext cx="1090879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2600"/>
              <a:buFont typeface="Cambria"/>
              <a:buNone/>
            </a:pPr>
            <a:r>
              <a:rPr b="1" lang="en-US" sz="2600">
                <a:solidFill>
                  <a:srgbClr val="1C1C1C"/>
                </a:solidFill>
                <a:latin typeface="Cambria"/>
                <a:ea typeface="Cambria"/>
                <a:cs typeface="Cambria"/>
                <a:sym typeface="Cambria"/>
              </a:rPr>
              <a:t>Un pipeline reproducible, ajustado solo con entrenamiento</a:t>
            </a:r>
            <a:endParaRPr sz="2600">
              <a:solidFill>
                <a:schemeClr val="dk1"/>
              </a:solidFill>
              <a:latin typeface="Calibri"/>
              <a:ea typeface="Calibri"/>
              <a:cs typeface="Calibri"/>
              <a:sym typeface="Calibri"/>
            </a:endParaRPr>
          </a:p>
        </p:txBody>
      </p:sp>
      <p:sp>
        <p:nvSpPr>
          <p:cNvPr id="464" name="Google Shape;464;p15"/>
          <p:cNvSpPr txBox="1"/>
          <p:nvPr/>
        </p:nvSpPr>
        <p:spPr>
          <a:xfrm>
            <a:off x="640080" y="1965960"/>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50"/>
              <a:buFont typeface="Calibri"/>
              <a:buNone/>
            </a:pPr>
            <a:r>
              <a:rPr b="1" lang="en-US" sz="1050">
                <a:solidFill>
                  <a:srgbClr val="0E6B39"/>
                </a:solidFill>
                <a:latin typeface="Calibri"/>
                <a:ea typeface="Calibri"/>
                <a:cs typeface="Calibri"/>
                <a:sym typeface="Calibri"/>
              </a:rPr>
              <a:t>11 NUMÉRICAS</a:t>
            </a:r>
            <a:endParaRPr sz="1050">
              <a:solidFill>
                <a:schemeClr val="dk1"/>
              </a:solidFill>
              <a:latin typeface="Calibri"/>
              <a:ea typeface="Calibri"/>
              <a:cs typeface="Calibri"/>
              <a:sym typeface="Calibri"/>
            </a:endParaRPr>
          </a:p>
        </p:txBody>
      </p:sp>
      <p:sp>
        <p:nvSpPr>
          <p:cNvPr id="465" name="Google Shape;465;p15"/>
          <p:cNvSpPr/>
          <p:nvPr/>
        </p:nvSpPr>
        <p:spPr>
          <a:xfrm>
            <a:off x="640080" y="2313432"/>
            <a:ext cx="3200400" cy="475488"/>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15"/>
          <p:cNvSpPr txBox="1"/>
          <p:nvPr/>
        </p:nvSpPr>
        <p:spPr>
          <a:xfrm>
            <a:off x="868680" y="2432304"/>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400"/>
              <a:buFont typeface="Calibri"/>
              <a:buNone/>
            </a:pPr>
            <a:r>
              <a:rPr b="1" lang="en-US" sz="1400">
                <a:solidFill>
                  <a:srgbClr val="1C1C1C"/>
                </a:solidFill>
                <a:latin typeface="Calibri"/>
                <a:ea typeface="Calibri"/>
                <a:cs typeface="Calibri"/>
                <a:sym typeface="Calibri"/>
              </a:rPr>
              <a:t>Winsorizer</a:t>
            </a:r>
            <a:endParaRPr sz="1400">
              <a:solidFill>
                <a:schemeClr val="dk1"/>
              </a:solidFill>
              <a:latin typeface="Calibri"/>
              <a:ea typeface="Calibri"/>
              <a:cs typeface="Calibri"/>
              <a:sym typeface="Calibri"/>
            </a:endParaRPr>
          </a:p>
        </p:txBody>
      </p:sp>
      <p:sp>
        <p:nvSpPr>
          <p:cNvPr id="467" name="Google Shape;467;p15"/>
          <p:cNvSpPr/>
          <p:nvPr/>
        </p:nvSpPr>
        <p:spPr>
          <a:xfrm>
            <a:off x="2226564" y="2798064"/>
            <a:ext cx="27432" cy="118872"/>
          </a:xfrm>
          <a:prstGeom prst="rect">
            <a:avLst/>
          </a:prstGeom>
          <a:solidFill>
            <a:srgbClr val="AFAFAF"/>
          </a:solidFill>
          <a:ln cap="flat" cmpd="sng" w="12700">
            <a:solidFill>
              <a:srgbClr val="AFAFA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8" name="Google Shape;468;p15"/>
          <p:cNvSpPr/>
          <p:nvPr/>
        </p:nvSpPr>
        <p:spPr>
          <a:xfrm>
            <a:off x="640080" y="2916936"/>
            <a:ext cx="3200400" cy="475488"/>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15"/>
          <p:cNvSpPr txBox="1"/>
          <p:nvPr/>
        </p:nvSpPr>
        <p:spPr>
          <a:xfrm>
            <a:off x="868680" y="3035808"/>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400"/>
              <a:buFont typeface="Calibri"/>
              <a:buNone/>
            </a:pPr>
            <a:r>
              <a:rPr b="1" lang="en-US" sz="1400">
                <a:solidFill>
                  <a:srgbClr val="1C1C1C"/>
                </a:solidFill>
                <a:latin typeface="Calibri"/>
                <a:ea typeface="Calibri"/>
                <a:cs typeface="Calibri"/>
                <a:sym typeface="Calibri"/>
              </a:rPr>
              <a:t>SimpleImputer</a:t>
            </a:r>
            <a:endParaRPr sz="1400">
              <a:solidFill>
                <a:schemeClr val="dk1"/>
              </a:solidFill>
              <a:latin typeface="Calibri"/>
              <a:ea typeface="Calibri"/>
              <a:cs typeface="Calibri"/>
              <a:sym typeface="Calibri"/>
            </a:endParaRPr>
          </a:p>
        </p:txBody>
      </p:sp>
      <p:sp>
        <p:nvSpPr>
          <p:cNvPr id="470" name="Google Shape;470;p15"/>
          <p:cNvSpPr/>
          <p:nvPr/>
        </p:nvSpPr>
        <p:spPr>
          <a:xfrm>
            <a:off x="2226564" y="3401568"/>
            <a:ext cx="27432" cy="118872"/>
          </a:xfrm>
          <a:prstGeom prst="rect">
            <a:avLst/>
          </a:prstGeom>
          <a:solidFill>
            <a:srgbClr val="AFAFAF"/>
          </a:solidFill>
          <a:ln cap="flat" cmpd="sng" w="12700">
            <a:solidFill>
              <a:srgbClr val="AFAFA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15"/>
          <p:cNvSpPr/>
          <p:nvPr/>
        </p:nvSpPr>
        <p:spPr>
          <a:xfrm>
            <a:off x="640080" y="3520440"/>
            <a:ext cx="3200400" cy="475488"/>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15"/>
          <p:cNvSpPr txBox="1"/>
          <p:nvPr/>
        </p:nvSpPr>
        <p:spPr>
          <a:xfrm>
            <a:off x="868680" y="3639312"/>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400"/>
              <a:buFont typeface="Calibri"/>
              <a:buNone/>
            </a:pPr>
            <a:r>
              <a:rPr b="1" lang="en-US" sz="1400">
                <a:solidFill>
                  <a:srgbClr val="1C1C1C"/>
                </a:solidFill>
                <a:latin typeface="Calibri"/>
                <a:ea typeface="Calibri"/>
                <a:cs typeface="Calibri"/>
                <a:sym typeface="Calibri"/>
              </a:rPr>
              <a:t>StandardScaler</a:t>
            </a:r>
            <a:endParaRPr sz="1400">
              <a:solidFill>
                <a:schemeClr val="dk1"/>
              </a:solidFill>
              <a:latin typeface="Calibri"/>
              <a:ea typeface="Calibri"/>
              <a:cs typeface="Calibri"/>
              <a:sym typeface="Calibri"/>
            </a:endParaRPr>
          </a:p>
        </p:txBody>
      </p:sp>
      <p:sp>
        <p:nvSpPr>
          <p:cNvPr id="473" name="Google Shape;473;p15"/>
          <p:cNvSpPr txBox="1"/>
          <p:nvPr/>
        </p:nvSpPr>
        <p:spPr>
          <a:xfrm>
            <a:off x="4133088" y="1965960"/>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50"/>
              <a:buFont typeface="Calibri"/>
              <a:buNone/>
            </a:pPr>
            <a:r>
              <a:rPr b="1" lang="en-US" sz="1050">
                <a:solidFill>
                  <a:srgbClr val="0E6B39"/>
                </a:solidFill>
                <a:latin typeface="Calibri"/>
                <a:ea typeface="Calibri"/>
                <a:cs typeface="Calibri"/>
                <a:sym typeface="Calibri"/>
              </a:rPr>
              <a:t>5 CATEGÓRICAS</a:t>
            </a:r>
            <a:endParaRPr sz="1050">
              <a:solidFill>
                <a:schemeClr val="dk1"/>
              </a:solidFill>
              <a:latin typeface="Calibri"/>
              <a:ea typeface="Calibri"/>
              <a:cs typeface="Calibri"/>
              <a:sym typeface="Calibri"/>
            </a:endParaRPr>
          </a:p>
        </p:txBody>
      </p:sp>
      <p:sp>
        <p:nvSpPr>
          <p:cNvPr id="474" name="Google Shape;474;p15"/>
          <p:cNvSpPr/>
          <p:nvPr/>
        </p:nvSpPr>
        <p:spPr>
          <a:xfrm>
            <a:off x="4133088" y="2313432"/>
            <a:ext cx="3200400" cy="475488"/>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15"/>
          <p:cNvSpPr txBox="1"/>
          <p:nvPr/>
        </p:nvSpPr>
        <p:spPr>
          <a:xfrm>
            <a:off x="4361688" y="2432304"/>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400"/>
              <a:buFont typeface="Calibri"/>
              <a:buNone/>
            </a:pPr>
            <a:r>
              <a:rPr b="1" lang="en-US" sz="1400">
                <a:solidFill>
                  <a:srgbClr val="1C1C1C"/>
                </a:solidFill>
                <a:latin typeface="Calibri"/>
                <a:ea typeface="Calibri"/>
                <a:cs typeface="Calibri"/>
                <a:sym typeface="Calibri"/>
              </a:rPr>
              <a:t>SimpleImputer</a:t>
            </a:r>
            <a:endParaRPr sz="1400">
              <a:solidFill>
                <a:schemeClr val="dk1"/>
              </a:solidFill>
              <a:latin typeface="Calibri"/>
              <a:ea typeface="Calibri"/>
              <a:cs typeface="Calibri"/>
              <a:sym typeface="Calibri"/>
            </a:endParaRPr>
          </a:p>
        </p:txBody>
      </p:sp>
      <p:sp>
        <p:nvSpPr>
          <p:cNvPr id="476" name="Google Shape;476;p15"/>
          <p:cNvSpPr/>
          <p:nvPr/>
        </p:nvSpPr>
        <p:spPr>
          <a:xfrm>
            <a:off x="5719572" y="2798064"/>
            <a:ext cx="27432" cy="118872"/>
          </a:xfrm>
          <a:prstGeom prst="rect">
            <a:avLst/>
          </a:prstGeom>
          <a:solidFill>
            <a:srgbClr val="AFAFAF"/>
          </a:solidFill>
          <a:ln cap="flat" cmpd="sng" w="12700">
            <a:solidFill>
              <a:srgbClr val="AFAFA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15"/>
          <p:cNvSpPr/>
          <p:nvPr/>
        </p:nvSpPr>
        <p:spPr>
          <a:xfrm>
            <a:off x="4133088" y="2916936"/>
            <a:ext cx="3200400" cy="475488"/>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15"/>
          <p:cNvSpPr txBox="1"/>
          <p:nvPr/>
        </p:nvSpPr>
        <p:spPr>
          <a:xfrm>
            <a:off x="4361688" y="3035808"/>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400"/>
              <a:buFont typeface="Calibri"/>
              <a:buNone/>
            </a:pPr>
            <a:r>
              <a:rPr b="1" lang="en-US" sz="1400">
                <a:solidFill>
                  <a:srgbClr val="1C1C1C"/>
                </a:solidFill>
                <a:latin typeface="Calibri"/>
                <a:ea typeface="Calibri"/>
                <a:cs typeface="Calibri"/>
                <a:sym typeface="Calibri"/>
              </a:rPr>
              <a:t>OneHotEncoder</a:t>
            </a:r>
            <a:endParaRPr sz="1400">
              <a:solidFill>
                <a:schemeClr val="dk1"/>
              </a:solidFill>
              <a:latin typeface="Calibri"/>
              <a:ea typeface="Calibri"/>
              <a:cs typeface="Calibri"/>
              <a:sym typeface="Calibri"/>
            </a:endParaRPr>
          </a:p>
        </p:txBody>
      </p:sp>
      <p:sp>
        <p:nvSpPr>
          <p:cNvPr id="479" name="Google Shape;479;p15"/>
          <p:cNvSpPr txBox="1"/>
          <p:nvPr/>
        </p:nvSpPr>
        <p:spPr>
          <a:xfrm>
            <a:off x="7626096" y="1965960"/>
            <a:ext cx="3200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50"/>
              <a:buFont typeface="Calibri"/>
              <a:buNone/>
            </a:pPr>
            <a:r>
              <a:rPr b="1" lang="en-US" sz="1050">
                <a:solidFill>
                  <a:srgbClr val="0E6B39"/>
                </a:solidFill>
                <a:latin typeface="Calibri"/>
                <a:ea typeface="Calibri"/>
                <a:cs typeface="Calibri"/>
                <a:sym typeface="Calibri"/>
              </a:rPr>
              <a:t>1 GÉNERO</a:t>
            </a:r>
            <a:endParaRPr sz="1050">
              <a:solidFill>
                <a:schemeClr val="dk1"/>
              </a:solidFill>
              <a:latin typeface="Calibri"/>
              <a:ea typeface="Calibri"/>
              <a:cs typeface="Calibri"/>
              <a:sym typeface="Calibri"/>
            </a:endParaRPr>
          </a:p>
        </p:txBody>
      </p:sp>
      <p:sp>
        <p:nvSpPr>
          <p:cNvPr id="480" name="Google Shape;480;p15"/>
          <p:cNvSpPr/>
          <p:nvPr/>
        </p:nvSpPr>
        <p:spPr>
          <a:xfrm>
            <a:off x="7626096" y="2313432"/>
            <a:ext cx="3200400" cy="475488"/>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15"/>
          <p:cNvSpPr txBox="1"/>
          <p:nvPr/>
        </p:nvSpPr>
        <p:spPr>
          <a:xfrm>
            <a:off x="7854696" y="2432304"/>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400"/>
              <a:buFont typeface="Calibri"/>
              <a:buNone/>
            </a:pPr>
            <a:r>
              <a:rPr b="1" lang="en-US" sz="1400">
                <a:solidFill>
                  <a:srgbClr val="1C1C1C"/>
                </a:solidFill>
                <a:latin typeface="Calibri"/>
                <a:ea typeface="Calibri"/>
                <a:cs typeface="Calibri"/>
                <a:sym typeface="Calibri"/>
              </a:rPr>
              <a:t>GenreMeanEncoder</a:t>
            </a:r>
            <a:endParaRPr sz="1400">
              <a:solidFill>
                <a:schemeClr val="dk1"/>
              </a:solidFill>
              <a:latin typeface="Calibri"/>
              <a:ea typeface="Calibri"/>
              <a:cs typeface="Calibri"/>
              <a:sym typeface="Calibri"/>
            </a:endParaRPr>
          </a:p>
        </p:txBody>
      </p:sp>
      <p:sp>
        <p:nvSpPr>
          <p:cNvPr id="482" name="Google Shape;482;p15"/>
          <p:cNvSpPr/>
          <p:nvPr/>
        </p:nvSpPr>
        <p:spPr>
          <a:xfrm>
            <a:off x="9212580" y="2798064"/>
            <a:ext cx="27432" cy="118872"/>
          </a:xfrm>
          <a:prstGeom prst="rect">
            <a:avLst/>
          </a:prstGeom>
          <a:solidFill>
            <a:srgbClr val="AFAFAF"/>
          </a:solidFill>
          <a:ln cap="flat" cmpd="sng" w="12700">
            <a:solidFill>
              <a:srgbClr val="AFAFA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3" name="Google Shape;483;p15"/>
          <p:cNvSpPr/>
          <p:nvPr/>
        </p:nvSpPr>
        <p:spPr>
          <a:xfrm>
            <a:off x="7626096" y="2916936"/>
            <a:ext cx="3200400" cy="475488"/>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15"/>
          <p:cNvSpPr txBox="1"/>
          <p:nvPr/>
        </p:nvSpPr>
        <p:spPr>
          <a:xfrm>
            <a:off x="7854696" y="3035808"/>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400"/>
              <a:buFont typeface="Calibri"/>
              <a:buNone/>
            </a:pPr>
            <a:r>
              <a:rPr b="1" lang="en-US" sz="1400">
                <a:solidFill>
                  <a:srgbClr val="1C1C1C"/>
                </a:solidFill>
                <a:latin typeface="Calibri"/>
                <a:ea typeface="Calibri"/>
                <a:cs typeface="Calibri"/>
                <a:sym typeface="Calibri"/>
              </a:rPr>
              <a:t>StandardScaler</a:t>
            </a:r>
            <a:endParaRPr sz="1400">
              <a:solidFill>
                <a:schemeClr val="dk1"/>
              </a:solidFill>
              <a:latin typeface="Calibri"/>
              <a:ea typeface="Calibri"/>
              <a:cs typeface="Calibri"/>
              <a:sym typeface="Calibri"/>
            </a:endParaRPr>
          </a:p>
        </p:txBody>
      </p:sp>
      <p:sp>
        <p:nvSpPr>
          <p:cNvPr id="485" name="Google Shape;485;p15"/>
          <p:cNvSpPr/>
          <p:nvPr/>
        </p:nvSpPr>
        <p:spPr>
          <a:xfrm>
            <a:off x="640080" y="4297680"/>
            <a:ext cx="10908792" cy="548640"/>
          </a:xfrm>
          <a:prstGeom prst="rect">
            <a:avLst/>
          </a:prstGeom>
          <a:solidFill>
            <a:srgbClr val="0F2118"/>
          </a:solidFill>
          <a:ln cap="flat" cmpd="sng" w="12700">
            <a:solidFill>
              <a:srgbClr val="0F21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15"/>
          <p:cNvSpPr txBox="1"/>
          <p:nvPr/>
        </p:nvSpPr>
        <p:spPr>
          <a:xfrm>
            <a:off x="960120" y="4425696"/>
            <a:ext cx="1026871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ColumnTransformer   →   CorrelationFilter 0,9</a:t>
            </a:r>
            <a:endParaRPr sz="1500">
              <a:solidFill>
                <a:schemeClr val="dk1"/>
              </a:solidFill>
              <a:latin typeface="Calibri"/>
              <a:ea typeface="Calibri"/>
              <a:cs typeface="Calibri"/>
              <a:sym typeface="Calibri"/>
            </a:endParaRPr>
          </a:p>
        </p:txBody>
      </p:sp>
      <p:sp>
        <p:nvSpPr>
          <p:cNvPr id="487" name="Google Shape;487;p15"/>
          <p:cNvSpPr txBox="1"/>
          <p:nvPr/>
        </p:nvSpPr>
        <p:spPr>
          <a:xfrm>
            <a:off x="640080" y="5120640"/>
            <a:ext cx="3392424"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2700"/>
              <a:buFont typeface="Cambria"/>
              <a:buNone/>
            </a:pPr>
            <a:r>
              <a:rPr b="1" lang="en-US" sz="2700">
                <a:solidFill>
                  <a:srgbClr val="0E6B39"/>
                </a:solidFill>
                <a:latin typeface="Cambria"/>
                <a:ea typeface="Cambria"/>
                <a:cs typeface="Cambria"/>
                <a:sym typeface="Cambria"/>
              </a:rPr>
              <a:t>66.782 / 16.696</a:t>
            </a:r>
            <a:endParaRPr sz="2700">
              <a:solidFill>
                <a:schemeClr val="dk1"/>
              </a:solidFill>
              <a:latin typeface="Calibri"/>
              <a:ea typeface="Calibri"/>
              <a:cs typeface="Calibri"/>
              <a:sym typeface="Calibri"/>
            </a:endParaRPr>
          </a:p>
        </p:txBody>
      </p:sp>
      <p:sp>
        <p:nvSpPr>
          <p:cNvPr id="488" name="Google Shape;488;p15"/>
          <p:cNvSpPr txBox="1"/>
          <p:nvPr/>
        </p:nvSpPr>
        <p:spPr>
          <a:xfrm>
            <a:off x="640080" y="5623560"/>
            <a:ext cx="3392424"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350"/>
              <a:buFont typeface="Calibri"/>
              <a:buNone/>
            </a:pPr>
            <a:r>
              <a:rPr lang="en-US" sz="1350">
                <a:solidFill>
                  <a:srgbClr val="767676"/>
                </a:solidFill>
                <a:latin typeface="Calibri"/>
                <a:ea typeface="Calibri"/>
                <a:cs typeface="Calibri"/>
                <a:sym typeface="Calibri"/>
              </a:rPr>
              <a:t>train / test</a:t>
            </a:r>
            <a:endParaRPr sz="1350">
              <a:solidFill>
                <a:schemeClr val="dk1"/>
              </a:solidFill>
              <a:latin typeface="Calibri"/>
              <a:ea typeface="Calibri"/>
              <a:cs typeface="Calibri"/>
              <a:sym typeface="Calibri"/>
            </a:endParaRPr>
          </a:p>
        </p:txBody>
      </p:sp>
      <p:sp>
        <p:nvSpPr>
          <p:cNvPr id="489" name="Google Shape;489;p15"/>
          <p:cNvSpPr txBox="1"/>
          <p:nvPr/>
        </p:nvSpPr>
        <p:spPr>
          <a:xfrm>
            <a:off x="4398264" y="5120640"/>
            <a:ext cx="3392424"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2700"/>
              <a:buFont typeface="Cambria"/>
              <a:buNone/>
            </a:pPr>
            <a:r>
              <a:rPr b="1" lang="en-US" sz="2700">
                <a:solidFill>
                  <a:srgbClr val="0E6B39"/>
                </a:solidFill>
                <a:latin typeface="Cambria"/>
                <a:ea typeface="Cambria"/>
                <a:cs typeface="Cambria"/>
                <a:sym typeface="Cambria"/>
              </a:rPr>
              <a:t>29</a:t>
            </a:r>
            <a:endParaRPr sz="2700">
              <a:solidFill>
                <a:schemeClr val="dk1"/>
              </a:solidFill>
              <a:latin typeface="Calibri"/>
              <a:ea typeface="Calibri"/>
              <a:cs typeface="Calibri"/>
              <a:sym typeface="Calibri"/>
            </a:endParaRPr>
          </a:p>
        </p:txBody>
      </p:sp>
      <p:sp>
        <p:nvSpPr>
          <p:cNvPr id="490" name="Google Shape;490;p15"/>
          <p:cNvSpPr txBox="1"/>
          <p:nvPr/>
        </p:nvSpPr>
        <p:spPr>
          <a:xfrm>
            <a:off x="4398264" y="5623560"/>
            <a:ext cx="3392424"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350"/>
              <a:buFont typeface="Calibri"/>
              <a:buNone/>
            </a:pPr>
            <a:r>
              <a:rPr lang="en-US" sz="1350">
                <a:solidFill>
                  <a:srgbClr val="767676"/>
                </a:solidFill>
                <a:latin typeface="Calibri"/>
                <a:ea typeface="Calibri"/>
                <a:cs typeface="Calibri"/>
                <a:sym typeface="Calibri"/>
              </a:rPr>
              <a:t>columnas</a:t>
            </a:r>
            <a:endParaRPr sz="1350">
              <a:solidFill>
                <a:schemeClr val="dk1"/>
              </a:solidFill>
              <a:latin typeface="Calibri"/>
              <a:ea typeface="Calibri"/>
              <a:cs typeface="Calibri"/>
              <a:sym typeface="Calibri"/>
            </a:endParaRPr>
          </a:p>
        </p:txBody>
      </p:sp>
      <p:sp>
        <p:nvSpPr>
          <p:cNvPr id="491" name="Google Shape;491;p15"/>
          <p:cNvSpPr txBox="1"/>
          <p:nvPr/>
        </p:nvSpPr>
        <p:spPr>
          <a:xfrm>
            <a:off x="8156448" y="5120640"/>
            <a:ext cx="3392424"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2700"/>
              <a:buFont typeface="Cambria"/>
              <a:buNone/>
            </a:pPr>
            <a:r>
              <a:rPr b="1" lang="en-US" sz="2700">
                <a:solidFill>
                  <a:srgbClr val="0E6B39"/>
                </a:solidFill>
                <a:latin typeface="Cambria"/>
                <a:ea typeface="Cambria"/>
                <a:cs typeface="Cambria"/>
                <a:sym typeface="Cambria"/>
              </a:rPr>
              <a:t>0</a:t>
            </a:r>
            <a:endParaRPr sz="2700">
              <a:solidFill>
                <a:schemeClr val="dk1"/>
              </a:solidFill>
              <a:latin typeface="Calibri"/>
              <a:ea typeface="Calibri"/>
              <a:cs typeface="Calibri"/>
              <a:sym typeface="Calibri"/>
            </a:endParaRPr>
          </a:p>
        </p:txBody>
      </p:sp>
      <p:sp>
        <p:nvSpPr>
          <p:cNvPr id="492" name="Google Shape;492;p15"/>
          <p:cNvSpPr txBox="1"/>
          <p:nvPr/>
        </p:nvSpPr>
        <p:spPr>
          <a:xfrm>
            <a:off x="8156448" y="5623560"/>
            <a:ext cx="3392424"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350"/>
              <a:buFont typeface="Calibri"/>
              <a:buNone/>
            </a:pPr>
            <a:r>
              <a:rPr lang="en-US" sz="1350">
                <a:solidFill>
                  <a:srgbClr val="767676"/>
                </a:solidFill>
                <a:latin typeface="Calibri"/>
                <a:ea typeface="Calibri"/>
                <a:cs typeface="Calibri"/>
                <a:sym typeface="Calibri"/>
              </a:rPr>
              <a:t>nulos</a:t>
            </a:r>
            <a:endParaRPr sz="135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7" name="Shape 497"/>
        <p:cNvGrpSpPr/>
        <p:nvPr/>
      </p:nvGrpSpPr>
      <p:grpSpPr>
        <a:xfrm>
          <a:off x="0" y="0"/>
          <a:ext cx="0" cy="0"/>
          <a:chOff x="0" y="0"/>
          <a:chExt cx="0" cy="0"/>
        </a:xfrm>
      </p:grpSpPr>
      <p:sp>
        <p:nvSpPr>
          <p:cNvPr id="498" name="Google Shape;498;p16"/>
          <p:cNvSpPr txBox="1"/>
          <p:nvPr/>
        </p:nvSpPr>
        <p:spPr>
          <a:xfrm>
            <a:off x="640080" y="384048"/>
            <a:ext cx="1090879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00"/>
              <a:buFont typeface="Calibri"/>
              <a:buNone/>
            </a:pPr>
            <a:r>
              <a:rPr b="1" lang="en-US" sz="1000">
                <a:solidFill>
                  <a:srgbClr val="0E6B39"/>
                </a:solidFill>
                <a:latin typeface="Calibri"/>
                <a:ea typeface="Calibri"/>
                <a:cs typeface="Calibri"/>
                <a:sym typeface="Calibri"/>
              </a:rPr>
              <a:t>SESGOS, ÉTICA Y PRIVACIDAD</a:t>
            </a:r>
            <a:endParaRPr sz="1000">
              <a:solidFill>
                <a:schemeClr val="dk1"/>
              </a:solidFill>
              <a:latin typeface="Calibri"/>
              <a:ea typeface="Calibri"/>
              <a:cs typeface="Calibri"/>
              <a:sym typeface="Calibri"/>
            </a:endParaRPr>
          </a:p>
        </p:txBody>
      </p:sp>
      <p:sp>
        <p:nvSpPr>
          <p:cNvPr id="499" name="Google Shape;499;p16"/>
          <p:cNvSpPr txBox="1"/>
          <p:nvPr/>
        </p:nvSpPr>
        <p:spPr>
          <a:xfrm>
            <a:off x="640080" y="640080"/>
            <a:ext cx="1090879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2600"/>
              <a:buFont typeface="Cambria"/>
              <a:buNone/>
            </a:pPr>
            <a:r>
              <a:rPr b="1" lang="en-US" sz="2600">
                <a:solidFill>
                  <a:srgbClr val="1C1C1C"/>
                </a:solidFill>
                <a:latin typeface="Cambria"/>
                <a:ea typeface="Cambria"/>
                <a:cs typeface="Cambria"/>
                <a:sym typeface="Cambria"/>
              </a:rPr>
              <a:t>La variable más predictiva se descartó a propósito</a:t>
            </a:r>
            <a:endParaRPr sz="2600">
              <a:solidFill>
                <a:schemeClr val="dk1"/>
              </a:solidFill>
              <a:latin typeface="Calibri"/>
              <a:ea typeface="Calibri"/>
              <a:cs typeface="Calibri"/>
              <a:sym typeface="Calibri"/>
            </a:endParaRPr>
          </a:p>
        </p:txBody>
      </p:sp>
      <p:sp>
        <p:nvSpPr>
          <p:cNvPr id="500" name="Google Shape;500;p16"/>
          <p:cNvSpPr/>
          <p:nvPr/>
        </p:nvSpPr>
        <p:spPr>
          <a:xfrm>
            <a:off x="640080" y="1965960"/>
            <a:ext cx="5760720" cy="3566160"/>
          </a:xfrm>
          <a:prstGeom prst="rect">
            <a:avLst/>
          </a:prstGeom>
          <a:solidFill>
            <a:srgbClr val="0F2118"/>
          </a:solidFill>
          <a:ln cap="flat" cmpd="sng" w="12700">
            <a:solidFill>
              <a:srgbClr val="0F21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1" name="Google Shape;501;p16"/>
          <p:cNvSpPr txBox="1"/>
          <p:nvPr/>
        </p:nvSpPr>
        <p:spPr>
          <a:xfrm>
            <a:off x="1005840" y="2258568"/>
            <a:ext cx="5029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A558"/>
              </a:buClr>
              <a:buSzPts val="1050"/>
              <a:buFont typeface="Calibri"/>
              <a:buNone/>
            </a:pPr>
            <a:r>
              <a:rPr b="1" lang="en-US" sz="1050">
                <a:solidFill>
                  <a:srgbClr val="18A558"/>
                </a:solidFill>
                <a:latin typeface="Calibri"/>
                <a:ea typeface="Calibri"/>
                <a:cs typeface="Calibri"/>
                <a:sym typeface="Calibri"/>
              </a:rPr>
              <a:t>CORRELACIÓN CON POPULARITY</a:t>
            </a:r>
            <a:endParaRPr sz="1050">
              <a:solidFill>
                <a:schemeClr val="dk1"/>
              </a:solidFill>
              <a:latin typeface="Calibri"/>
              <a:ea typeface="Calibri"/>
              <a:cs typeface="Calibri"/>
              <a:sym typeface="Calibri"/>
            </a:endParaRPr>
          </a:p>
        </p:txBody>
      </p:sp>
      <p:sp>
        <p:nvSpPr>
          <p:cNvPr id="502" name="Google Shape;502;p16"/>
          <p:cNvSpPr/>
          <p:nvPr/>
        </p:nvSpPr>
        <p:spPr>
          <a:xfrm>
            <a:off x="2926080" y="2752344"/>
            <a:ext cx="2106778" cy="292608"/>
          </a:xfrm>
          <a:prstGeom prst="rect">
            <a:avLst/>
          </a:prstGeom>
          <a:solidFill>
            <a:srgbClr val="C0392B"/>
          </a:solidFill>
          <a:ln cap="flat" cmpd="sng" w="12700">
            <a:solidFill>
              <a:srgbClr val="C039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3" name="Google Shape;503;p16"/>
          <p:cNvSpPr txBox="1"/>
          <p:nvPr/>
        </p:nvSpPr>
        <p:spPr>
          <a:xfrm>
            <a:off x="1005840" y="2697480"/>
            <a:ext cx="1783080" cy="40233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album_name</a:t>
            </a:r>
            <a:endParaRPr sz="1300">
              <a:solidFill>
                <a:schemeClr val="dk1"/>
              </a:solidFill>
              <a:latin typeface="Calibri"/>
              <a:ea typeface="Calibri"/>
              <a:cs typeface="Calibri"/>
              <a:sym typeface="Calibri"/>
            </a:endParaRPr>
          </a:p>
        </p:txBody>
      </p:sp>
      <p:sp>
        <p:nvSpPr>
          <p:cNvPr id="504" name="Google Shape;504;p16"/>
          <p:cNvSpPr txBox="1"/>
          <p:nvPr/>
        </p:nvSpPr>
        <p:spPr>
          <a:xfrm>
            <a:off x="5124298" y="2697480"/>
            <a:ext cx="82296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300"/>
              <a:buFont typeface="Calibri"/>
              <a:buNone/>
            </a:pPr>
            <a:r>
              <a:rPr b="1" lang="en-US" sz="1300">
                <a:solidFill>
                  <a:srgbClr val="C0392B"/>
                </a:solidFill>
                <a:latin typeface="Calibri"/>
                <a:ea typeface="Calibri"/>
                <a:cs typeface="Calibri"/>
                <a:sym typeface="Calibri"/>
              </a:rPr>
              <a:t>0,72</a:t>
            </a:r>
            <a:endParaRPr sz="1300">
              <a:solidFill>
                <a:schemeClr val="dk1"/>
              </a:solidFill>
              <a:latin typeface="Calibri"/>
              <a:ea typeface="Calibri"/>
              <a:cs typeface="Calibri"/>
              <a:sym typeface="Calibri"/>
            </a:endParaRPr>
          </a:p>
        </p:txBody>
      </p:sp>
      <p:sp>
        <p:nvSpPr>
          <p:cNvPr id="505" name="Google Shape;505;p16"/>
          <p:cNvSpPr/>
          <p:nvPr/>
        </p:nvSpPr>
        <p:spPr>
          <a:xfrm>
            <a:off x="2926080" y="3319272"/>
            <a:ext cx="2077517" cy="292608"/>
          </a:xfrm>
          <a:prstGeom prst="rect">
            <a:avLst/>
          </a:prstGeom>
          <a:solidFill>
            <a:srgbClr val="C0392B"/>
          </a:solidFill>
          <a:ln cap="flat" cmpd="sng" w="12700">
            <a:solidFill>
              <a:srgbClr val="C039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p16"/>
          <p:cNvSpPr txBox="1"/>
          <p:nvPr/>
        </p:nvSpPr>
        <p:spPr>
          <a:xfrm>
            <a:off x="1005840" y="3264408"/>
            <a:ext cx="1783080" cy="40233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artists</a:t>
            </a:r>
            <a:endParaRPr sz="1300">
              <a:solidFill>
                <a:schemeClr val="dk1"/>
              </a:solidFill>
              <a:latin typeface="Calibri"/>
              <a:ea typeface="Calibri"/>
              <a:cs typeface="Calibri"/>
              <a:sym typeface="Calibri"/>
            </a:endParaRPr>
          </a:p>
        </p:txBody>
      </p:sp>
      <p:sp>
        <p:nvSpPr>
          <p:cNvPr id="507" name="Google Shape;507;p16"/>
          <p:cNvSpPr txBox="1"/>
          <p:nvPr/>
        </p:nvSpPr>
        <p:spPr>
          <a:xfrm>
            <a:off x="5095037" y="3264408"/>
            <a:ext cx="82296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300"/>
              <a:buFont typeface="Calibri"/>
              <a:buNone/>
            </a:pPr>
            <a:r>
              <a:rPr b="1" lang="en-US" sz="1300">
                <a:solidFill>
                  <a:srgbClr val="C0392B"/>
                </a:solidFill>
                <a:latin typeface="Calibri"/>
                <a:ea typeface="Calibri"/>
                <a:cs typeface="Calibri"/>
                <a:sym typeface="Calibri"/>
              </a:rPr>
              <a:t>0,71</a:t>
            </a:r>
            <a:endParaRPr sz="1300">
              <a:solidFill>
                <a:schemeClr val="dk1"/>
              </a:solidFill>
              <a:latin typeface="Calibri"/>
              <a:ea typeface="Calibri"/>
              <a:cs typeface="Calibri"/>
              <a:sym typeface="Calibri"/>
            </a:endParaRPr>
          </a:p>
        </p:txBody>
      </p:sp>
      <p:sp>
        <p:nvSpPr>
          <p:cNvPr id="508" name="Google Shape;508;p16"/>
          <p:cNvSpPr/>
          <p:nvPr/>
        </p:nvSpPr>
        <p:spPr>
          <a:xfrm>
            <a:off x="2926080" y="3886200"/>
            <a:ext cx="1814170" cy="292608"/>
          </a:xfrm>
          <a:prstGeom prst="rect">
            <a:avLst/>
          </a:prstGeom>
          <a:solidFill>
            <a:srgbClr val="2C4A3B"/>
          </a:solidFill>
          <a:ln cap="flat" cmpd="sng" w="12700">
            <a:solidFill>
              <a:srgbClr val="2C4A3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9" name="Google Shape;509;p16"/>
          <p:cNvSpPr txBox="1"/>
          <p:nvPr/>
        </p:nvSpPr>
        <p:spPr>
          <a:xfrm>
            <a:off x="1005840" y="3831336"/>
            <a:ext cx="1783080" cy="40233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FA69A"/>
              </a:buClr>
              <a:buSzPts val="1300"/>
              <a:buFont typeface="Calibri"/>
              <a:buNone/>
            </a:pPr>
            <a:r>
              <a:rPr lang="en-US" sz="1300">
                <a:solidFill>
                  <a:srgbClr val="8FA69A"/>
                </a:solidFill>
                <a:latin typeface="Calibri"/>
                <a:ea typeface="Calibri"/>
                <a:cs typeface="Calibri"/>
                <a:sym typeface="Calibri"/>
              </a:rPr>
              <a:t>track_genre</a:t>
            </a:r>
            <a:endParaRPr sz="1300">
              <a:solidFill>
                <a:schemeClr val="dk1"/>
              </a:solidFill>
              <a:latin typeface="Calibri"/>
              <a:ea typeface="Calibri"/>
              <a:cs typeface="Calibri"/>
              <a:sym typeface="Calibri"/>
            </a:endParaRPr>
          </a:p>
        </p:txBody>
      </p:sp>
      <p:sp>
        <p:nvSpPr>
          <p:cNvPr id="510" name="Google Shape;510;p16"/>
          <p:cNvSpPr txBox="1"/>
          <p:nvPr/>
        </p:nvSpPr>
        <p:spPr>
          <a:xfrm>
            <a:off x="4831690" y="3831336"/>
            <a:ext cx="82296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69A"/>
              </a:buClr>
              <a:buSzPts val="1300"/>
              <a:buFont typeface="Calibri"/>
              <a:buNone/>
            </a:pPr>
            <a:r>
              <a:rPr b="1" lang="en-US" sz="1300">
                <a:solidFill>
                  <a:srgbClr val="8FA69A"/>
                </a:solidFill>
                <a:latin typeface="Calibri"/>
                <a:ea typeface="Calibri"/>
                <a:cs typeface="Calibri"/>
                <a:sym typeface="Calibri"/>
              </a:rPr>
              <a:t>0,62</a:t>
            </a:r>
            <a:endParaRPr sz="1300">
              <a:solidFill>
                <a:schemeClr val="dk1"/>
              </a:solidFill>
              <a:latin typeface="Calibri"/>
              <a:ea typeface="Calibri"/>
              <a:cs typeface="Calibri"/>
              <a:sym typeface="Calibri"/>
            </a:endParaRPr>
          </a:p>
        </p:txBody>
      </p:sp>
      <p:sp>
        <p:nvSpPr>
          <p:cNvPr id="511" name="Google Shape;511;p16"/>
          <p:cNvSpPr/>
          <p:nvPr/>
        </p:nvSpPr>
        <p:spPr>
          <a:xfrm>
            <a:off x="2926080" y="4453128"/>
            <a:ext cx="380390" cy="292608"/>
          </a:xfrm>
          <a:prstGeom prst="rect">
            <a:avLst/>
          </a:prstGeom>
          <a:solidFill>
            <a:srgbClr val="2C4A3B"/>
          </a:solidFill>
          <a:ln cap="flat" cmpd="sng" w="12700">
            <a:solidFill>
              <a:srgbClr val="2C4A3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p16"/>
          <p:cNvSpPr txBox="1"/>
          <p:nvPr/>
        </p:nvSpPr>
        <p:spPr>
          <a:xfrm>
            <a:off x="1005840" y="4398264"/>
            <a:ext cx="1783080" cy="40233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FA69A"/>
              </a:buClr>
              <a:buSzPts val="1300"/>
              <a:buFont typeface="Calibri"/>
              <a:buNone/>
            </a:pPr>
            <a:r>
              <a:rPr lang="en-US" sz="1300">
                <a:solidFill>
                  <a:srgbClr val="8FA69A"/>
                </a:solidFill>
                <a:latin typeface="Calibri"/>
                <a:ea typeface="Calibri"/>
                <a:cs typeface="Calibri"/>
                <a:sym typeface="Calibri"/>
              </a:rPr>
              <a:t>mejor de audio</a:t>
            </a:r>
            <a:endParaRPr sz="1300">
              <a:solidFill>
                <a:schemeClr val="dk1"/>
              </a:solidFill>
              <a:latin typeface="Calibri"/>
              <a:ea typeface="Calibri"/>
              <a:cs typeface="Calibri"/>
              <a:sym typeface="Calibri"/>
            </a:endParaRPr>
          </a:p>
        </p:txBody>
      </p:sp>
      <p:sp>
        <p:nvSpPr>
          <p:cNvPr id="513" name="Google Shape;513;p16"/>
          <p:cNvSpPr txBox="1"/>
          <p:nvPr/>
        </p:nvSpPr>
        <p:spPr>
          <a:xfrm>
            <a:off x="3397910" y="4398264"/>
            <a:ext cx="82296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A69A"/>
              </a:buClr>
              <a:buSzPts val="1300"/>
              <a:buFont typeface="Calibri"/>
              <a:buNone/>
            </a:pPr>
            <a:r>
              <a:rPr b="1" lang="en-US" sz="1300">
                <a:solidFill>
                  <a:srgbClr val="8FA69A"/>
                </a:solidFill>
                <a:latin typeface="Calibri"/>
                <a:ea typeface="Calibri"/>
                <a:cs typeface="Calibri"/>
                <a:sym typeface="Calibri"/>
              </a:rPr>
              <a:t>0,13</a:t>
            </a:r>
            <a:endParaRPr sz="1300">
              <a:solidFill>
                <a:schemeClr val="dk1"/>
              </a:solidFill>
              <a:latin typeface="Calibri"/>
              <a:ea typeface="Calibri"/>
              <a:cs typeface="Calibri"/>
              <a:sym typeface="Calibri"/>
            </a:endParaRPr>
          </a:p>
        </p:txBody>
      </p:sp>
      <p:sp>
        <p:nvSpPr>
          <p:cNvPr id="514" name="Google Shape;514;p16"/>
          <p:cNvSpPr txBox="1"/>
          <p:nvPr/>
        </p:nvSpPr>
        <p:spPr>
          <a:xfrm>
            <a:off x="1005840" y="4892040"/>
            <a:ext cx="5029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mbria"/>
              <a:buNone/>
            </a:pPr>
            <a:r>
              <a:rPr b="1" lang="en-US" sz="1700">
                <a:solidFill>
                  <a:srgbClr val="FFFFFF"/>
                </a:solidFill>
                <a:latin typeface="Cambria"/>
                <a:ea typeface="Cambria"/>
                <a:cs typeface="Cambria"/>
                <a:sym typeface="Cambria"/>
              </a:rPr>
              <a:t>Excluidas: predicen fama, no la canción.</a:t>
            </a:r>
            <a:endParaRPr sz="1700">
              <a:solidFill>
                <a:schemeClr val="dk1"/>
              </a:solidFill>
              <a:latin typeface="Calibri"/>
              <a:ea typeface="Calibri"/>
              <a:cs typeface="Calibri"/>
              <a:sym typeface="Calibri"/>
            </a:endParaRPr>
          </a:p>
        </p:txBody>
      </p:sp>
      <p:sp>
        <p:nvSpPr>
          <p:cNvPr id="515" name="Google Shape;515;p16"/>
          <p:cNvSpPr/>
          <p:nvPr/>
        </p:nvSpPr>
        <p:spPr>
          <a:xfrm>
            <a:off x="6766560" y="1965960"/>
            <a:ext cx="4782312" cy="109728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16"/>
          <p:cNvSpPr txBox="1"/>
          <p:nvPr/>
        </p:nvSpPr>
        <p:spPr>
          <a:xfrm>
            <a:off x="7086600" y="2194560"/>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50"/>
              <a:buFont typeface="Calibri"/>
              <a:buNone/>
            </a:pPr>
            <a:r>
              <a:rPr b="1" lang="en-US" sz="1050">
                <a:solidFill>
                  <a:srgbClr val="0E6B39"/>
                </a:solidFill>
                <a:latin typeface="Calibri"/>
                <a:ea typeface="Calibri"/>
                <a:cs typeface="Calibri"/>
                <a:sym typeface="Calibri"/>
              </a:rPr>
              <a:t>PRIVACIDAD</a:t>
            </a:r>
            <a:endParaRPr sz="1050">
              <a:solidFill>
                <a:schemeClr val="dk1"/>
              </a:solidFill>
              <a:latin typeface="Calibri"/>
              <a:ea typeface="Calibri"/>
              <a:cs typeface="Calibri"/>
              <a:sym typeface="Calibri"/>
            </a:endParaRPr>
          </a:p>
        </p:txBody>
      </p:sp>
      <p:sp>
        <p:nvSpPr>
          <p:cNvPr id="517" name="Google Shape;517;p16"/>
          <p:cNvSpPr txBox="1"/>
          <p:nvPr/>
        </p:nvSpPr>
        <p:spPr>
          <a:xfrm>
            <a:off x="7086600" y="2496312"/>
            <a:ext cx="4206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500"/>
              <a:buFont typeface="Calibri"/>
              <a:buNone/>
            </a:pPr>
            <a:r>
              <a:rPr lang="en-US" sz="1500">
                <a:solidFill>
                  <a:srgbClr val="1C1C1C"/>
                </a:solidFill>
                <a:latin typeface="Calibri"/>
                <a:ea typeface="Calibri"/>
                <a:cs typeface="Calibri"/>
                <a:sym typeface="Calibri"/>
              </a:rPr>
              <a:t>Sin datos de oyentes</a:t>
            </a:r>
            <a:endParaRPr sz="1500">
              <a:solidFill>
                <a:schemeClr val="dk1"/>
              </a:solidFill>
              <a:latin typeface="Calibri"/>
              <a:ea typeface="Calibri"/>
              <a:cs typeface="Calibri"/>
              <a:sym typeface="Calibri"/>
            </a:endParaRPr>
          </a:p>
        </p:txBody>
      </p:sp>
      <p:sp>
        <p:nvSpPr>
          <p:cNvPr id="518" name="Google Shape;518;p16"/>
          <p:cNvSpPr/>
          <p:nvPr/>
        </p:nvSpPr>
        <p:spPr>
          <a:xfrm>
            <a:off x="6766560" y="3200400"/>
            <a:ext cx="4782312" cy="109728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9" name="Google Shape;519;p16"/>
          <p:cNvSpPr txBox="1"/>
          <p:nvPr/>
        </p:nvSpPr>
        <p:spPr>
          <a:xfrm>
            <a:off x="7086600" y="3429000"/>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50"/>
              <a:buFont typeface="Calibri"/>
              <a:buNone/>
            </a:pPr>
            <a:r>
              <a:rPr b="1" lang="en-US" sz="1050">
                <a:solidFill>
                  <a:srgbClr val="0E6B39"/>
                </a:solidFill>
                <a:latin typeface="Calibri"/>
                <a:ea typeface="Calibri"/>
                <a:cs typeface="Calibri"/>
                <a:sym typeface="Calibri"/>
              </a:rPr>
              <a:t>SESGO DE DISEÑO</a:t>
            </a:r>
            <a:endParaRPr sz="1050">
              <a:solidFill>
                <a:schemeClr val="dk1"/>
              </a:solidFill>
              <a:latin typeface="Calibri"/>
              <a:ea typeface="Calibri"/>
              <a:cs typeface="Calibri"/>
              <a:sym typeface="Calibri"/>
            </a:endParaRPr>
          </a:p>
        </p:txBody>
      </p:sp>
      <p:sp>
        <p:nvSpPr>
          <p:cNvPr id="520" name="Google Shape;520;p16"/>
          <p:cNvSpPr txBox="1"/>
          <p:nvPr/>
        </p:nvSpPr>
        <p:spPr>
          <a:xfrm>
            <a:off x="7086600" y="3730752"/>
            <a:ext cx="4206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500"/>
              <a:buFont typeface="Calibri"/>
              <a:buNone/>
            </a:pPr>
            <a:r>
              <a:rPr lang="en-US" sz="1500">
                <a:solidFill>
                  <a:srgbClr val="1C1C1C"/>
                </a:solidFill>
                <a:latin typeface="Calibri"/>
                <a:ea typeface="Calibri"/>
                <a:cs typeface="Calibri"/>
                <a:sym typeface="Calibri"/>
              </a:rPr>
              <a:t>El muestreo define los géneros</a:t>
            </a:r>
            <a:endParaRPr sz="1500">
              <a:solidFill>
                <a:schemeClr val="dk1"/>
              </a:solidFill>
              <a:latin typeface="Calibri"/>
              <a:ea typeface="Calibri"/>
              <a:cs typeface="Calibri"/>
              <a:sym typeface="Calibri"/>
            </a:endParaRPr>
          </a:p>
        </p:txBody>
      </p:sp>
      <p:sp>
        <p:nvSpPr>
          <p:cNvPr id="521" name="Google Shape;521;p16"/>
          <p:cNvSpPr/>
          <p:nvPr/>
        </p:nvSpPr>
        <p:spPr>
          <a:xfrm>
            <a:off x="6766560" y="4434840"/>
            <a:ext cx="4782312" cy="109728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2" name="Google Shape;522;p16"/>
          <p:cNvSpPr txBox="1"/>
          <p:nvPr/>
        </p:nvSpPr>
        <p:spPr>
          <a:xfrm>
            <a:off x="7086600" y="4663440"/>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50"/>
              <a:buFont typeface="Calibri"/>
              <a:buNone/>
            </a:pPr>
            <a:r>
              <a:rPr b="1" lang="en-US" sz="1050">
                <a:solidFill>
                  <a:srgbClr val="0E6B39"/>
                </a:solidFill>
                <a:latin typeface="Calibri"/>
                <a:ea typeface="Calibri"/>
                <a:cs typeface="Calibri"/>
                <a:sym typeface="Calibri"/>
              </a:rPr>
              <a:t>CONTEXTO DE PUBLICACIÓN</a:t>
            </a:r>
            <a:endParaRPr sz="1050">
              <a:solidFill>
                <a:schemeClr val="dk1"/>
              </a:solidFill>
              <a:latin typeface="Calibri"/>
              <a:ea typeface="Calibri"/>
              <a:cs typeface="Calibri"/>
              <a:sym typeface="Calibri"/>
            </a:endParaRPr>
          </a:p>
        </p:txBody>
      </p:sp>
      <p:sp>
        <p:nvSpPr>
          <p:cNvPr id="523" name="Google Shape;523;p16"/>
          <p:cNvSpPr txBox="1"/>
          <p:nvPr/>
        </p:nvSpPr>
        <p:spPr>
          <a:xfrm>
            <a:off x="7086600" y="4965192"/>
            <a:ext cx="4206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500"/>
              <a:buFont typeface="Calibri"/>
              <a:buNone/>
            </a:pPr>
            <a:r>
              <a:rPr lang="en-US" sz="1500">
                <a:solidFill>
                  <a:srgbClr val="1C1C1C"/>
                </a:solidFill>
                <a:latin typeface="Calibri"/>
                <a:ea typeface="Calibri"/>
                <a:cs typeface="Calibri"/>
                <a:sym typeface="Calibri"/>
              </a:rPr>
              <a:t>Techo de precisión inherente</a:t>
            </a:r>
            <a:endParaRPr sz="15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 name="Shape 150"/>
        <p:cNvGrpSpPr/>
        <p:nvPr/>
      </p:nvGrpSpPr>
      <p:grpSpPr>
        <a:xfrm>
          <a:off x="0" y="0"/>
          <a:ext cx="0" cy="0"/>
          <a:chOff x="0" y="0"/>
          <a:chExt cx="0" cy="0"/>
        </a:xfrm>
      </p:grpSpPr>
      <p:sp>
        <p:nvSpPr>
          <p:cNvPr id="151" name="Google Shape;151;p6"/>
          <p:cNvSpPr txBox="1"/>
          <p:nvPr/>
        </p:nvSpPr>
        <p:spPr>
          <a:xfrm>
            <a:off x="640080" y="384048"/>
            <a:ext cx="1090879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00"/>
              <a:buFont typeface="Calibri"/>
              <a:buNone/>
            </a:pPr>
            <a:r>
              <a:rPr b="1" lang="en-US" sz="1000">
                <a:solidFill>
                  <a:srgbClr val="0E6B39"/>
                </a:solidFill>
                <a:latin typeface="Calibri"/>
                <a:ea typeface="Calibri"/>
                <a:cs typeface="Calibri"/>
                <a:sym typeface="Calibri"/>
              </a:rPr>
              <a:t>MODELADO</a:t>
            </a:r>
            <a:endParaRPr sz="1000">
              <a:solidFill>
                <a:schemeClr val="dk1"/>
              </a:solidFill>
              <a:latin typeface="Calibri"/>
              <a:ea typeface="Calibri"/>
              <a:cs typeface="Calibri"/>
              <a:sym typeface="Calibri"/>
            </a:endParaRPr>
          </a:p>
        </p:txBody>
      </p:sp>
      <p:sp>
        <p:nvSpPr>
          <p:cNvPr id="152" name="Google Shape;152;p6"/>
          <p:cNvSpPr txBox="1"/>
          <p:nvPr/>
        </p:nvSpPr>
        <p:spPr>
          <a:xfrm>
            <a:off x="640080" y="640080"/>
            <a:ext cx="1090879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2600"/>
              <a:buFont typeface="Cambria"/>
              <a:buNone/>
            </a:pPr>
            <a:r>
              <a:rPr b="1" lang="en-US" sz="2600">
                <a:solidFill>
                  <a:srgbClr val="1C1C1C"/>
                </a:solidFill>
                <a:latin typeface="Cambria"/>
                <a:ea typeface="Cambria"/>
                <a:cs typeface="Cambria"/>
                <a:sym typeface="Cambria"/>
              </a:rPr>
              <a:t>Tres resultados cierran el ciclo de modelado</a:t>
            </a:r>
            <a:endParaRPr sz="2600">
              <a:solidFill>
                <a:schemeClr val="dk1"/>
              </a:solidFill>
              <a:latin typeface="Calibri"/>
              <a:ea typeface="Calibri"/>
              <a:cs typeface="Calibri"/>
              <a:sym typeface="Calibri"/>
            </a:endParaRPr>
          </a:p>
        </p:txBody>
      </p:sp>
      <p:sp>
        <p:nvSpPr>
          <p:cNvPr id="153" name="Google Shape;153;p6"/>
          <p:cNvSpPr txBox="1"/>
          <p:nvPr/>
        </p:nvSpPr>
        <p:spPr>
          <a:xfrm>
            <a:off x="11000232" y="6419088"/>
            <a:ext cx="54864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FAFAF"/>
              </a:buClr>
              <a:buSzPts val="900"/>
              <a:buFont typeface="Calibri"/>
              <a:buNone/>
            </a:pPr>
            <a:r>
              <a:t/>
            </a:r>
            <a:endParaRPr sz="900">
              <a:solidFill>
                <a:schemeClr val="dk1"/>
              </a:solidFill>
              <a:latin typeface="Calibri"/>
              <a:ea typeface="Calibri"/>
              <a:cs typeface="Calibri"/>
              <a:sym typeface="Calibri"/>
            </a:endParaRPr>
          </a:p>
        </p:txBody>
      </p:sp>
      <p:sp>
        <p:nvSpPr>
          <p:cNvPr id="154" name="Google Shape;154;p6"/>
          <p:cNvSpPr/>
          <p:nvPr/>
        </p:nvSpPr>
        <p:spPr>
          <a:xfrm>
            <a:off x="640080" y="1965960"/>
            <a:ext cx="3483864" cy="301752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6"/>
          <p:cNvSpPr txBox="1"/>
          <p:nvPr/>
        </p:nvSpPr>
        <p:spPr>
          <a:xfrm>
            <a:off x="1005840" y="2258568"/>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A558"/>
              </a:buClr>
              <a:buSzPts val="2600"/>
              <a:buFont typeface="Cambria"/>
              <a:buNone/>
            </a:pPr>
            <a:r>
              <a:rPr b="1" lang="en-US" sz="2600">
                <a:solidFill>
                  <a:srgbClr val="18A558"/>
                </a:solidFill>
                <a:latin typeface="Cambria"/>
                <a:ea typeface="Cambria"/>
                <a:cs typeface="Cambria"/>
                <a:sym typeface="Cambria"/>
              </a:rPr>
              <a:t>01</a:t>
            </a:r>
            <a:endParaRPr sz="2600">
              <a:solidFill>
                <a:schemeClr val="dk1"/>
              </a:solidFill>
              <a:latin typeface="Calibri"/>
              <a:ea typeface="Calibri"/>
              <a:cs typeface="Calibri"/>
              <a:sym typeface="Calibri"/>
            </a:endParaRPr>
          </a:p>
        </p:txBody>
      </p:sp>
      <p:sp>
        <p:nvSpPr>
          <p:cNvPr id="156" name="Google Shape;156;p6"/>
          <p:cNvSpPr txBox="1"/>
          <p:nvPr/>
        </p:nvSpPr>
        <p:spPr>
          <a:xfrm>
            <a:off x="1005840" y="2788920"/>
            <a:ext cx="27523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100"/>
              <a:buFont typeface="Calibri"/>
              <a:buNone/>
            </a:pPr>
            <a:r>
              <a:rPr b="1" lang="en-US" sz="1100">
                <a:solidFill>
                  <a:srgbClr val="767676"/>
                </a:solidFill>
                <a:latin typeface="Calibri"/>
                <a:ea typeface="Calibri"/>
                <a:cs typeface="Calibri"/>
                <a:sym typeface="Calibri"/>
              </a:rPr>
              <a:t>REGRESIÓN</a:t>
            </a:r>
            <a:endParaRPr sz="1100">
              <a:solidFill>
                <a:schemeClr val="dk1"/>
              </a:solidFill>
              <a:latin typeface="Calibri"/>
              <a:ea typeface="Calibri"/>
              <a:cs typeface="Calibri"/>
              <a:sym typeface="Calibri"/>
            </a:endParaRPr>
          </a:p>
        </p:txBody>
      </p:sp>
      <p:sp>
        <p:nvSpPr>
          <p:cNvPr id="157" name="Google Shape;157;p6"/>
          <p:cNvSpPr txBox="1"/>
          <p:nvPr/>
        </p:nvSpPr>
        <p:spPr>
          <a:xfrm>
            <a:off x="1005840" y="3172968"/>
            <a:ext cx="2752344"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700"/>
              <a:buFont typeface="Cambria"/>
              <a:buNone/>
            </a:pPr>
            <a:r>
              <a:rPr b="1" lang="en-US" sz="2700">
                <a:solidFill>
                  <a:srgbClr val="1C1C1C"/>
                </a:solidFill>
                <a:latin typeface="Cambria"/>
                <a:ea typeface="Cambria"/>
                <a:cs typeface="Cambria"/>
                <a:sym typeface="Cambria"/>
              </a:rPr>
              <a:t>R² = 0,44</a:t>
            </a:r>
            <a:endParaRPr sz="2700">
              <a:solidFill>
                <a:schemeClr val="dk1"/>
              </a:solidFill>
              <a:latin typeface="Calibri"/>
              <a:ea typeface="Calibri"/>
              <a:cs typeface="Calibri"/>
              <a:sym typeface="Calibri"/>
            </a:endParaRPr>
          </a:p>
        </p:txBody>
      </p:sp>
      <p:sp>
        <p:nvSpPr>
          <p:cNvPr id="158" name="Google Shape;158;p6"/>
          <p:cNvSpPr txBox="1"/>
          <p:nvPr/>
        </p:nvSpPr>
        <p:spPr>
          <a:xfrm>
            <a:off x="1005840" y="3931920"/>
            <a:ext cx="2752344"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3F4A44"/>
              </a:buClr>
              <a:buSzPts val="1500"/>
              <a:buFont typeface="Calibri"/>
              <a:buNone/>
            </a:pPr>
            <a:r>
              <a:rPr lang="en-US" sz="1500">
                <a:solidFill>
                  <a:srgbClr val="3F4A44"/>
                </a:solidFill>
                <a:latin typeface="Calibri"/>
                <a:ea typeface="Calibri"/>
                <a:cs typeface="Calibri"/>
                <a:sym typeface="Calibri"/>
              </a:rPr>
              <a:t>Sonido y género explican menos de la mitad de la varianza</a:t>
            </a:r>
            <a:endParaRPr sz="1500">
              <a:solidFill>
                <a:schemeClr val="dk1"/>
              </a:solidFill>
              <a:latin typeface="Calibri"/>
              <a:ea typeface="Calibri"/>
              <a:cs typeface="Calibri"/>
              <a:sym typeface="Calibri"/>
            </a:endParaRPr>
          </a:p>
        </p:txBody>
      </p:sp>
      <p:sp>
        <p:nvSpPr>
          <p:cNvPr id="159" name="Google Shape;159;p6"/>
          <p:cNvSpPr/>
          <p:nvPr/>
        </p:nvSpPr>
        <p:spPr>
          <a:xfrm>
            <a:off x="4352544" y="1965960"/>
            <a:ext cx="3483864" cy="301752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6"/>
          <p:cNvSpPr txBox="1"/>
          <p:nvPr/>
        </p:nvSpPr>
        <p:spPr>
          <a:xfrm>
            <a:off x="4718304" y="2258568"/>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A558"/>
              </a:buClr>
              <a:buSzPts val="2600"/>
              <a:buFont typeface="Cambria"/>
              <a:buNone/>
            </a:pPr>
            <a:r>
              <a:rPr b="1" lang="en-US" sz="2600">
                <a:solidFill>
                  <a:srgbClr val="18A558"/>
                </a:solidFill>
                <a:latin typeface="Cambria"/>
                <a:ea typeface="Cambria"/>
                <a:cs typeface="Cambria"/>
                <a:sym typeface="Cambria"/>
              </a:rPr>
              <a:t>02</a:t>
            </a:r>
            <a:endParaRPr sz="2600">
              <a:solidFill>
                <a:schemeClr val="dk1"/>
              </a:solidFill>
              <a:latin typeface="Calibri"/>
              <a:ea typeface="Calibri"/>
              <a:cs typeface="Calibri"/>
              <a:sym typeface="Calibri"/>
            </a:endParaRPr>
          </a:p>
        </p:txBody>
      </p:sp>
      <p:sp>
        <p:nvSpPr>
          <p:cNvPr id="161" name="Google Shape;161;p6"/>
          <p:cNvSpPr txBox="1"/>
          <p:nvPr/>
        </p:nvSpPr>
        <p:spPr>
          <a:xfrm>
            <a:off x="4718304" y="2788920"/>
            <a:ext cx="27523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100"/>
              <a:buFont typeface="Calibri"/>
              <a:buNone/>
            </a:pPr>
            <a:r>
              <a:rPr b="1" lang="en-US" sz="1100">
                <a:solidFill>
                  <a:srgbClr val="767676"/>
                </a:solidFill>
                <a:latin typeface="Calibri"/>
                <a:ea typeface="Calibri"/>
                <a:cs typeface="Calibri"/>
                <a:sym typeface="Calibri"/>
              </a:rPr>
              <a:t>CLASIFICACIÓN</a:t>
            </a:r>
            <a:endParaRPr sz="1100">
              <a:solidFill>
                <a:schemeClr val="dk1"/>
              </a:solidFill>
              <a:latin typeface="Calibri"/>
              <a:ea typeface="Calibri"/>
              <a:cs typeface="Calibri"/>
              <a:sym typeface="Calibri"/>
            </a:endParaRPr>
          </a:p>
        </p:txBody>
      </p:sp>
      <p:sp>
        <p:nvSpPr>
          <p:cNvPr id="162" name="Google Shape;162;p6"/>
          <p:cNvSpPr txBox="1"/>
          <p:nvPr/>
        </p:nvSpPr>
        <p:spPr>
          <a:xfrm>
            <a:off x="4718304" y="3172968"/>
            <a:ext cx="2752344"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700"/>
              <a:buFont typeface="Cambria"/>
              <a:buNone/>
            </a:pPr>
            <a:r>
              <a:rPr b="1" lang="en-US" sz="2700">
                <a:solidFill>
                  <a:srgbClr val="1C1C1C"/>
                </a:solidFill>
                <a:latin typeface="Cambria"/>
                <a:ea typeface="Cambria"/>
                <a:cs typeface="Cambria"/>
                <a:sym typeface="Cambria"/>
              </a:rPr>
              <a:t>Accuracy = 0,81</a:t>
            </a:r>
            <a:endParaRPr sz="2700">
              <a:solidFill>
                <a:schemeClr val="dk1"/>
              </a:solidFill>
              <a:latin typeface="Calibri"/>
              <a:ea typeface="Calibri"/>
              <a:cs typeface="Calibri"/>
              <a:sym typeface="Calibri"/>
            </a:endParaRPr>
          </a:p>
        </p:txBody>
      </p:sp>
      <p:sp>
        <p:nvSpPr>
          <p:cNvPr id="163" name="Google Shape;163;p6"/>
          <p:cNvSpPr txBox="1"/>
          <p:nvPr/>
        </p:nvSpPr>
        <p:spPr>
          <a:xfrm>
            <a:off x="4718304" y="3931920"/>
            <a:ext cx="2752344"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3F4A44"/>
              </a:buClr>
              <a:buSzPts val="1500"/>
              <a:buFont typeface="Calibri"/>
              <a:buNone/>
            </a:pPr>
            <a:r>
              <a:rPr lang="en-US" sz="1500">
                <a:solidFill>
                  <a:srgbClr val="3F4A44"/>
                </a:solidFill>
                <a:latin typeface="Calibri"/>
                <a:ea typeface="Calibri"/>
                <a:cs typeface="Calibri"/>
                <a:sym typeface="Calibri"/>
              </a:rPr>
              <a:t>Misma señal que la regresión, pregunta más fácil de acertar</a:t>
            </a:r>
            <a:endParaRPr sz="1500">
              <a:solidFill>
                <a:schemeClr val="dk1"/>
              </a:solidFill>
              <a:latin typeface="Calibri"/>
              <a:ea typeface="Calibri"/>
              <a:cs typeface="Calibri"/>
              <a:sym typeface="Calibri"/>
            </a:endParaRPr>
          </a:p>
        </p:txBody>
      </p:sp>
      <p:sp>
        <p:nvSpPr>
          <p:cNvPr id="164" name="Google Shape;164;p6"/>
          <p:cNvSpPr/>
          <p:nvPr/>
        </p:nvSpPr>
        <p:spPr>
          <a:xfrm>
            <a:off x="8065008" y="1965960"/>
            <a:ext cx="3483864" cy="301752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6"/>
          <p:cNvSpPr txBox="1"/>
          <p:nvPr/>
        </p:nvSpPr>
        <p:spPr>
          <a:xfrm>
            <a:off x="8430768" y="2258568"/>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A558"/>
              </a:buClr>
              <a:buSzPts val="2600"/>
              <a:buFont typeface="Cambria"/>
              <a:buNone/>
            </a:pPr>
            <a:r>
              <a:rPr b="1" lang="en-US" sz="2600">
                <a:solidFill>
                  <a:srgbClr val="18A558"/>
                </a:solidFill>
                <a:latin typeface="Cambria"/>
                <a:ea typeface="Cambria"/>
                <a:cs typeface="Cambria"/>
                <a:sym typeface="Cambria"/>
              </a:rPr>
              <a:t>03</a:t>
            </a:r>
            <a:endParaRPr sz="2600">
              <a:solidFill>
                <a:schemeClr val="dk1"/>
              </a:solidFill>
              <a:latin typeface="Calibri"/>
              <a:ea typeface="Calibri"/>
              <a:cs typeface="Calibri"/>
              <a:sym typeface="Calibri"/>
            </a:endParaRPr>
          </a:p>
        </p:txBody>
      </p:sp>
      <p:sp>
        <p:nvSpPr>
          <p:cNvPr id="166" name="Google Shape;166;p6"/>
          <p:cNvSpPr txBox="1"/>
          <p:nvPr/>
        </p:nvSpPr>
        <p:spPr>
          <a:xfrm>
            <a:off x="8430768" y="2788920"/>
            <a:ext cx="27523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100"/>
              <a:buFont typeface="Calibri"/>
              <a:buNone/>
            </a:pPr>
            <a:r>
              <a:rPr b="1" lang="en-US" sz="1100">
                <a:solidFill>
                  <a:srgbClr val="767676"/>
                </a:solidFill>
                <a:latin typeface="Calibri"/>
                <a:ea typeface="Calibri"/>
                <a:cs typeface="Calibri"/>
                <a:sym typeface="Calibri"/>
              </a:rPr>
              <a:t>CLUSTERING</a:t>
            </a:r>
            <a:endParaRPr sz="1100">
              <a:solidFill>
                <a:schemeClr val="dk1"/>
              </a:solidFill>
              <a:latin typeface="Calibri"/>
              <a:ea typeface="Calibri"/>
              <a:cs typeface="Calibri"/>
              <a:sym typeface="Calibri"/>
            </a:endParaRPr>
          </a:p>
        </p:txBody>
      </p:sp>
      <p:sp>
        <p:nvSpPr>
          <p:cNvPr id="167" name="Google Shape;167;p6"/>
          <p:cNvSpPr txBox="1"/>
          <p:nvPr/>
        </p:nvSpPr>
        <p:spPr>
          <a:xfrm>
            <a:off x="8430768" y="3172968"/>
            <a:ext cx="2752344"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700"/>
              <a:buFont typeface="Cambria"/>
              <a:buNone/>
            </a:pPr>
            <a:r>
              <a:rPr b="1" lang="en-US" sz="2700">
                <a:solidFill>
                  <a:srgbClr val="1C1C1C"/>
                </a:solidFill>
                <a:latin typeface="Cambria"/>
                <a:ea typeface="Cambria"/>
                <a:cs typeface="Cambria"/>
                <a:sym typeface="Cambria"/>
              </a:rPr>
              <a:t>4 segmentos · ~5 pts</a:t>
            </a:r>
            <a:endParaRPr sz="2700">
              <a:solidFill>
                <a:schemeClr val="dk1"/>
              </a:solidFill>
              <a:latin typeface="Calibri"/>
              <a:ea typeface="Calibri"/>
              <a:cs typeface="Calibri"/>
              <a:sym typeface="Calibri"/>
            </a:endParaRPr>
          </a:p>
        </p:txBody>
      </p:sp>
      <p:sp>
        <p:nvSpPr>
          <p:cNvPr id="168" name="Google Shape;168;p6"/>
          <p:cNvSpPr txBox="1"/>
          <p:nvPr/>
        </p:nvSpPr>
        <p:spPr>
          <a:xfrm>
            <a:off x="8430768" y="3931920"/>
            <a:ext cx="2752344"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3F4A44"/>
              </a:buClr>
              <a:buSzPts val="1500"/>
              <a:buFont typeface="Calibri"/>
              <a:buNone/>
            </a:pPr>
            <a:r>
              <a:rPr lang="en-US" sz="1500">
                <a:solidFill>
                  <a:srgbClr val="3F4A44"/>
                </a:solidFill>
                <a:latin typeface="Calibri"/>
                <a:ea typeface="Calibri"/>
                <a:cs typeface="Calibri"/>
                <a:sym typeface="Calibri"/>
              </a:rPr>
              <a:t>Hay estructura de sonido, pero poca relación con el éxito</a:t>
            </a:r>
            <a:endParaRPr sz="1500">
              <a:solidFill>
                <a:schemeClr val="dk1"/>
              </a:solidFill>
              <a:latin typeface="Calibri"/>
              <a:ea typeface="Calibri"/>
              <a:cs typeface="Calibri"/>
              <a:sym typeface="Calibri"/>
            </a:endParaRPr>
          </a:p>
        </p:txBody>
      </p:sp>
      <p:sp>
        <p:nvSpPr>
          <p:cNvPr id="169" name="Google Shape;169;p6"/>
          <p:cNvSpPr txBox="1"/>
          <p:nvPr/>
        </p:nvSpPr>
        <p:spPr>
          <a:xfrm>
            <a:off x="640080" y="5349240"/>
            <a:ext cx="1090879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500"/>
              <a:buFont typeface="Calibri"/>
              <a:buNone/>
            </a:pPr>
            <a:r>
              <a:rPr b="1" lang="en-US" sz="1500">
                <a:solidFill>
                  <a:srgbClr val="0E6B39"/>
                </a:solidFill>
                <a:latin typeface="Calibri"/>
                <a:ea typeface="Calibri"/>
                <a:cs typeface="Calibri"/>
                <a:sym typeface="Calibri"/>
              </a:rPr>
              <a:t>Entregable: 6 modelos supervisados + 1 no supervisado  ·  mismo pipeline, sin cambios</a:t>
            </a:r>
            <a:endParaRPr sz="15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0" name="Shape 900"/>
        <p:cNvGrpSpPr/>
        <p:nvPr/>
      </p:nvGrpSpPr>
      <p:grpSpPr>
        <a:xfrm>
          <a:off x="0" y="0"/>
          <a:ext cx="0" cy="0"/>
          <a:chOff x="0" y="0"/>
          <a:chExt cx="0" cy="0"/>
        </a:xfrm>
      </p:grpSpPr>
      <p:sp>
        <p:nvSpPr>
          <p:cNvPr id="901" name="eyebrow"/>
          <p:cNvSpPr txBox="1"/>
          <p:nvPr/>
        </p:nvSpPr>
        <p:spPr>
          <a:xfrm>
            <a:off x="640080" y="384048"/>
            <a:ext cx="1090879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00"/>
              <a:buFont typeface="Calibri"/>
              <a:buNone/>
            </a:pPr>
            <a:r>
              <a:rPr b="1" lang="en-US" sz="1000">
                <a:solidFill>
                  <a:srgbClr val="0E6B39"/>
                </a:solidFill>
                <a:latin typeface="Calibri"/>
                <a:ea typeface="Calibri"/>
                <a:cs typeface="Calibri"/>
                <a:sym typeface="Calibri"/>
              </a:rPr>
              <a:t>MODELADO</a:t>
            </a:r>
            <a:endParaRPr sz="1000">
              <a:solidFill>
                <a:schemeClr val="dk1"/>
              </a:solidFill>
              <a:latin typeface="Calibri"/>
              <a:ea typeface="Calibri"/>
              <a:cs typeface="Calibri"/>
              <a:sym typeface="Calibri"/>
            </a:endParaRPr>
          </a:p>
        </p:txBody>
      </p:sp>
      <p:sp>
        <p:nvSpPr>
          <p:cNvPr id="902" name="headline"/>
          <p:cNvSpPr txBox="1"/>
          <p:nvPr/>
        </p:nvSpPr>
        <p:spPr>
          <a:xfrm>
            <a:off x="640080" y="640080"/>
            <a:ext cx="1090879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2600"/>
              <a:buFont typeface="Cambria"/>
              <a:buNone/>
            </a:pPr>
            <a:r>
              <a:rPr b="1" lang="en-US" sz="2600">
                <a:solidFill>
                  <a:srgbClr val="1C1C1C"/>
                </a:solidFill>
                <a:latin typeface="Cambria"/>
                <a:ea typeface="Cambria"/>
                <a:cs typeface="Cambria"/>
                <a:sym typeface="Cambria"/>
              </a:rPr>
              <a:t>Random Forest mejora sobre la Regresión Lineal y el Árbol de Decisión</a:t>
            </a:r>
            <a:endParaRPr sz="2600">
              <a:solidFill>
                <a:schemeClr val="dk1"/>
              </a:solidFill>
              <a:latin typeface="Calibri"/>
              <a:ea typeface="Calibri"/>
              <a:cs typeface="Calibri"/>
              <a:sym typeface="Calibri"/>
            </a:endParaRPr>
          </a:p>
        </p:txBody>
      </p:sp>
      <p:graphicFrame>
        <p:nvGraphicFramePr>
          <p:cNvPr id="903" name="tabla"/>
          <p:cNvGraphicFramePr/>
          <p:nvPr/>
        </p:nvGraphicFramePr>
        <p:xfrm>
          <a:off x="640080" y="1965960"/>
          <a:ext cx="8100000" cy="2267700"/>
        </p:xfrm>
        <a:graphic>
          <a:graphicData uri="http://schemas.openxmlformats.org/drawingml/2006/table">
            <a:tbl>
              <a:tblPr>
                <a:noFill/>
                <a:tableStyleId>{D5596F70-3E84-48C9-8163-9B32549E12F5}</a:tableStyleId>
              </a:tblPr>
              <a:tblGrid>
                <a:gridCol w="4100000"/>
                <a:gridCol w="2000000"/>
                <a:gridCol w="2000000"/>
              </a:tblGrid>
              <a:tr h="566925">
                <a:tc>
                  <a:txBody>
                    <a:bodyPr/>
                    <a:lstStyle/>
                    <a:p>
                      <a:pPr indent="0" lvl="0" marL="0" marR="0" rtl="0" algn="l">
                        <a:spcBef>
                          <a:spcPts val="0"/>
                        </a:spcBef>
                        <a:spcAft>
                          <a:spcPts val="0"/>
                        </a:spcAft>
                        <a:buClr>
                          <a:srgbClr val="1C1C1C"/>
                        </a:buClr>
                        <a:buSzPts val="1400"/>
                        <a:buFont typeface="Calibri"/>
                        <a:buNone/>
                      </a:pPr>
                      <a:r>
                        <a:rPr b="1" lang="en-US" sz="1400" u="none" cap="none" strike="noStrike">
                          <a:solidFill>
                            <a:srgbClr val="1C1C1C"/>
                          </a:solidFill>
                          <a:latin typeface="Calibri"/>
                          <a:ea typeface="Calibri"/>
                          <a:cs typeface="Calibri"/>
                          <a:sym typeface="Calibri"/>
                        </a:rPr>
                        <a:t>Modelo</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1C1C"/>
                        </a:buClr>
                        <a:buSzPts val="1400"/>
                        <a:buFont typeface="Calibri"/>
                        <a:buNone/>
                      </a:pPr>
                      <a:r>
                        <a:rPr b="1" lang="en-US" sz="1400" u="none" cap="none" strike="noStrike">
                          <a:solidFill>
                            <a:srgbClr val="1C1C1C"/>
                          </a:solidFill>
                          <a:latin typeface="Calibri"/>
                          <a:ea typeface="Calibri"/>
                          <a:cs typeface="Calibri"/>
                          <a:sym typeface="Calibri"/>
                        </a:rPr>
                        <a:t>MAE</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1C1C"/>
                        </a:buClr>
                        <a:buSzPts val="1400"/>
                        <a:buFont typeface="Calibri"/>
                        <a:buNone/>
                      </a:pPr>
                      <a:r>
                        <a:rPr b="1" lang="en-US" sz="1400" u="none" cap="none" strike="noStrike">
                          <a:solidFill>
                            <a:srgbClr val="1C1C1C"/>
                          </a:solidFill>
                          <a:latin typeface="Calibri"/>
                          <a:ea typeface="Calibri"/>
                          <a:cs typeface="Calibri"/>
                          <a:sym typeface="Calibri"/>
                        </a:rPr>
                        <a:t>R²</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C1C1C"/>
                        </a:buClr>
                        <a:buSzPts val="1400"/>
                        <a:buFont typeface="Calibri"/>
                        <a:buNone/>
                      </a:pPr>
                      <a:r>
                        <a:rPr lang="en-US" sz="1400" u="none" cap="none" strike="noStrike">
                          <a:solidFill>
                            <a:srgbClr val="1C1C1C"/>
                          </a:solidFill>
                          <a:latin typeface="Calibri"/>
                          <a:ea typeface="Calibri"/>
                          <a:cs typeface="Calibri"/>
                          <a:sym typeface="Calibri"/>
                        </a:rPr>
                        <a:t>Regresión Lineal</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1C1C"/>
                        </a:buClr>
                        <a:buSzPts val="1400"/>
                        <a:buFont typeface="Calibri"/>
                        <a:buNone/>
                      </a:pPr>
                      <a:r>
                        <a:rPr lang="en-US" sz="1400" u="none" cap="none" strike="noStrike">
                          <a:solidFill>
                            <a:srgbClr val="1C1C1C"/>
                          </a:solidFill>
                          <a:latin typeface="Calibri"/>
                          <a:ea typeface="Calibri"/>
                          <a:cs typeface="Calibri"/>
                          <a:sym typeface="Calibri"/>
                        </a:rPr>
                        <a:t>10,75</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1C1C"/>
                        </a:buClr>
                        <a:buSzPts val="1400"/>
                        <a:buFont typeface="Calibri"/>
                        <a:buNone/>
                      </a:pPr>
                      <a:r>
                        <a:rPr lang="en-US" sz="1400" u="none" cap="none" strike="noStrike">
                          <a:solidFill>
                            <a:srgbClr val="1C1C1C"/>
                          </a:solidFill>
                          <a:latin typeface="Calibri"/>
                          <a:ea typeface="Calibri"/>
                          <a:cs typeface="Calibri"/>
                          <a:sym typeface="Calibri"/>
                        </a:rPr>
                        <a:t>0,39</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C1C1C"/>
                        </a:buClr>
                        <a:buSzPts val="1400"/>
                        <a:buFont typeface="Calibri"/>
                        <a:buNone/>
                      </a:pPr>
                      <a:r>
                        <a:rPr lang="en-US" sz="1400" u="none" cap="none" strike="noStrike">
                          <a:solidFill>
                            <a:srgbClr val="1C1C1C"/>
                          </a:solidFill>
                          <a:latin typeface="Calibri"/>
                          <a:ea typeface="Calibri"/>
                          <a:cs typeface="Calibri"/>
                          <a:sym typeface="Calibri"/>
                        </a:rPr>
                        <a:t>Árbol de Decisión</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1C1C"/>
                        </a:buClr>
                        <a:buSzPts val="1400"/>
                        <a:buFont typeface="Calibri"/>
                        <a:buNone/>
                      </a:pPr>
                      <a:r>
                        <a:rPr lang="en-US" sz="1400" u="none" cap="none" strike="noStrike">
                          <a:solidFill>
                            <a:srgbClr val="1C1C1C"/>
                          </a:solidFill>
                          <a:latin typeface="Calibri"/>
                          <a:ea typeface="Calibri"/>
                          <a:cs typeface="Calibri"/>
                          <a:sym typeface="Calibri"/>
                        </a:rPr>
                        <a:t>10,67</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1C1C"/>
                        </a:buClr>
                        <a:buSzPts val="1400"/>
                        <a:buFont typeface="Calibri"/>
                        <a:buNone/>
                      </a:pPr>
                      <a:r>
                        <a:rPr lang="en-US" sz="1400" u="none" cap="none" strike="noStrike">
                          <a:solidFill>
                            <a:srgbClr val="1C1C1C"/>
                          </a:solidFill>
                          <a:latin typeface="Calibri"/>
                          <a:ea typeface="Calibri"/>
                          <a:cs typeface="Calibri"/>
                          <a:sym typeface="Calibri"/>
                        </a:rPr>
                        <a:t>0,39</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C1C1C"/>
                        </a:buClr>
                        <a:buSzPts val="1400"/>
                        <a:buFont typeface="Calibri"/>
                        <a:buNone/>
                      </a:pPr>
                      <a:r>
                        <a:rPr lang="en-US" sz="1400" u="none" cap="none" strike="noStrike">
                          <a:solidFill>
                            <a:srgbClr val="1C1C1C"/>
                          </a:solidFill>
                          <a:latin typeface="Calibri"/>
                          <a:ea typeface="Calibri"/>
                          <a:cs typeface="Calibri"/>
                          <a:sym typeface="Calibri"/>
                        </a:rPr>
                        <a:t>Random Forest</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1C1C"/>
                        </a:buClr>
                        <a:buSzPts val="1400"/>
                        <a:buFont typeface="Calibri"/>
                        <a:buNone/>
                      </a:pPr>
                      <a:r>
                        <a:rPr lang="en-US" sz="1400" u="none" cap="none" strike="noStrike">
                          <a:solidFill>
                            <a:srgbClr val="1C1C1C"/>
                          </a:solidFill>
                          <a:latin typeface="Calibri"/>
                          <a:ea typeface="Calibri"/>
                          <a:cs typeface="Calibri"/>
                          <a:sym typeface="Calibri"/>
                        </a:rPr>
                        <a:t>9,98</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1C1C"/>
                        </a:buClr>
                        <a:buSzPts val="1400"/>
                        <a:buFont typeface="Calibri"/>
                        <a:buNone/>
                      </a:pPr>
                      <a:r>
                        <a:rPr lang="en-US" sz="1400" u="none" cap="none" strike="noStrike">
                          <a:solidFill>
                            <a:srgbClr val="1C1C1C"/>
                          </a:solidFill>
                          <a:latin typeface="Calibri"/>
                          <a:ea typeface="Calibri"/>
                          <a:cs typeface="Calibri"/>
                          <a:sym typeface="Calibri"/>
                        </a:rPr>
                        <a:t>0,44</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
        <p:nvSpPr>
          <p:cNvPr id="904" name="tb"/>
          <p:cNvSpPr txBox="1"/>
          <p:nvPr/>
        </p:nvSpPr>
        <p:spPr>
          <a:xfrm>
            <a:off x="640080" y="4533660"/>
            <a:ext cx="7500000" cy="90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lang="en-US" sz="1200">
                <a:solidFill>
                  <a:srgbClr val="3F4A44"/>
                </a:solidFill>
                <a:latin typeface="Calibri"/>
                <a:ea typeface="Calibri"/>
                <a:cs typeface="Calibri"/>
                <a:sym typeface="Calibri"/>
              </a:rPr>
              <a:t>MAE: error promedio en puntos de popularity (0-100). Menor es mejor.</a:t>
            </a:r>
            <a:endParaRPr sz="1200">
              <a:solidFill>
                <a:schemeClr val="dk1"/>
              </a:solidFill>
              <a:latin typeface="Calibri"/>
              <a:ea typeface="Calibri"/>
              <a:cs typeface="Calibri"/>
              <a:sym typeface="Calibri"/>
            </a:endParaRPr>
          </a:p>
          <a:p>
            <a:pPr indent="0" lvl="0" marL="0" marR="0" rtl="0" algn="l">
              <a:lnSpc>
                <a:spcPct val="130000"/>
              </a:lnSpc>
              <a:spcBef>
                <a:spcPts val="0"/>
              </a:spcBef>
              <a:spcAft>
                <a:spcPts val="0"/>
              </a:spcAft>
              <a:buNone/>
            </a:pPr>
            <a:r>
              <a:rPr b="0" lang="en-US" sz="1200">
                <a:solidFill>
                  <a:srgbClr val="3F4A44"/>
                </a:solidFill>
                <a:latin typeface="Calibri"/>
                <a:ea typeface="Calibri"/>
                <a:cs typeface="Calibri"/>
                <a:sym typeface="Calibri"/>
              </a:rPr>
              <a:t>R²: cuánta varianza de popularity explica el modelo (0 = nada, 1 = todo).</a:t>
            </a:r>
            <a:endParaRPr sz="1200">
              <a:solidFill>
                <a:schemeClr val="dk1"/>
              </a:solidFill>
              <a:latin typeface="Calibri"/>
              <a:ea typeface="Calibri"/>
              <a:cs typeface="Calibri"/>
              <a:sym typeface="Calibri"/>
            </a:endParaRPr>
          </a:p>
        </p:txBody>
      </p:sp>
      <p:sp>
        <p:nvSpPr>
          <p:cNvPr id="905" name="card"/>
          <p:cNvSpPr/>
          <p:nvPr/>
        </p:nvSpPr>
        <p:spPr>
          <a:xfrm>
            <a:off x="8440080" y="1965960"/>
            <a:ext cx="3108792" cy="3100000"/>
          </a:xfrm>
          <a:prstGeom prst="roundRect">
            <a:avLst>
              <a:gd fmla="val 6000" name="adj"/>
            </a:avLst>
          </a:prstGeom>
          <a:solidFill>
            <a:srgbClr val="0F211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6" name="tb"/>
          <p:cNvSpPr txBox="1"/>
          <p:nvPr/>
        </p:nvSpPr>
        <p:spPr>
          <a:xfrm>
            <a:off x="8714400" y="2194560"/>
            <a:ext cx="2560152" cy="5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18A558"/>
                </a:solidFill>
                <a:latin typeface="Cambria"/>
                <a:ea typeface="Cambria"/>
                <a:cs typeface="Cambria"/>
                <a:sym typeface="Cambria"/>
              </a:rPr>
              <a:t>Se elige Random Forest</a:t>
            </a:r>
            <a:endParaRPr sz="1600">
              <a:solidFill>
                <a:schemeClr val="dk1"/>
              </a:solidFill>
              <a:latin typeface="Calibri"/>
              <a:ea typeface="Calibri"/>
              <a:cs typeface="Calibri"/>
              <a:sym typeface="Calibri"/>
            </a:endParaRPr>
          </a:p>
        </p:txBody>
      </p:sp>
      <p:sp>
        <p:nvSpPr>
          <p:cNvPr id="907" name="tb"/>
          <p:cNvSpPr txBox="1"/>
          <p:nvPr/>
        </p:nvSpPr>
        <p:spPr>
          <a:xfrm>
            <a:off x="8714400" y="2765960"/>
            <a:ext cx="2560152" cy="210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lang="en-US" sz="1200">
                <a:solidFill>
                  <a:srgbClr val="FFFFFF"/>
                </a:solidFill>
                <a:latin typeface="Calibri"/>
                <a:ea typeface="Calibri"/>
                <a:cs typeface="Calibri"/>
                <a:sym typeface="Calibri"/>
              </a:rPr>
              <a:t>Mejor MAE y R² de los tres.</a:t>
            </a:r>
            <a:endParaRPr sz="1200">
              <a:solidFill>
                <a:schemeClr val="dk1"/>
              </a:solidFill>
              <a:latin typeface="Calibri"/>
              <a:ea typeface="Calibri"/>
              <a:cs typeface="Calibri"/>
              <a:sym typeface="Calibri"/>
            </a:endParaRPr>
          </a:p>
          <a:p>
            <a:pPr indent="0" lvl="0" marL="0" marR="0" rtl="0" algn="l">
              <a:lnSpc>
                <a:spcPct val="130000"/>
              </a:lnSpc>
              <a:spcBef>
                <a:spcPts val="0"/>
              </a:spcBef>
              <a:spcAft>
                <a:spcPts val="0"/>
              </a:spcAft>
              <a:buNone/>
            </a:pPr>
            <a:r>
              <a:rPr b="0" lang="en-US" sz="1200">
                <a:solidFill>
                  <a:srgbClr val="FFFFFF"/>
                </a:solidFill>
                <a:latin typeface="Calibri"/>
                <a:ea typeface="Calibri"/>
                <a:cs typeface="Calibri"/>
                <a:sym typeface="Calibri"/>
              </a:rPr>
              <a:t>Ajustado con RandomizedSearchCV (8 de 600 combinaciones posibles).</a:t>
            </a:r>
            <a:endParaRPr sz="1200">
              <a:solidFill>
                <a:schemeClr val="dk1"/>
              </a:solidFill>
              <a:latin typeface="Calibri"/>
              <a:ea typeface="Calibri"/>
              <a:cs typeface="Calibri"/>
              <a:sym typeface="Calibri"/>
            </a:endParaRPr>
          </a:p>
          <a:p>
            <a:pPr indent="0" lvl="0" marL="0" marR="0" rtl="0" algn="l">
              <a:lnSpc>
                <a:spcPct val="130000"/>
              </a:lnSpc>
              <a:spcBef>
                <a:spcPts val="0"/>
              </a:spcBef>
              <a:spcAft>
                <a:spcPts val="0"/>
              </a:spcAft>
              <a:buNone/>
            </a:pPr>
            <a:r>
              <a:rPr b="0" lang="en-US" sz="1200">
                <a:solidFill>
                  <a:srgbClr val="FFFFFF"/>
                </a:solidFill>
                <a:latin typeface="Calibri"/>
                <a:ea typeface="Calibri"/>
                <a:cs typeface="Calibri"/>
                <a:sym typeface="Calibri"/>
              </a:rPr>
              <a:t>Mejora sobre su propia configuración por defecto (R²: 0,428 → 0,438).</a:t>
            </a:r>
            <a:endParaRPr sz="1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0" name="Shape 900"/>
        <p:cNvGrpSpPr/>
        <p:nvPr/>
      </p:nvGrpSpPr>
      <p:grpSpPr>
        <a:xfrm>
          <a:off x="0" y="0"/>
          <a:ext cx="0" cy="0"/>
          <a:chOff x="0" y="0"/>
          <a:chExt cx="0" cy="0"/>
        </a:xfrm>
      </p:grpSpPr>
      <p:sp>
        <p:nvSpPr>
          <p:cNvPr id="901" name="eyebrow"/>
          <p:cNvSpPr txBox="1"/>
          <p:nvPr/>
        </p:nvSpPr>
        <p:spPr>
          <a:xfrm>
            <a:off x="640080" y="384048"/>
            <a:ext cx="1090879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00"/>
              <a:buFont typeface="Calibri"/>
              <a:buNone/>
            </a:pPr>
            <a:r>
              <a:rPr b="1" lang="en-US" sz="1000">
                <a:solidFill>
                  <a:srgbClr val="0E6B39"/>
                </a:solidFill>
                <a:latin typeface="Calibri"/>
                <a:ea typeface="Calibri"/>
                <a:cs typeface="Calibri"/>
                <a:sym typeface="Calibri"/>
              </a:rPr>
              <a:t>MODELADO</a:t>
            </a:r>
            <a:endParaRPr sz="1000">
              <a:solidFill>
                <a:schemeClr val="dk1"/>
              </a:solidFill>
              <a:latin typeface="Calibri"/>
              <a:ea typeface="Calibri"/>
              <a:cs typeface="Calibri"/>
              <a:sym typeface="Calibri"/>
            </a:endParaRPr>
          </a:p>
        </p:txBody>
      </p:sp>
      <p:sp>
        <p:nvSpPr>
          <p:cNvPr id="902" name="headline"/>
          <p:cNvSpPr txBox="1"/>
          <p:nvPr/>
        </p:nvSpPr>
        <p:spPr>
          <a:xfrm>
            <a:off x="640080" y="640080"/>
            <a:ext cx="1090879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2600"/>
              <a:buFont typeface="Cambria"/>
              <a:buNone/>
            </a:pPr>
            <a:r>
              <a:rPr b="1" lang="en-US" sz="2600">
                <a:solidFill>
                  <a:srgbClr val="1C1C1C"/>
                </a:solidFill>
                <a:latin typeface="Cambria"/>
                <a:ea typeface="Cambria"/>
                <a:cs typeface="Cambria"/>
                <a:sym typeface="Cambria"/>
              </a:rPr>
              <a:t>Random Forest Classifier supera a la Regresión Logística</a:t>
            </a:r>
            <a:endParaRPr sz="2600">
              <a:solidFill>
                <a:schemeClr val="dk1"/>
              </a:solidFill>
              <a:latin typeface="Calibri"/>
              <a:ea typeface="Calibri"/>
              <a:cs typeface="Calibri"/>
              <a:sym typeface="Calibri"/>
            </a:endParaRPr>
          </a:p>
        </p:txBody>
      </p:sp>
      <p:graphicFrame>
        <p:nvGraphicFramePr>
          <p:cNvPr id="903" name="tabla"/>
          <p:cNvGraphicFramePr/>
          <p:nvPr/>
        </p:nvGraphicFramePr>
        <p:xfrm>
          <a:off x="640080" y="1965960"/>
          <a:ext cx="7500000" cy="2267700"/>
        </p:xfrm>
        <a:graphic>
          <a:graphicData uri="http://schemas.openxmlformats.org/drawingml/2006/table">
            <a:tbl>
              <a:tblPr>
                <a:noFill/>
                <a:tableStyleId>{D5596F70-3E84-48C9-8163-9B32549E12F5}</a:tableStyleId>
              </a:tblPr>
              <a:tblGrid>
                <a:gridCol w="3000000"/>
                <a:gridCol w="1500000"/>
                <a:gridCol w="1500000"/>
                <a:gridCol w="1500000"/>
              </a:tblGrid>
              <a:tr h="566925">
                <a:tc>
                  <a:txBody>
                    <a:bodyPr/>
                    <a:lstStyle/>
                    <a:p>
                      <a:pPr indent="0" lvl="0" marL="0" marR="0" rtl="0" algn="l">
                        <a:spcBef>
                          <a:spcPts val="0"/>
                        </a:spcBef>
                        <a:spcAft>
                          <a:spcPts val="0"/>
                        </a:spcAft>
                        <a:buClr>
                          <a:srgbClr val="1C1C1C"/>
                        </a:buClr>
                        <a:buSzPts val="1400"/>
                        <a:buFont typeface="Calibri"/>
                        <a:buNone/>
                      </a:pPr>
                      <a:r>
                        <a:rPr b="1" lang="en-US" sz="1400" u="none" cap="none" strike="noStrike">
                          <a:solidFill>
                            <a:srgbClr val="1C1C1C"/>
                          </a:solidFill>
                          <a:latin typeface="Calibri"/>
                          <a:ea typeface="Calibri"/>
                          <a:cs typeface="Calibri"/>
                          <a:sym typeface="Calibri"/>
                        </a:rPr>
                        <a:t>Modelo</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1C1C"/>
                        </a:buClr>
                        <a:buSzPts val="1400"/>
                        <a:buFont typeface="Calibri"/>
                        <a:buNone/>
                      </a:pPr>
                      <a:r>
                        <a:rPr b="1" lang="en-US" sz="1400" u="none" cap="none" strike="noStrike">
                          <a:solidFill>
                            <a:srgbClr val="1C1C1C"/>
                          </a:solidFill>
                          <a:latin typeface="Calibri"/>
                          <a:ea typeface="Calibri"/>
                          <a:cs typeface="Calibri"/>
                          <a:sym typeface="Calibri"/>
                        </a:rPr>
                        <a:t>Accuracy</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1C1C"/>
                        </a:buClr>
                        <a:buSzPts val="1400"/>
                        <a:buFont typeface="Calibri"/>
                        <a:buNone/>
                      </a:pPr>
                      <a:r>
                        <a:rPr b="1" lang="en-US" sz="1400" u="none" cap="none" strike="noStrike">
                          <a:solidFill>
                            <a:srgbClr val="1C1C1C"/>
                          </a:solidFill>
                          <a:latin typeface="Calibri"/>
                          <a:ea typeface="Calibri"/>
                          <a:cs typeface="Calibri"/>
                          <a:sym typeface="Calibri"/>
                        </a:rPr>
                        <a:t>F1</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1C1C"/>
                        </a:buClr>
                        <a:buSzPts val="1400"/>
                        <a:buFont typeface="Calibri"/>
                        <a:buNone/>
                      </a:pPr>
                      <a:r>
                        <a:rPr b="1" lang="en-US" sz="1400" u="none" cap="none" strike="noStrike">
                          <a:solidFill>
                            <a:srgbClr val="1C1C1C"/>
                          </a:solidFill>
                          <a:latin typeface="Calibri"/>
                          <a:ea typeface="Calibri"/>
                          <a:cs typeface="Calibri"/>
                          <a:sym typeface="Calibri"/>
                        </a:rPr>
                        <a:t>AUC-ROC</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C1C1C"/>
                        </a:buClr>
                        <a:buSzPts val="1400"/>
                        <a:buFont typeface="Calibri"/>
                        <a:buNone/>
                      </a:pPr>
                      <a:r>
                        <a:rPr lang="en-US" sz="1400" u="none" cap="none" strike="noStrike">
                          <a:solidFill>
                            <a:srgbClr val="1C1C1C"/>
                          </a:solidFill>
                          <a:latin typeface="Calibri"/>
                          <a:ea typeface="Calibri"/>
                          <a:cs typeface="Calibri"/>
                          <a:sym typeface="Calibri"/>
                        </a:rPr>
                        <a:t>Regresión Logística</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1C1C"/>
                        </a:buClr>
                        <a:buSzPts val="1400"/>
                        <a:buFont typeface="Calibri"/>
                        <a:buNone/>
                      </a:pPr>
                      <a:r>
                        <a:rPr lang="en-US" sz="1400" u="none" cap="none" strike="noStrike">
                          <a:solidFill>
                            <a:srgbClr val="1C1C1C"/>
                          </a:solidFill>
                          <a:latin typeface="Calibri"/>
                          <a:ea typeface="Calibri"/>
                          <a:cs typeface="Calibri"/>
                          <a:sym typeface="Calibri"/>
                        </a:rPr>
                        <a:t>0,777</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1C1C"/>
                        </a:buClr>
                        <a:buSzPts val="1400"/>
                        <a:buFont typeface="Calibri"/>
                        <a:buNone/>
                      </a:pPr>
                      <a:r>
                        <a:rPr lang="en-US" sz="1400" u="none" cap="none" strike="noStrike">
                          <a:solidFill>
                            <a:srgbClr val="1C1C1C"/>
                          </a:solidFill>
                          <a:latin typeface="Calibri"/>
                          <a:ea typeface="Calibri"/>
                          <a:cs typeface="Calibri"/>
                          <a:sym typeface="Calibri"/>
                        </a:rPr>
                        <a:t>0,777</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1C1C"/>
                        </a:buClr>
                        <a:buSzPts val="1400"/>
                        <a:buFont typeface="Calibri"/>
                        <a:buNone/>
                      </a:pPr>
                      <a:r>
                        <a:rPr lang="en-US" sz="1400" u="none" cap="none" strike="noStrike">
                          <a:solidFill>
                            <a:srgbClr val="1C1C1C"/>
                          </a:solidFill>
                          <a:latin typeface="Calibri"/>
                          <a:ea typeface="Calibri"/>
                          <a:cs typeface="Calibri"/>
                          <a:sym typeface="Calibri"/>
                        </a:rPr>
                        <a:t>0,849</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C1C1C"/>
                        </a:buClr>
                        <a:buSzPts val="1400"/>
                        <a:buFont typeface="Calibri"/>
                        <a:buNone/>
                      </a:pPr>
                      <a:r>
                        <a:rPr lang="en-US" sz="1400" u="none" cap="none" strike="noStrike">
                          <a:solidFill>
                            <a:srgbClr val="1C1C1C"/>
                          </a:solidFill>
                          <a:latin typeface="Calibri"/>
                          <a:ea typeface="Calibri"/>
                          <a:cs typeface="Calibri"/>
                          <a:sym typeface="Calibri"/>
                        </a:rPr>
                        <a:t>Árbol de Decisión</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1C1C"/>
                        </a:buClr>
                        <a:buSzPts val="1400"/>
                        <a:buFont typeface="Calibri"/>
                        <a:buNone/>
                      </a:pPr>
                      <a:r>
                        <a:rPr lang="en-US" sz="1400" u="none" cap="none" strike="noStrike">
                          <a:solidFill>
                            <a:srgbClr val="1C1C1C"/>
                          </a:solidFill>
                          <a:latin typeface="Calibri"/>
                          <a:ea typeface="Calibri"/>
                          <a:cs typeface="Calibri"/>
                          <a:sym typeface="Calibri"/>
                        </a:rPr>
                        <a:t>0,789</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1C1C"/>
                        </a:buClr>
                        <a:buSzPts val="1400"/>
                        <a:buFont typeface="Calibri"/>
                        <a:buNone/>
                      </a:pPr>
                      <a:r>
                        <a:rPr lang="en-US" sz="1400" u="none" cap="none" strike="noStrike">
                          <a:solidFill>
                            <a:srgbClr val="1C1C1C"/>
                          </a:solidFill>
                          <a:latin typeface="Calibri"/>
                          <a:ea typeface="Calibri"/>
                          <a:cs typeface="Calibri"/>
                          <a:sym typeface="Calibri"/>
                        </a:rPr>
                        <a:t>0,789</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1C1C"/>
                        </a:buClr>
                        <a:buSzPts val="1400"/>
                        <a:buFont typeface="Calibri"/>
                        <a:buNone/>
                      </a:pPr>
                      <a:r>
                        <a:rPr lang="en-US" sz="1400" u="none" cap="none" strike="noStrike">
                          <a:solidFill>
                            <a:srgbClr val="1C1C1C"/>
                          </a:solidFill>
                          <a:latin typeface="Calibri"/>
                          <a:ea typeface="Calibri"/>
                          <a:cs typeface="Calibri"/>
                          <a:sym typeface="Calibri"/>
                        </a:rPr>
                        <a:t>0,866</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C1C1C"/>
                        </a:buClr>
                        <a:buSzPts val="1400"/>
                        <a:buFont typeface="Calibri"/>
                        <a:buNone/>
                      </a:pPr>
                      <a:r>
                        <a:rPr lang="en-US" sz="1400" u="none" cap="none" strike="noStrike">
                          <a:solidFill>
                            <a:srgbClr val="1C1C1C"/>
                          </a:solidFill>
                          <a:latin typeface="Calibri"/>
                          <a:ea typeface="Calibri"/>
                          <a:cs typeface="Calibri"/>
                          <a:sym typeface="Calibri"/>
                        </a:rPr>
                        <a:t>Random Forest</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1C1C"/>
                        </a:buClr>
                        <a:buSzPts val="1400"/>
                        <a:buFont typeface="Calibri"/>
                        <a:buNone/>
                      </a:pPr>
                      <a:r>
                        <a:rPr lang="en-US" sz="1400" u="none" cap="none" strike="noStrike">
                          <a:solidFill>
                            <a:srgbClr val="1C1C1C"/>
                          </a:solidFill>
                          <a:latin typeface="Calibri"/>
                          <a:ea typeface="Calibri"/>
                          <a:cs typeface="Calibri"/>
                          <a:sym typeface="Calibri"/>
                        </a:rPr>
                        <a:t>0,813</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1C1C"/>
                        </a:buClr>
                        <a:buSzPts val="1400"/>
                        <a:buFont typeface="Calibri"/>
                        <a:buNone/>
                      </a:pPr>
                      <a:r>
                        <a:rPr lang="en-US" sz="1400" u="none" cap="none" strike="noStrike">
                          <a:solidFill>
                            <a:srgbClr val="1C1C1C"/>
                          </a:solidFill>
                          <a:latin typeface="Calibri"/>
                          <a:ea typeface="Calibri"/>
                          <a:cs typeface="Calibri"/>
                          <a:sym typeface="Calibri"/>
                        </a:rPr>
                        <a:t>0,813</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C1C1C"/>
                        </a:buClr>
                        <a:buSzPts val="1400"/>
                        <a:buFont typeface="Calibri"/>
                        <a:buNone/>
                      </a:pPr>
                      <a:r>
                        <a:rPr lang="en-US" sz="1400" u="none" cap="none" strike="noStrike">
                          <a:solidFill>
                            <a:srgbClr val="1C1C1C"/>
                          </a:solidFill>
                          <a:latin typeface="Calibri"/>
                          <a:ea typeface="Calibri"/>
                          <a:cs typeface="Calibri"/>
                          <a:sym typeface="Calibri"/>
                        </a:rPr>
                        <a:t>0,894</a:t>
                      </a:r>
                      <a:endParaRPr sz="1400" u="none" cap="none" strike="noStrike">
                        <a:latin typeface="Calibri"/>
                        <a:ea typeface="Calibri"/>
                        <a:cs typeface="Calibri"/>
                        <a:sym typeface="Calibri"/>
                      </a:endParaRPr>
                    </a:p>
                  </a:txBody>
                  <a:tcPr marT="109725" marB="109725" marR="109725" marL="109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6DAD8"/>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
        <p:nvSpPr>
          <p:cNvPr id="904" name="tb"/>
          <p:cNvSpPr txBox="1"/>
          <p:nvPr/>
        </p:nvSpPr>
        <p:spPr>
          <a:xfrm>
            <a:off x="640080" y="4533660"/>
            <a:ext cx="7500000" cy="90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lang="en-US" sz="1200">
                <a:solidFill>
                  <a:srgbClr val="3F4A44"/>
                </a:solidFill>
                <a:latin typeface="Calibri"/>
                <a:ea typeface="Calibri"/>
                <a:cs typeface="Calibri"/>
                <a:sym typeface="Calibri"/>
              </a:rPr>
              <a:t>Accuracy / F1: % de aciertos, con clases casi balanceadas (ver slide de desbalance).</a:t>
            </a:r>
            <a:endParaRPr sz="1200">
              <a:solidFill>
                <a:schemeClr val="dk1"/>
              </a:solidFill>
              <a:latin typeface="Calibri"/>
              <a:ea typeface="Calibri"/>
              <a:cs typeface="Calibri"/>
              <a:sym typeface="Calibri"/>
            </a:endParaRPr>
          </a:p>
          <a:p>
            <a:pPr indent="0" lvl="0" marL="0" marR="0" rtl="0" algn="l">
              <a:lnSpc>
                <a:spcPct val="130000"/>
              </a:lnSpc>
              <a:spcBef>
                <a:spcPts val="0"/>
              </a:spcBef>
              <a:spcAft>
                <a:spcPts val="0"/>
              </a:spcAft>
              <a:buNone/>
            </a:pPr>
            <a:r>
              <a:rPr b="0" lang="en-US" sz="1200">
                <a:solidFill>
                  <a:srgbClr val="3F4A44"/>
                </a:solidFill>
                <a:latin typeface="Calibri"/>
                <a:ea typeface="Calibri"/>
                <a:cs typeface="Calibri"/>
                <a:sym typeface="Calibri"/>
              </a:rPr>
              <a:t>AUC-ROC: qué tan bien ordena por probabilidad de "alta", sin depender del umbral.</a:t>
            </a:r>
            <a:endParaRPr sz="1200">
              <a:solidFill>
                <a:schemeClr val="dk1"/>
              </a:solidFill>
              <a:latin typeface="Calibri"/>
              <a:ea typeface="Calibri"/>
              <a:cs typeface="Calibri"/>
              <a:sym typeface="Calibri"/>
            </a:endParaRPr>
          </a:p>
        </p:txBody>
      </p:sp>
      <p:sp>
        <p:nvSpPr>
          <p:cNvPr id="905" name="card"/>
          <p:cNvSpPr/>
          <p:nvPr/>
        </p:nvSpPr>
        <p:spPr>
          <a:xfrm>
            <a:off x="8440080" y="1965960"/>
            <a:ext cx="3108792" cy="3100000"/>
          </a:xfrm>
          <a:prstGeom prst="roundRect">
            <a:avLst>
              <a:gd fmla="val 6000" name="adj"/>
            </a:avLst>
          </a:prstGeom>
          <a:solidFill>
            <a:srgbClr val="0F211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6" name="tb"/>
          <p:cNvSpPr txBox="1"/>
          <p:nvPr/>
        </p:nvSpPr>
        <p:spPr>
          <a:xfrm>
            <a:off x="8714400" y="2194560"/>
            <a:ext cx="2560152" cy="5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18A558"/>
                </a:solidFill>
                <a:latin typeface="Cambria"/>
                <a:ea typeface="Cambria"/>
                <a:cs typeface="Cambria"/>
                <a:sym typeface="Cambria"/>
              </a:rPr>
              <a:t>Se elige Random Forest</a:t>
            </a:r>
            <a:endParaRPr sz="1600">
              <a:solidFill>
                <a:schemeClr val="dk1"/>
              </a:solidFill>
              <a:latin typeface="Calibri"/>
              <a:ea typeface="Calibri"/>
              <a:cs typeface="Calibri"/>
              <a:sym typeface="Calibri"/>
            </a:endParaRPr>
          </a:p>
        </p:txBody>
      </p:sp>
      <p:sp>
        <p:nvSpPr>
          <p:cNvPr id="907" name="tb"/>
          <p:cNvSpPr txBox="1"/>
          <p:nvPr/>
        </p:nvSpPr>
        <p:spPr>
          <a:xfrm>
            <a:off x="8714400" y="2765960"/>
            <a:ext cx="2560152" cy="210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lang="en-US" sz="1200">
                <a:solidFill>
                  <a:srgbClr val="FFFFFF"/>
                </a:solidFill>
                <a:latin typeface="Calibri"/>
                <a:ea typeface="Calibri"/>
                <a:cs typeface="Calibri"/>
                <a:sym typeface="Calibri"/>
              </a:rPr>
              <a:t>Mejor en las tres métricas.</a:t>
            </a:r>
            <a:endParaRPr sz="1200">
              <a:solidFill>
                <a:schemeClr val="dk1"/>
              </a:solidFill>
              <a:latin typeface="Calibri"/>
              <a:ea typeface="Calibri"/>
              <a:cs typeface="Calibri"/>
              <a:sym typeface="Calibri"/>
            </a:endParaRPr>
          </a:p>
          <a:p>
            <a:pPr indent="0" lvl="0" marL="0" marR="0" rtl="0" algn="l">
              <a:lnSpc>
                <a:spcPct val="130000"/>
              </a:lnSpc>
              <a:spcBef>
                <a:spcPts val="0"/>
              </a:spcBef>
              <a:spcAft>
                <a:spcPts val="0"/>
              </a:spcAft>
              <a:buNone/>
            </a:pPr>
            <a:r>
              <a:rPr b="0" lang="en-US" sz="1200">
                <a:solidFill>
                  <a:srgbClr val="FFFFFF"/>
                </a:solidFill>
                <a:latin typeface="Calibri"/>
                <a:ea typeface="Calibri"/>
                <a:cs typeface="Calibri"/>
                <a:sym typeface="Calibri"/>
              </a:rPr>
              <a:t>Mismo criterio de ajuste que la regresión (RandomizedSearchCV).</a:t>
            </a:r>
            <a:endParaRPr sz="1200">
              <a:solidFill>
                <a:schemeClr val="dk1"/>
              </a:solidFill>
              <a:latin typeface="Calibri"/>
              <a:ea typeface="Calibri"/>
              <a:cs typeface="Calibri"/>
              <a:sym typeface="Calibri"/>
            </a:endParaRPr>
          </a:p>
          <a:p>
            <a:pPr indent="0" lvl="0" marL="0" marR="0" rtl="0" algn="l">
              <a:lnSpc>
                <a:spcPct val="130000"/>
              </a:lnSpc>
              <a:spcBef>
                <a:spcPts val="0"/>
              </a:spcBef>
              <a:spcAft>
                <a:spcPts val="0"/>
              </a:spcAft>
              <a:buNone/>
            </a:pPr>
            <a:r>
              <a:rPr b="0" lang="en-US" sz="1200">
                <a:solidFill>
                  <a:srgbClr val="FFFFFF"/>
                </a:solidFill>
                <a:latin typeface="Calibri"/>
                <a:ea typeface="Calibri"/>
                <a:cs typeface="Calibri"/>
                <a:sym typeface="Calibri"/>
              </a:rPr>
              <a:t>No es una señal nueva: agrupar la predicción continua del regresor ya da 0,80 (slide siguiente).</a:t>
            </a:r>
            <a:endParaRPr sz="1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 name="Shape 150"/>
        <p:cNvGrpSpPr/>
        <p:nvPr/>
      </p:nvGrpSpPr>
      <p:grpSpPr>
        <a:xfrm>
          <a:off x="0" y="0"/>
          <a:ext cx="0" cy="0"/>
          <a:chOff x="0" y="0"/>
          <a:chExt cx="0" cy="0"/>
        </a:xfrm>
      </p:grpSpPr>
      <p:sp>
        <p:nvSpPr>
          <p:cNvPr id="151" name="Google Shape;151;p6"/>
          <p:cNvSpPr txBox="1"/>
          <p:nvPr/>
        </p:nvSpPr>
        <p:spPr>
          <a:xfrm>
            <a:off x="640080" y="384048"/>
            <a:ext cx="1090879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00"/>
              <a:buFont typeface="Calibri"/>
              <a:buNone/>
            </a:pPr>
            <a:r>
              <a:rPr b="1" lang="en-US" sz="1000">
                <a:solidFill>
                  <a:srgbClr val="0E6B39"/>
                </a:solidFill>
                <a:latin typeface="Calibri"/>
                <a:ea typeface="Calibri"/>
                <a:cs typeface="Calibri"/>
                <a:sym typeface="Calibri"/>
              </a:rPr>
              <a:t>CLASIFICACIÓN</a:t>
            </a:r>
            <a:endParaRPr sz="1000">
              <a:solidFill>
                <a:schemeClr val="dk1"/>
              </a:solidFill>
              <a:latin typeface="Calibri"/>
              <a:ea typeface="Calibri"/>
              <a:cs typeface="Calibri"/>
              <a:sym typeface="Calibri"/>
            </a:endParaRPr>
          </a:p>
        </p:txBody>
      </p:sp>
      <p:sp>
        <p:nvSpPr>
          <p:cNvPr id="152" name="Google Shape;152;p6"/>
          <p:cNvSpPr txBox="1"/>
          <p:nvPr/>
        </p:nvSpPr>
        <p:spPr>
          <a:xfrm>
            <a:off x="640080" y="640080"/>
            <a:ext cx="1090879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2600"/>
              <a:buFont typeface="Cambria"/>
              <a:buNone/>
            </a:pPr>
            <a:r>
              <a:rPr b="1" lang="en-US" sz="2600">
                <a:solidFill>
                  <a:srgbClr val="1C1C1C"/>
                </a:solidFill>
                <a:latin typeface="Cambria"/>
                <a:ea typeface="Cambria"/>
                <a:cs typeface="Cambria"/>
                <a:sym typeface="Cambria"/>
              </a:rPr>
              <a:t>0,81 no es un modelo mejor, es la misma señal con otra vara</a:t>
            </a:r>
            <a:endParaRPr sz="2600">
              <a:solidFill>
                <a:schemeClr val="dk1"/>
              </a:solidFill>
              <a:latin typeface="Calibri"/>
              <a:ea typeface="Calibri"/>
              <a:cs typeface="Calibri"/>
              <a:sym typeface="Calibri"/>
            </a:endParaRPr>
          </a:p>
        </p:txBody>
      </p:sp>
      <p:sp>
        <p:nvSpPr>
          <p:cNvPr id="153" name="Google Shape;153;p6"/>
          <p:cNvSpPr txBox="1"/>
          <p:nvPr/>
        </p:nvSpPr>
        <p:spPr>
          <a:xfrm>
            <a:off x="11000232" y="6419088"/>
            <a:ext cx="54864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FAFAF"/>
              </a:buClr>
              <a:buSzPts val="900"/>
              <a:buFont typeface="Calibri"/>
              <a:buNone/>
            </a:pPr>
            <a:r>
              <a:t/>
            </a:r>
            <a:endParaRPr sz="900">
              <a:solidFill>
                <a:schemeClr val="dk1"/>
              </a:solidFill>
              <a:latin typeface="Calibri"/>
              <a:ea typeface="Calibri"/>
              <a:cs typeface="Calibri"/>
              <a:sym typeface="Calibri"/>
            </a:endParaRPr>
          </a:p>
        </p:txBody>
      </p:sp>
      <p:sp>
        <p:nvSpPr>
          <p:cNvPr id="154" name="Google Shape;154;p6"/>
          <p:cNvSpPr/>
          <p:nvPr/>
        </p:nvSpPr>
        <p:spPr>
          <a:xfrm>
            <a:off x="640080" y="1965960"/>
            <a:ext cx="3483864" cy="301752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6"/>
          <p:cNvSpPr txBox="1"/>
          <p:nvPr/>
        </p:nvSpPr>
        <p:spPr>
          <a:xfrm>
            <a:off x="1005840" y="2258568"/>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A558"/>
              </a:buClr>
              <a:buSzPts val="2600"/>
              <a:buFont typeface="Cambria"/>
              <a:buNone/>
            </a:pPr>
            <a:r>
              <a:rPr b="1" lang="en-US" sz="2600">
                <a:solidFill>
                  <a:srgbClr val="18A558"/>
                </a:solidFill>
                <a:latin typeface="Cambria"/>
                <a:ea typeface="Cambria"/>
                <a:cs typeface="Cambria"/>
                <a:sym typeface="Cambria"/>
              </a:rPr>
              <a:t>01</a:t>
            </a:r>
            <a:endParaRPr sz="2600">
              <a:solidFill>
                <a:schemeClr val="dk1"/>
              </a:solidFill>
              <a:latin typeface="Calibri"/>
              <a:ea typeface="Calibri"/>
              <a:cs typeface="Calibri"/>
              <a:sym typeface="Calibri"/>
            </a:endParaRPr>
          </a:p>
        </p:txBody>
      </p:sp>
      <p:sp>
        <p:nvSpPr>
          <p:cNvPr id="156" name="Google Shape;156;p6"/>
          <p:cNvSpPr txBox="1"/>
          <p:nvPr/>
        </p:nvSpPr>
        <p:spPr>
          <a:xfrm>
            <a:off x="1005840" y="2788920"/>
            <a:ext cx="27523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100"/>
              <a:buFont typeface="Calibri"/>
              <a:buNone/>
            </a:pPr>
            <a:r>
              <a:rPr b="1" lang="en-US" sz="1100">
                <a:solidFill>
                  <a:srgbClr val="767676"/>
                </a:solidFill>
                <a:latin typeface="Calibri"/>
                <a:ea typeface="Calibri"/>
                <a:cs typeface="Calibri"/>
                <a:sym typeface="Calibri"/>
              </a:rPr>
              <a:t>REGRESIÓN</a:t>
            </a:r>
            <a:endParaRPr sz="1100">
              <a:solidFill>
                <a:schemeClr val="dk1"/>
              </a:solidFill>
              <a:latin typeface="Calibri"/>
              <a:ea typeface="Calibri"/>
              <a:cs typeface="Calibri"/>
              <a:sym typeface="Calibri"/>
            </a:endParaRPr>
          </a:p>
        </p:txBody>
      </p:sp>
      <p:sp>
        <p:nvSpPr>
          <p:cNvPr id="157" name="Google Shape;157;p6"/>
          <p:cNvSpPr txBox="1"/>
          <p:nvPr/>
        </p:nvSpPr>
        <p:spPr>
          <a:xfrm>
            <a:off x="1005840" y="3172968"/>
            <a:ext cx="2752344"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700"/>
              <a:buFont typeface="Cambria"/>
              <a:buNone/>
            </a:pPr>
            <a:r>
              <a:rPr b="1" lang="en-US" sz="2700">
                <a:solidFill>
                  <a:srgbClr val="1C1C1C"/>
                </a:solidFill>
                <a:latin typeface="Cambria"/>
                <a:ea typeface="Cambria"/>
                <a:cs typeface="Cambria"/>
                <a:sym typeface="Cambria"/>
              </a:rPr>
              <a:t>R² = 0,44</a:t>
            </a:r>
            <a:endParaRPr sz="2700">
              <a:solidFill>
                <a:schemeClr val="dk1"/>
              </a:solidFill>
              <a:latin typeface="Calibri"/>
              <a:ea typeface="Calibri"/>
              <a:cs typeface="Calibri"/>
              <a:sym typeface="Calibri"/>
            </a:endParaRPr>
          </a:p>
        </p:txBody>
      </p:sp>
      <p:sp>
        <p:nvSpPr>
          <p:cNvPr id="158" name="Google Shape;158;p6"/>
          <p:cNvSpPr txBox="1"/>
          <p:nvPr/>
        </p:nvSpPr>
        <p:spPr>
          <a:xfrm>
            <a:off x="1005840" y="3931920"/>
            <a:ext cx="2752344"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3F4A44"/>
              </a:buClr>
              <a:buSzPts val="1500"/>
              <a:buFont typeface="Calibri"/>
              <a:buNone/>
            </a:pPr>
            <a:r>
              <a:rPr lang="en-US" sz="1500">
                <a:solidFill>
                  <a:srgbClr val="3F4A44"/>
                </a:solidFill>
                <a:latin typeface="Calibri"/>
                <a:ea typeface="Calibri"/>
                <a:cs typeface="Calibri"/>
                <a:sym typeface="Calibri"/>
              </a:rPr>
              <a:t>Acierta el valor exacto de popularidad, de 0 a 100</a:t>
            </a:r>
            <a:endParaRPr sz="1500">
              <a:solidFill>
                <a:schemeClr val="dk1"/>
              </a:solidFill>
              <a:latin typeface="Calibri"/>
              <a:ea typeface="Calibri"/>
              <a:cs typeface="Calibri"/>
              <a:sym typeface="Calibri"/>
            </a:endParaRPr>
          </a:p>
        </p:txBody>
      </p:sp>
      <p:sp>
        <p:nvSpPr>
          <p:cNvPr id="159" name="Google Shape;159;p6"/>
          <p:cNvSpPr/>
          <p:nvPr/>
        </p:nvSpPr>
        <p:spPr>
          <a:xfrm>
            <a:off x="4352544" y="1965960"/>
            <a:ext cx="3483864" cy="301752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6"/>
          <p:cNvSpPr txBox="1"/>
          <p:nvPr/>
        </p:nvSpPr>
        <p:spPr>
          <a:xfrm>
            <a:off x="4718304" y="2258568"/>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A558"/>
              </a:buClr>
              <a:buSzPts val="2600"/>
              <a:buFont typeface="Cambria"/>
              <a:buNone/>
            </a:pPr>
            <a:r>
              <a:rPr b="1" lang="en-US" sz="2600">
                <a:solidFill>
                  <a:srgbClr val="18A558"/>
                </a:solidFill>
                <a:latin typeface="Cambria"/>
                <a:ea typeface="Cambria"/>
                <a:cs typeface="Cambria"/>
                <a:sym typeface="Cambria"/>
              </a:rPr>
              <a:t>02</a:t>
            </a:r>
            <a:endParaRPr sz="2600">
              <a:solidFill>
                <a:schemeClr val="dk1"/>
              </a:solidFill>
              <a:latin typeface="Calibri"/>
              <a:ea typeface="Calibri"/>
              <a:cs typeface="Calibri"/>
              <a:sym typeface="Calibri"/>
            </a:endParaRPr>
          </a:p>
        </p:txBody>
      </p:sp>
      <p:sp>
        <p:nvSpPr>
          <p:cNvPr id="161" name="Google Shape;161;p6"/>
          <p:cNvSpPr txBox="1"/>
          <p:nvPr/>
        </p:nvSpPr>
        <p:spPr>
          <a:xfrm>
            <a:off x="4718304" y="2788920"/>
            <a:ext cx="27523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100"/>
              <a:buFont typeface="Calibri"/>
              <a:buNone/>
            </a:pPr>
            <a:r>
              <a:rPr b="1" lang="en-US" sz="1100">
                <a:solidFill>
                  <a:srgbClr val="767676"/>
                </a:solidFill>
                <a:latin typeface="Calibri"/>
                <a:ea typeface="Calibri"/>
                <a:cs typeface="Calibri"/>
                <a:sym typeface="Calibri"/>
              </a:rPr>
              <a:t>CLASIFICACIÓN</a:t>
            </a:r>
            <a:endParaRPr sz="1100">
              <a:solidFill>
                <a:schemeClr val="dk1"/>
              </a:solidFill>
              <a:latin typeface="Calibri"/>
              <a:ea typeface="Calibri"/>
              <a:cs typeface="Calibri"/>
              <a:sym typeface="Calibri"/>
            </a:endParaRPr>
          </a:p>
        </p:txBody>
      </p:sp>
      <p:sp>
        <p:nvSpPr>
          <p:cNvPr id="162" name="Google Shape;162;p6"/>
          <p:cNvSpPr txBox="1"/>
          <p:nvPr/>
        </p:nvSpPr>
        <p:spPr>
          <a:xfrm>
            <a:off x="4718304" y="3172968"/>
            <a:ext cx="2752344"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700"/>
              <a:buFont typeface="Cambria"/>
              <a:buNone/>
            </a:pPr>
            <a:r>
              <a:rPr b="1" lang="en-US" sz="2700">
                <a:solidFill>
                  <a:srgbClr val="1C1C1C"/>
                </a:solidFill>
                <a:latin typeface="Cambria"/>
                <a:ea typeface="Cambria"/>
                <a:cs typeface="Cambria"/>
                <a:sym typeface="Cambria"/>
              </a:rPr>
              <a:t>Accuracy = 0,81</a:t>
            </a:r>
            <a:endParaRPr sz="2700">
              <a:solidFill>
                <a:schemeClr val="dk1"/>
              </a:solidFill>
              <a:latin typeface="Calibri"/>
              <a:ea typeface="Calibri"/>
              <a:cs typeface="Calibri"/>
              <a:sym typeface="Calibri"/>
            </a:endParaRPr>
          </a:p>
        </p:txBody>
      </p:sp>
      <p:sp>
        <p:nvSpPr>
          <p:cNvPr id="163" name="Google Shape;163;p6"/>
          <p:cNvSpPr txBox="1"/>
          <p:nvPr/>
        </p:nvSpPr>
        <p:spPr>
          <a:xfrm>
            <a:off x="4718304" y="3931920"/>
            <a:ext cx="2752344"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3F4A44"/>
              </a:buClr>
              <a:buSzPts val="1500"/>
              <a:buFont typeface="Calibri"/>
              <a:buNone/>
            </a:pPr>
            <a:r>
              <a:rPr lang="en-US" sz="1500">
                <a:solidFill>
                  <a:srgbClr val="3F4A44"/>
                </a:solidFill>
                <a:latin typeface="Calibri"/>
                <a:ea typeface="Calibri"/>
                <a:cs typeface="Calibri"/>
                <a:sym typeface="Calibri"/>
              </a:rPr>
              <a:t>Solo acierta de qué lado de 1 frontera cae</a:t>
            </a:r>
            <a:endParaRPr sz="1500">
              <a:solidFill>
                <a:schemeClr val="dk1"/>
              </a:solidFill>
              <a:latin typeface="Calibri"/>
              <a:ea typeface="Calibri"/>
              <a:cs typeface="Calibri"/>
              <a:sym typeface="Calibri"/>
            </a:endParaRPr>
          </a:p>
        </p:txBody>
      </p:sp>
      <p:sp>
        <p:nvSpPr>
          <p:cNvPr id="164" name="Google Shape;164;p6"/>
          <p:cNvSpPr/>
          <p:nvPr/>
        </p:nvSpPr>
        <p:spPr>
          <a:xfrm>
            <a:off x="8065008" y="1965960"/>
            <a:ext cx="3483864" cy="301752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6"/>
          <p:cNvSpPr txBox="1"/>
          <p:nvPr/>
        </p:nvSpPr>
        <p:spPr>
          <a:xfrm>
            <a:off x="8430768" y="2258568"/>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A558"/>
              </a:buClr>
              <a:buSzPts val="2600"/>
              <a:buFont typeface="Cambria"/>
              <a:buNone/>
            </a:pPr>
            <a:r>
              <a:rPr b="1" lang="en-US" sz="2600">
                <a:solidFill>
                  <a:srgbClr val="18A558"/>
                </a:solidFill>
                <a:latin typeface="Cambria"/>
                <a:ea typeface="Cambria"/>
                <a:cs typeface="Cambria"/>
                <a:sym typeface="Cambria"/>
              </a:rPr>
              <a:t>03</a:t>
            </a:r>
            <a:endParaRPr sz="2600">
              <a:solidFill>
                <a:schemeClr val="dk1"/>
              </a:solidFill>
              <a:latin typeface="Calibri"/>
              <a:ea typeface="Calibri"/>
              <a:cs typeface="Calibri"/>
              <a:sym typeface="Calibri"/>
            </a:endParaRPr>
          </a:p>
        </p:txBody>
      </p:sp>
      <p:sp>
        <p:nvSpPr>
          <p:cNvPr id="166" name="Google Shape;166;p6"/>
          <p:cNvSpPr txBox="1"/>
          <p:nvPr/>
        </p:nvSpPr>
        <p:spPr>
          <a:xfrm>
            <a:off x="8430768" y="2788920"/>
            <a:ext cx="27523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100"/>
              <a:buFont typeface="Calibri"/>
              <a:buNone/>
            </a:pPr>
            <a:r>
              <a:rPr b="1" lang="en-US" sz="1100">
                <a:solidFill>
                  <a:srgbClr val="767676"/>
                </a:solidFill>
                <a:latin typeface="Calibri"/>
                <a:ea typeface="Calibri"/>
                <a:cs typeface="Calibri"/>
                <a:sym typeface="Calibri"/>
              </a:rPr>
              <a:t>MISMA SEÑAL</a:t>
            </a:r>
            <a:endParaRPr sz="1100">
              <a:solidFill>
                <a:schemeClr val="dk1"/>
              </a:solidFill>
              <a:latin typeface="Calibri"/>
              <a:ea typeface="Calibri"/>
              <a:cs typeface="Calibri"/>
              <a:sym typeface="Calibri"/>
            </a:endParaRPr>
          </a:p>
        </p:txBody>
      </p:sp>
      <p:sp>
        <p:nvSpPr>
          <p:cNvPr id="167" name="Google Shape;167;p6"/>
          <p:cNvSpPr txBox="1"/>
          <p:nvPr/>
        </p:nvSpPr>
        <p:spPr>
          <a:xfrm>
            <a:off x="8430768" y="3172968"/>
            <a:ext cx="2752344"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700"/>
              <a:buFont typeface="Cambria"/>
              <a:buNone/>
            </a:pPr>
            <a:r>
              <a:rPr b="1" lang="en-US" sz="2700">
                <a:solidFill>
                  <a:srgbClr val="1C1C1C"/>
                </a:solidFill>
                <a:latin typeface="Cambria"/>
                <a:ea typeface="Cambria"/>
                <a:cs typeface="Cambria"/>
                <a:sym typeface="Cambria"/>
              </a:rPr>
              <a:t>0,80 ≈ 0,81</a:t>
            </a:r>
            <a:endParaRPr sz="2700">
              <a:solidFill>
                <a:schemeClr val="dk1"/>
              </a:solidFill>
              <a:latin typeface="Calibri"/>
              <a:ea typeface="Calibri"/>
              <a:cs typeface="Calibri"/>
              <a:sym typeface="Calibri"/>
            </a:endParaRPr>
          </a:p>
        </p:txBody>
      </p:sp>
      <p:sp>
        <p:nvSpPr>
          <p:cNvPr id="168" name="Google Shape;168;p6"/>
          <p:cNvSpPr txBox="1"/>
          <p:nvPr/>
        </p:nvSpPr>
        <p:spPr>
          <a:xfrm>
            <a:off x="8430768" y="3931920"/>
            <a:ext cx="2752344"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3F4A44"/>
              </a:buClr>
              <a:buSzPts val="1500"/>
              <a:buFont typeface="Calibri"/>
              <a:buNone/>
            </a:pPr>
            <a:r>
              <a:rPr lang="en-US" sz="1500">
                <a:solidFill>
                  <a:srgbClr val="3F4A44"/>
                </a:solidFill>
                <a:latin typeface="Calibri"/>
                <a:ea typeface="Calibri"/>
                <a:cs typeface="Calibri"/>
                <a:sym typeface="Calibri"/>
              </a:rPr>
              <a:t>El propio regresor, agrupado en la mediana, ya da 0,80</a:t>
            </a:r>
            <a:endParaRPr sz="1500">
              <a:solidFill>
                <a:schemeClr val="dk1"/>
              </a:solidFill>
              <a:latin typeface="Calibri"/>
              <a:ea typeface="Calibri"/>
              <a:cs typeface="Calibri"/>
              <a:sym typeface="Calibri"/>
            </a:endParaRPr>
          </a:p>
        </p:txBody>
      </p:sp>
      <p:sp>
        <p:nvSpPr>
          <p:cNvPr id="169" name="Google Shape;169;p6"/>
          <p:cNvSpPr txBox="1"/>
          <p:nvPr/>
        </p:nvSpPr>
        <p:spPr>
          <a:xfrm>
            <a:off x="640080" y="5349240"/>
            <a:ext cx="1090879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500"/>
              <a:buFont typeface="Calibri"/>
              <a:buNone/>
            </a:pPr>
            <a:r>
              <a:rPr b="1" lang="en-US" sz="1500">
                <a:solidFill>
                  <a:srgbClr val="0E6B39"/>
                </a:solidFill>
                <a:latin typeface="Calibri"/>
                <a:ea typeface="Calibri"/>
                <a:cs typeface="Calibri"/>
                <a:sym typeface="Calibri"/>
              </a:rPr>
              <a:t>Clasificar en 2 categorías balanceadas tolera mucho más error que acertar el número exacto</a:t>
            </a:r>
            <a:endParaRPr sz="15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0" name="Shape 900"/>
        <p:cNvGrpSpPr/>
        <p:nvPr/>
      </p:nvGrpSpPr>
      <p:grpSpPr>
        <a:xfrm>
          <a:off x="0" y="0"/>
          <a:ext cx="0" cy="0"/>
          <a:chOff x="0" y="0"/>
          <a:chExt cx="0" cy="0"/>
        </a:xfrm>
      </p:grpSpPr>
      <p:sp>
        <p:nvSpPr>
          <p:cNvPr id="901" name="eyebrow"/>
          <p:cNvSpPr txBox="1"/>
          <p:nvPr/>
        </p:nvSpPr>
        <p:spPr>
          <a:xfrm>
            <a:off x="640080" y="384048"/>
            <a:ext cx="1090879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00"/>
              <a:buFont typeface="Calibri"/>
              <a:buNone/>
            </a:pPr>
            <a:r>
              <a:rPr b="1" lang="en-US" sz="1000">
                <a:solidFill>
                  <a:srgbClr val="0E6B39"/>
                </a:solidFill>
                <a:latin typeface="Calibri"/>
                <a:ea typeface="Calibri"/>
                <a:cs typeface="Calibri"/>
                <a:sym typeface="Calibri"/>
              </a:rPr>
              <a:t>CLASIFICACIÓN</a:t>
            </a:r>
            <a:endParaRPr sz="1000">
              <a:solidFill>
                <a:schemeClr val="dk1"/>
              </a:solidFill>
              <a:latin typeface="Calibri"/>
              <a:ea typeface="Calibri"/>
              <a:cs typeface="Calibri"/>
              <a:sym typeface="Calibri"/>
            </a:endParaRPr>
          </a:p>
        </p:txBody>
      </p:sp>
      <p:sp>
        <p:nvSpPr>
          <p:cNvPr id="902" name="headline"/>
          <p:cNvSpPr txBox="1"/>
          <p:nvPr/>
        </p:nvSpPr>
        <p:spPr>
          <a:xfrm>
            <a:off x="640080" y="640080"/>
            <a:ext cx="1090879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2600"/>
              <a:buFont typeface="Cambria"/>
              <a:buNone/>
            </a:pPr>
            <a:r>
              <a:rPr b="1" lang="en-US" sz="2600">
                <a:solidFill>
                  <a:srgbClr val="1C1C1C"/>
                </a:solidFill>
                <a:latin typeface="Cambria"/>
                <a:ea typeface="Cambria"/>
                <a:cs typeface="Cambria"/>
                <a:sym typeface="Cambria"/>
              </a:rPr>
              <a:t>Random Forest comete menos errores en las tres direcciones</a:t>
            </a:r>
            <a:endParaRPr sz="2600">
              <a:solidFill>
                <a:schemeClr val="dk1"/>
              </a:solidFill>
              <a:latin typeface="Calibri"/>
              <a:ea typeface="Calibri"/>
              <a:cs typeface="Calibri"/>
              <a:sym typeface="Calibri"/>
            </a:endParaRPr>
          </a:p>
        </p:txBody>
      </p:sp>
      <p:sp>
        <p:nvSpPr>
          <p:cNvPr id="903" name="tb"/>
          <p:cNvSpPr txBox="1"/>
          <p:nvPr/>
        </p:nvSpPr>
        <p:spPr>
          <a:xfrm>
            <a:off x="640080" y="1850000"/>
            <a:ext cx="33832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1C1C1C"/>
                </a:solidFill>
                <a:latin typeface="Cambria"/>
                <a:ea typeface="Cambria"/>
                <a:cs typeface="Cambria"/>
                <a:sym typeface="Cambria"/>
              </a:rPr>
              <a:t>Regresión Logística</a:t>
            </a:r>
            <a:endParaRPr sz="1600">
              <a:solidFill>
                <a:schemeClr val="dk1"/>
              </a:solidFill>
              <a:latin typeface="Calibri"/>
              <a:ea typeface="Calibri"/>
              <a:cs typeface="Calibri"/>
              <a:sym typeface="Calibri"/>
            </a:endParaRPr>
          </a:p>
        </p:txBody>
      </p:sp>
      <p:sp>
        <p:nvSpPr>
          <p:cNvPr id="904" name="tb"/>
          <p:cNvSpPr txBox="1"/>
          <p:nvPr/>
        </p:nvSpPr>
        <p:spPr>
          <a:xfrm>
            <a:off x="1645920" y="2234048"/>
            <a:ext cx="237744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lang="en-US" sz="1100">
                <a:solidFill>
                  <a:srgbClr val="556578"/>
                </a:solidFill>
                <a:latin typeface="Calibri"/>
                <a:ea typeface="Calibri"/>
                <a:cs typeface="Calibri"/>
                <a:sym typeface="Calibri"/>
              </a:rPr>
              <a:t>Predicción →</a:t>
            </a:r>
            <a:endParaRPr sz="1100">
              <a:solidFill>
                <a:schemeClr val="dk1"/>
              </a:solidFill>
              <a:latin typeface="Calibri"/>
              <a:ea typeface="Calibri"/>
              <a:cs typeface="Calibri"/>
              <a:sym typeface="Calibri"/>
            </a:endParaRPr>
          </a:p>
        </p:txBody>
      </p:sp>
      <p:sp>
        <p:nvSpPr>
          <p:cNvPr id="905" name="tb"/>
          <p:cNvSpPr txBox="1"/>
          <p:nvPr/>
        </p:nvSpPr>
        <p:spPr>
          <a:xfrm>
            <a:off x="1645920" y="2490080"/>
            <a:ext cx="11430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lang="en-US" sz="1100">
                <a:solidFill>
                  <a:srgbClr val="556578"/>
                </a:solidFill>
                <a:latin typeface="Calibri"/>
                <a:ea typeface="Calibri"/>
                <a:cs typeface="Calibri"/>
                <a:sym typeface="Calibri"/>
              </a:rPr>
              <a:t>Alta</a:t>
            </a:r>
            <a:endParaRPr sz="1100">
              <a:solidFill>
                <a:schemeClr val="dk1"/>
              </a:solidFill>
              <a:latin typeface="Calibri"/>
              <a:ea typeface="Calibri"/>
              <a:cs typeface="Calibri"/>
              <a:sym typeface="Calibri"/>
            </a:endParaRPr>
          </a:p>
        </p:txBody>
      </p:sp>
      <p:sp>
        <p:nvSpPr>
          <p:cNvPr id="906" name="tb"/>
          <p:cNvSpPr txBox="1"/>
          <p:nvPr/>
        </p:nvSpPr>
        <p:spPr>
          <a:xfrm>
            <a:off x="2880360" y="2490080"/>
            <a:ext cx="11430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lang="en-US" sz="1100">
                <a:solidFill>
                  <a:srgbClr val="556578"/>
                </a:solidFill>
                <a:latin typeface="Calibri"/>
                <a:ea typeface="Calibri"/>
                <a:cs typeface="Calibri"/>
                <a:sym typeface="Calibri"/>
              </a:rPr>
              <a:t>Baja</a:t>
            </a:r>
            <a:endParaRPr sz="1100">
              <a:solidFill>
                <a:schemeClr val="dk1"/>
              </a:solidFill>
              <a:latin typeface="Calibri"/>
              <a:ea typeface="Calibri"/>
              <a:cs typeface="Calibri"/>
              <a:sym typeface="Calibri"/>
            </a:endParaRPr>
          </a:p>
        </p:txBody>
      </p:sp>
      <p:sp>
        <p:nvSpPr>
          <p:cNvPr id="907" name="tb"/>
          <p:cNvSpPr txBox="1"/>
          <p:nvPr/>
        </p:nvSpPr>
        <p:spPr>
          <a:xfrm>
            <a:off x="640080" y="2490080"/>
            <a:ext cx="9144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100">
                <a:solidFill>
                  <a:srgbClr val="556578"/>
                </a:solidFill>
                <a:latin typeface="Calibri"/>
                <a:ea typeface="Calibri"/>
                <a:cs typeface="Calibri"/>
                <a:sym typeface="Calibri"/>
              </a:rPr>
              <a:t>Real ↓</a:t>
            </a:r>
            <a:endParaRPr sz="1100">
              <a:solidFill>
                <a:schemeClr val="dk1"/>
              </a:solidFill>
              <a:latin typeface="Calibri"/>
              <a:ea typeface="Calibri"/>
              <a:cs typeface="Calibri"/>
              <a:sym typeface="Calibri"/>
            </a:endParaRPr>
          </a:p>
        </p:txBody>
      </p:sp>
      <p:sp>
        <p:nvSpPr>
          <p:cNvPr id="908" name="tb"/>
          <p:cNvSpPr txBox="1"/>
          <p:nvPr/>
        </p:nvSpPr>
        <p:spPr>
          <a:xfrm>
            <a:off x="640080" y="2855840"/>
            <a:ext cx="9144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56578"/>
                </a:solidFill>
                <a:latin typeface="Calibri"/>
                <a:ea typeface="Calibri"/>
                <a:cs typeface="Calibri"/>
                <a:sym typeface="Calibri"/>
              </a:rPr>
              <a:t>Alta</a:t>
            </a:r>
            <a:endParaRPr sz="1200">
              <a:solidFill>
                <a:schemeClr val="dk1"/>
              </a:solidFill>
              <a:latin typeface="Calibri"/>
              <a:ea typeface="Calibri"/>
              <a:cs typeface="Calibri"/>
              <a:sym typeface="Calibri"/>
            </a:endParaRPr>
          </a:p>
        </p:txBody>
      </p:sp>
      <p:sp>
        <p:nvSpPr>
          <p:cNvPr id="909" name="tb"/>
          <p:cNvSpPr txBox="1"/>
          <p:nvPr/>
        </p:nvSpPr>
        <p:spPr>
          <a:xfrm>
            <a:off x="640080" y="4090280"/>
            <a:ext cx="9144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56578"/>
                </a:solidFill>
                <a:latin typeface="Calibri"/>
                <a:ea typeface="Calibri"/>
                <a:cs typeface="Calibri"/>
                <a:sym typeface="Calibri"/>
              </a:rPr>
              <a:t>Baja</a:t>
            </a:r>
            <a:endParaRPr sz="1200">
              <a:solidFill>
                <a:schemeClr val="dk1"/>
              </a:solidFill>
              <a:latin typeface="Calibri"/>
              <a:ea typeface="Calibri"/>
              <a:cs typeface="Calibri"/>
              <a:sym typeface="Calibri"/>
            </a:endParaRPr>
          </a:p>
        </p:txBody>
      </p:sp>
      <p:sp>
        <p:nvSpPr>
          <p:cNvPr id="910" name="cell"/>
          <p:cNvSpPr/>
          <p:nvPr/>
        </p:nvSpPr>
        <p:spPr>
          <a:xfrm>
            <a:off x="1645920" y="2855840"/>
            <a:ext cx="1143000" cy="1143000"/>
          </a:xfrm>
          <a:prstGeom prst="roundRect">
            <a:avLst>
              <a:gd fmla="val 6000" name="adj"/>
            </a:avLst>
          </a:prstGeom>
          <a:solidFill>
            <a:srgbClr val="18A558"/>
          </a:solidFill>
          <a:ln>
            <a:noFill/>
          </a:ln>
        </p:spPr>
        <p:txBody>
          <a:bodyPr anchorCtr="1" anchor="ctr" bIns="0" lIns="0" spcFirstLastPara="1" rIns="0" wrap="square" tIns="0">
            <a:noAutofit/>
          </a:bodyPr>
          <a:lstStyle/>
          <a:p>
            <a:pPr indent="0" lvl="0" marL="0" marR="0" rtl="0" algn="ctr">
              <a:spcBef>
                <a:spcPts val="0"/>
              </a:spcBef>
              <a:spcAft>
                <a:spcPts val="0"/>
              </a:spcAft>
              <a:buNone/>
            </a:pPr>
            <a:r>
              <a:rPr b="1" lang="en-US" sz="2200">
                <a:solidFill>
                  <a:srgbClr val="FFFFFF"/>
                </a:solidFill>
                <a:latin typeface="Calibri"/>
                <a:ea typeface="Calibri"/>
                <a:cs typeface="Calibri"/>
                <a:sym typeface="Calibri"/>
              </a:rPr>
              <a:t>6.629</a:t>
            </a:r>
            <a:endParaRPr sz="2200">
              <a:solidFill>
                <a:schemeClr val="dk1"/>
              </a:solidFill>
              <a:latin typeface="Calibri"/>
              <a:ea typeface="Calibri"/>
              <a:cs typeface="Calibri"/>
              <a:sym typeface="Calibri"/>
            </a:endParaRPr>
          </a:p>
        </p:txBody>
      </p:sp>
      <p:sp>
        <p:nvSpPr>
          <p:cNvPr id="911" name="cell"/>
          <p:cNvSpPr/>
          <p:nvPr/>
        </p:nvSpPr>
        <p:spPr>
          <a:xfrm>
            <a:off x="2880360" y="2855840"/>
            <a:ext cx="1143000" cy="1143000"/>
          </a:xfrm>
          <a:prstGeom prst="roundRect">
            <a:avLst>
              <a:gd fmla="val 6000" name="adj"/>
            </a:avLst>
          </a:prstGeom>
          <a:solidFill>
            <a:srgbClr val="E9A23B"/>
          </a:solidFill>
          <a:ln>
            <a:noFill/>
          </a:ln>
        </p:spPr>
        <p:txBody>
          <a:bodyPr anchorCtr="1" anchor="ctr" bIns="0" lIns="0" spcFirstLastPara="1" rIns="0" wrap="square" tIns="0">
            <a:noAutofit/>
          </a:bodyPr>
          <a:lstStyle/>
          <a:p>
            <a:pPr indent="0" lvl="0" marL="0" marR="0" rtl="0" algn="ctr">
              <a:spcBef>
                <a:spcPts val="0"/>
              </a:spcBef>
              <a:spcAft>
                <a:spcPts val="0"/>
              </a:spcAft>
              <a:buNone/>
            </a:pPr>
            <a:r>
              <a:rPr b="1" lang="en-US" sz="2200">
                <a:solidFill>
                  <a:srgbClr val="1C1C1C"/>
                </a:solidFill>
                <a:latin typeface="Calibri"/>
                <a:ea typeface="Calibri"/>
                <a:cs typeface="Calibri"/>
                <a:sym typeface="Calibri"/>
              </a:rPr>
              <a:t>1.697</a:t>
            </a:r>
            <a:endParaRPr sz="2200">
              <a:solidFill>
                <a:schemeClr val="dk1"/>
              </a:solidFill>
              <a:latin typeface="Calibri"/>
              <a:ea typeface="Calibri"/>
              <a:cs typeface="Calibri"/>
              <a:sym typeface="Calibri"/>
            </a:endParaRPr>
          </a:p>
        </p:txBody>
      </p:sp>
      <p:sp>
        <p:nvSpPr>
          <p:cNvPr id="912" name="cell"/>
          <p:cNvSpPr/>
          <p:nvPr/>
        </p:nvSpPr>
        <p:spPr>
          <a:xfrm>
            <a:off x="1645920" y="4090280"/>
            <a:ext cx="1143000" cy="1143000"/>
          </a:xfrm>
          <a:prstGeom prst="roundRect">
            <a:avLst>
              <a:gd fmla="val 6000" name="adj"/>
            </a:avLst>
          </a:prstGeom>
          <a:solidFill>
            <a:srgbClr val="E9A23B"/>
          </a:solidFill>
          <a:ln>
            <a:noFill/>
          </a:ln>
        </p:spPr>
        <p:txBody>
          <a:bodyPr anchorCtr="1" anchor="ctr" bIns="0" lIns="0" spcFirstLastPara="1" rIns="0" wrap="square" tIns="0">
            <a:noAutofit/>
          </a:bodyPr>
          <a:lstStyle/>
          <a:p>
            <a:pPr indent="0" lvl="0" marL="0" marR="0" rtl="0" algn="ctr">
              <a:spcBef>
                <a:spcPts val="0"/>
              </a:spcBef>
              <a:spcAft>
                <a:spcPts val="0"/>
              </a:spcAft>
              <a:buNone/>
            </a:pPr>
            <a:r>
              <a:rPr b="1" lang="en-US" sz="2200">
                <a:solidFill>
                  <a:srgbClr val="1C1C1C"/>
                </a:solidFill>
                <a:latin typeface="Calibri"/>
                <a:ea typeface="Calibri"/>
                <a:cs typeface="Calibri"/>
                <a:sym typeface="Calibri"/>
              </a:rPr>
              <a:t>2.029</a:t>
            </a:r>
            <a:endParaRPr sz="2200">
              <a:solidFill>
                <a:schemeClr val="dk1"/>
              </a:solidFill>
              <a:latin typeface="Calibri"/>
              <a:ea typeface="Calibri"/>
              <a:cs typeface="Calibri"/>
              <a:sym typeface="Calibri"/>
            </a:endParaRPr>
          </a:p>
        </p:txBody>
      </p:sp>
      <p:sp>
        <p:nvSpPr>
          <p:cNvPr id="913" name="cell"/>
          <p:cNvSpPr/>
          <p:nvPr/>
        </p:nvSpPr>
        <p:spPr>
          <a:xfrm>
            <a:off x="2880360" y="4090280"/>
            <a:ext cx="1143000" cy="1143000"/>
          </a:xfrm>
          <a:prstGeom prst="roundRect">
            <a:avLst>
              <a:gd fmla="val 6000" name="adj"/>
            </a:avLst>
          </a:prstGeom>
          <a:solidFill>
            <a:srgbClr val="18A558"/>
          </a:solidFill>
          <a:ln>
            <a:noFill/>
          </a:ln>
        </p:spPr>
        <p:txBody>
          <a:bodyPr anchorCtr="1" anchor="ctr" bIns="0" lIns="0" spcFirstLastPara="1" rIns="0" wrap="square" tIns="0">
            <a:noAutofit/>
          </a:bodyPr>
          <a:lstStyle/>
          <a:p>
            <a:pPr indent="0" lvl="0" marL="0" marR="0" rtl="0" algn="ctr">
              <a:spcBef>
                <a:spcPts val="0"/>
              </a:spcBef>
              <a:spcAft>
                <a:spcPts val="0"/>
              </a:spcAft>
              <a:buNone/>
            </a:pPr>
            <a:r>
              <a:rPr b="1" lang="en-US" sz="2200">
                <a:solidFill>
                  <a:srgbClr val="FFFFFF"/>
                </a:solidFill>
                <a:latin typeface="Calibri"/>
                <a:ea typeface="Calibri"/>
                <a:cs typeface="Calibri"/>
                <a:sym typeface="Calibri"/>
              </a:rPr>
              <a:t>6.341</a:t>
            </a:r>
            <a:endParaRPr sz="2200">
              <a:solidFill>
                <a:schemeClr val="dk1"/>
              </a:solidFill>
              <a:latin typeface="Calibri"/>
              <a:ea typeface="Calibri"/>
              <a:cs typeface="Calibri"/>
              <a:sym typeface="Calibri"/>
            </a:endParaRPr>
          </a:p>
        </p:txBody>
      </p:sp>
      <p:sp>
        <p:nvSpPr>
          <p:cNvPr id="914" name="tb"/>
          <p:cNvSpPr txBox="1"/>
          <p:nvPr/>
        </p:nvSpPr>
        <p:spPr>
          <a:xfrm>
            <a:off x="4434840" y="1850000"/>
            <a:ext cx="33832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1C1C1C"/>
                </a:solidFill>
                <a:latin typeface="Cambria"/>
                <a:ea typeface="Cambria"/>
                <a:cs typeface="Cambria"/>
                <a:sym typeface="Cambria"/>
              </a:rPr>
              <a:t>Árbol de Decisión</a:t>
            </a:r>
            <a:endParaRPr sz="1600">
              <a:solidFill>
                <a:schemeClr val="dk1"/>
              </a:solidFill>
              <a:latin typeface="Calibri"/>
              <a:ea typeface="Calibri"/>
              <a:cs typeface="Calibri"/>
              <a:sym typeface="Calibri"/>
            </a:endParaRPr>
          </a:p>
        </p:txBody>
      </p:sp>
      <p:sp>
        <p:nvSpPr>
          <p:cNvPr id="915" name="tb"/>
          <p:cNvSpPr txBox="1"/>
          <p:nvPr/>
        </p:nvSpPr>
        <p:spPr>
          <a:xfrm>
            <a:off x="5440680" y="2234048"/>
            <a:ext cx="237744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lang="en-US" sz="1100">
                <a:solidFill>
                  <a:srgbClr val="556578"/>
                </a:solidFill>
                <a:latin typeface="Calibri"/>
                <a:ea typeface="Calibri"/>
                <a:cs typeface="Calibri"/>
                <a:sym typeface="Calibri"/>
              </a:rPr>
              <a:t>Predicción →</a:t>
            </a:r>
            <a:endParaRPr sz="1100">
              <a:solidFill>
                <a:schemeClr val="dk1"/>
              </a:solidFill>
              <a:latin typeface="Calibri"/>
              <a:ea typeface="Calibri"/>
              <a:cs typeface="Calibri"/>
              <a:sym typeface="Calibri"/>
            </a:endParaRPr>
          </a:p>
        </p:txBody>
      </p:sp>
      <p:sp>
        <p:nvSpPr>
          <p:cNvPr id="916" name="tb"/>
          <p:cNvSpPr txBox="1"/>
          <p:nvPr/>
        </p:nvSpPr>
        <p:spPr>
          <a:xfrm>
            <a:off x="5440680" y="2490080"/>
            <a:ext cx="11430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lang="en-US" sz="1100">
                <a:solidFill>
                  <a:srgbClr val="556578"/>
                </a:solidFill>
                <a:latin typeface="Calibri"/>
                <a:ea typeface="Calibri"/>
                <a:cs typeface="Calibri"/>
                <a:sym typeface="Calibri"/>
              </a:rPr>
              <a:t>Alta</a:t>
            </a:r>
            <a:endParaRPr sz="1100">
              <a:solidFill>
                <a:schemeClr val="dk1"/>
              </a:solidFill>
              <a:latin typeface="Calibri"/>
              <a:ea typeface="Calibri"/>
              <a:cs typeface="Calibri"/>
              <a:sym typeface="Calibri"/>
            </a:endParaRPr>
          </a:p>
        </p:txBody>
      </p:sp>
      <p:sp>
        <p:nvSpPr>
          <p:cNvPr id="917" name="tb"/>
          <p:cNvSpPr txBox="1"/>
          <p:nvPr/>
        </p:nvSpPr>
        <p:spPr>
          <a:xfrm>
            <a:off x="6675120" y="2490080"/>
            <a:ext cx="11430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lang="en-US" sz="1100">
                <a:solidFill>
                  <a:srgbClr val="556578"/>
                </a:solidFill>
                <a:latin typeface="Calibri"/>
                <a:ea typeface="Calibri"/>
                <a:cs typeface="Calibri"/>
                <a:sym typeface="Calibri"/>
              </a:rPr>
              <a:t>Baja</a:t>
            </a:r>
            <a:endParaRPr sz="1100">
              <a:solidFill>
                <a:schemeClr val="dk1"/>
              </a:solidFill>
              <a:latin typeface="Calibri"/>
              <a:ea typeface="Calibri"/>
              <a:cs typeface="Calibri"/>
              <a:sym typeface="Calibri"/>
            </a:endParaRPr>
          </a:p>
        </p:txBody>
      </p:sp>
      <p:sp>
        <p:nvSpPr>
          <p:cNvPr id="918" name="tb"/>
          <p:cNvSpPr txBox="1"/>
          <p:nvPr/>
        </p:nvSpPr>
        <p:spPr>
          <a:xfrm>
            <a:off x="4434840" y="2490080"/>
            <a:ext cx="9144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100">
                <a:solidFill>
                  <a:srgbClr val="556578"/>
                </a:solidFill>
                <a:latin typeface="Calibri"/>
                <a:ea typeface="Calibri"/>
                <a:cs typeface="Calibri"/>
                <a:sym typeface="Calibri"/>
              </a:rPr>
              <a:t>Real ↓</a:t>
            </a:r>
            <a:endParaRPr sz="1100">
              <a:solidFill>
                <a:schemeClr val="dk1"/>
              </a:solidFill>
              <a:latin typeface="Calibri"/>
              <a:ea typeface="Calibri"/>
              <a:cs typeface="Calibri"/>
              <a:sym typeface="Calibri"/>
            </a:endParaRPr>
          </a:p>
        </p:txBody>
      </p:sp>
      <p:sp>
        <p:nvSpPr>
          <p:cNvPr id="919" name="tb"/>
          <p:cNvSpPr txBox="1"/>
          <p:nvPr/>
        </p:nvSpPr>
        <p:spPr>
          <a:xfrm>
            <a:off x="4434840" y="2855840"/>
            <a:ext cx="9144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56578"/>
                </a:solidFill>
                <a:latin typeface="Calibri"/>
                <a:ea typeface="Calibri"/>
                <a:cs typeface="Calibri"/>
                <a:sym typeface="Calibri"/>
              </a:rPr>
              <a:t>Alta</a:t>
            </a:r>
            <a:endParaRPr sz="1200">
              <a:solidFill>
                <a:schemeClr val="dk1"/>
              </a:solidFill>
              <a:latin typeface="Calibri"/>
              <a:ea typeface="Calibri"/>
              <a:cs typeface="Calibri"/>
              <a:sym typeface="Calibri"/>
            </a:endParaRPr>
          </a:p>
        </p:txBody>
      </p:sp>
      <p:sp>
        <p:nvSpPr>
          <p:cNvPr id="920" name="tb"/>
          <p:cNvSpPr txBox="1"/>
          <p:nvPr/>
        </p:nvSpPr>
        <p:spPr>
          <a:xfrm>
            <a:off x="4434840" y="4090280"/>
            <a:ext cx="9144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56578"/>
                </a:solidFill>
                <a:latin typeface="Calibri"/>
                <a:ea typeface="Calibri"/>
                <a:cs typeface="Calibri"/>
                <a:sym typeface="Calibri"/>
              </a:rPr>
              <a:t>Baja</a:t>
            </a:r>
            <a:endParaRPr sz="1200">
              <a:solidFill>
                <a:schemeClr val="dk1"/>
              </a:solidFill>
              <a:latin typeface="Calibri"/>
              <a:ea typeface="Calibri"/>
              <a:cs typeface="Calibri"/>
              <a:sym typeface="Calibri"/>
            </a:endParaRPr>
          </a:p>
        </p:txBody>
      </p:sp>
      <p:sp>
        <p:nvSpPr>
          <p:cNvPr id="921" name="cell"/>
          <p:cNvSpPr/>
          <p:nvPr/>
        </p:nvSpPr>
        <p:spPr>
          <a:xfrm>
            <a:off x="5440680" y="2855840"/>
            <a:ext cx="1143000" cy="1143000"/>
          </a:xfrm>
          <a:prstGeom prst="roundRect">
            <a:avLst>
              <a:gd fmla="val 6000" name="adj"/>
            </a:avLst>
          </a:prstGeom>
          <a:solidFill>
            <a:srgbClr val="18A558"/>
          </a:solidFill>
          <a:ln>
            <a:noFill/>
          </a:ln>
        </p:spPr>
        <p:txBody>
          <a:bodyPr anchorCtr="1" anchor="ctr" bIns="0" lIns="0" spcFirstLastPara="1" rIns="0" wrap="square" tIns="0">
            <a:noAutofit/>
          </a:bodyPr>
          <a:lstStyle/>
          <a:p>
            <a:pPr indent="0" lvl="0" marL="0" marR="0" rtl="0" algn="ctr">
              <a:spcBef>
                <a:spcPts val="0"/>
              </a:spcBef>
              <a:spcAft>
                <a:spcPts val="0"/>
              </a:spcAft>
              <a:buNone/>
            </a:pPr>
            <a:r>
              <a:rPr b="1" lang="en-US" sz="2200">
                <a:solidFill>
                  <a:srgbClr val="FFFFFF"/>
                </a:solidFill>
                <a:latin typeface="Calibri"/>
                <a:ea typeface="Calibri"/>
                <a:cs typeface="Calibri"/>
                <a:sym typeface="Calibri"/>
              </a:rPr>
              <a:t>6.683</a:t>
            </a:r>
            <a:endParaRPr sz="2200">
              <a:solidFill>
                <a:schemeClr val="dk1"/>
              </a:solidFill>
              <a:latin typeface="Calibri"/>
              <a:ea typeface="Calibri"/>
              <a:cs typeface="Calibri"/>
              <a:sym typeface="Calibri"/>
            </a:endParaRPr>
          </a:p>
        </p:txBody>
      </p:sp>
      <p:sp>
        <p:nvSpPr>
          <p:cNvPr id="922" name="cell"/>
          <p:cNvSpPr/>
          <p:nvPr/>
        </p:nvSpPr>
        <p:spPr>
          <a:xfrm>
            <a:off x="6675120" y="2855840"/>
            <a:ext cx="1143000" cy="1143000"/>
          </a:xfrm>
          <a:prstGeom prst="roundRect">
            <a:avLst>
              <a:gd fmla="val 6000" name="adj"/>
            </a:avLst>
          </a:prstGeom>
          <a:solidFill>
            <a:srgbClr val="E9A23B"/>
          </a:solidFill>
          <a:ln>
            <a:noFill/>
          </a:ln>
        </p:spPr>
        <p:txBody>
          <a:bodyPr anchorCtr="1" anchor="ctr" bIns="0" lIns="0" spcFirstLastPara="1" rIns="0" wrap="square" tIns="0">
            <a:noAutofit/>
          </a:bodyPr>
          <a:lstStyle/>
          <a:p>
            <a:pPr indent="0" lvl="0" marL="0" marR="0" rtl="0" algn="ctr">
              <a:spcBef>
                <a:spcPts val="0"/>
              </a:spcBef>
              <a:spcAft>
                <a:spcPts val="0"/>
              </a:spcAft>
              <a:buNone/>
            </a:pPr>
            <a:r>
              <a:rPr b="1" lang="en-US" sz="2200">
                <a:solidFill>
                  <a:srgbClr val="1C1C1C"/>
                </a:solidFill>
                <a:latin typeface="Calibri"/>
                <a:ea typeface="Calibri"/>
                <a:cs typeface="Calibri"/>
                <a:sym typeface="Calibri"/>
              </a:rPr>
              <a:t>1.643</a:t>
            </a:r>
            <a:endParaRPr sz="2200">
              <a:solidFill>
                <a:schemeClr val="dk1"/>
              </a:solidFill>
              <a:latin typeface="Calibri"/>
              <a:ea typeface="Calibri"/>
              <a:cs typeface="Calibri"/>
              <a:sym typeface="Calibri"/>
            </a:endParaRPr>
          </a:p>
        </p:txBody>
      </p:sp>
      <p:sp>
        <p:nvSpPr>
          <p:cNvPr id="923" name="cell"/>
          <p:cNvSpPr/>
          <p:nvPr/>
        </p:nvSpPr>
        <p:spPr>
          <a:xfrm>
            <a:off x="5440680" y="4090280"/>
            <a:ext cx="1143000" cy="1143000"/>
          </a:xfrm>
          <a:prstGeom prst="roundRect">
            <a:avLst>
              <a:gd fmla="val 6000" name="adj"/>
            </a:avLst>
          </a:prstGeom>
          <a:solidFill>
            <a:srgbClr val="E9A23B"/>
          </a:solidFill>
          <a:ln>
            <a:noFill/>
          </a:ln>
        </p:spPr>
        <p:txBody>
          <a:bodyPr anchorCtr="1" anchor="ctr" bIns="0" lIns="0" spcFirstLastPara="1" rIns="0" wrap="square" tIns="0">
            <a:noAutofit/>
          </a:bodyPr>
          <a:lstStyle/>
          <a:p>
            <a:pPr indent="0" lvl="0" marL="0" marR="0" rtl="0" algn="ctr">
              <a:spcBef>
                <a:spcPts val="0"/>
              </a:spcBef>
              <a:spcAft>
                <a:spcPts val="0"/>
              </a:spcAft>
              <a:buNone/>
            </a:pPr>
            <a:r>
              <a:rPr b="1" lang="en-US" sz="2200">
                <a:solidFill>
                  <a:srgbClr val="1C1C1C"/>
                </a:solidFill>
                <a:latin typeface="Calibri"/>
                <a:ea typeface="Calibri"/>
                <a:cs typeface="Calibri"/>
                <a:sym typeface="Calibri"/>
              </a:rPr>
              <a:t>1.882</a:t>
            </a:r>
            <a:endParaRPr sz="2200">
              <a:solidFill>
                <a:schemeClr val="dk1"/>
              </a:solidFill>
              <a:latin typeface="Calibri"/>
              <a:ea typeface="Calibri"/>
              <a:cs typeface="Calibri"/>
              <a:sym typeface="Calibri"/>
            </a:endParaRPr>
          </a:p>
        </p:txBody>
      </p:sp>
      <p:sp>
        <p:nvSpPr>
          <p:cNvPr id="924" name="cell"/>
          <p:cNvSpPr/>
          <p:nvPr/>
        </p:nvSpPr>
        <p:spPr>
          <a:xfrm>
            <a:off x="6675120" y="4090280"/>
            <a:ext cx="1143000" cy="1143000"/>
          </a:xfrm>
          <a:prstGeom prst="roundRect">
            <a:avLst>
              <a:gd fmla="val 6000" name="adj"/>
            </a:avLst>
          </a:prstGeom>
          <a:solidFill>
            <a:srgbClr val="18A558"/>
          </a:solidFill>
          <a:ln>
            <a:noFill/>
          </a:ln>
        </p:spPr>
        <p:txBody>
          <a:bodyPr anchorCtr="1" anchor="ctr" bIns="0" lIns="0" spcFirstLastPara="1" rIns="0" wrap="square" tIns="0">
            <a:noAutofit/>
          </a:bodyPr>
          <a:lstStyle/>
          <a:p>
            <a:pPr indent="0" lvl="0" marL="0" marR="0" rtl="0" algn="ctr">
              <a:spcBef>
                <a:spcPts val="0"/>
              </a:spcBef>
              <a:spcAft>
                <a:spcPts val="0"/>
              </a:spcAft>
              <a:buNone/>
            </a:pPr>
            <a:r>
              <a:rPr b="1" lang="en-US" sz="2200">
                <a:solidFill>
                  <a:srgbClr val="FFFFFF"/>
                </a:solidFill>
                <a:latin typeface="Calibri"/>
                <a:ea typeface="Calibri"/>
                <a:cs typeface="Calibri"/>
                <a:sym typeface="Calibri"/>
              </a:rPr>
              <a:t>6.488</a:t>
            </a:r>
            <a:endParaRPr sz="2200">
              <a:solidFill>
                <a:schemeClr val="dk1"/>
              </a:solidFill>
              <a:latin typeface="Calibri"/>
              <a:ea typeface="Calibri"/>
              <a:cs typeface="Calibri"/>
              <a:sym typeface="Calibri"/>
            </a:endParaRPr>
          </a:p>
        </p:txBody>
      </p:sp>
      <p:sp>
        <p:nvSpPr>
          <p:cNvPr id="925" name="tb"/>
          <p:cNvSpPr txBox="1"/>
          <p:nvPr/>
        </p:nvSpPr>
        <p:spPr>
          <a:xfrm>
            <a:off x="8229600" y="1850000"/>
            <a:ext cx="33832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1C1C1C"/>
                </a:solidFill>
                <a:latin typeface="Cambria"/>
                <a:ea typeface="Cambria"/>
                <a:cs typeface="Cambria"/>
                <a:sym typeface="Cambria"/>
              </a:rPr>
              <a:t>Random Forest</a:t>
            </a:r>
            <a:endParaRPr sz="1600">
              <a:solidFill>
                <a:schemeClr val="dk1"/>
              </a:solidFill>
              <a:latin typeface="Calibri"/>
              <a:ea typeface="Calibri"/>
              <a:cs typeface="Calibri"/>
              <a:sym typeface="Calibri"/>
            </a:endParaRPr>
          </a:p>
        </p:txBody>
      </p:sp>
      <p:sp>
        <p:nvSpPr>
          <p:cNvPr id="926" name="tb"/>
          <p:cNvSpPr txBox="1"/>
          <p:nvPr/>
        </p:nvSpPr>
        <p:spPr>
          <a:xfrm>
            <a:off x="9235440" y="2234048"/>
            <a:ext cx="237744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lang="en-US" sz="1100">
                <a:solidFill>
                  <a:srgbClr val="556578"/>
                </a:solidFill>
                <a:latin typeface="Calibri"/>
                <a:ea typeface="Calibri"/>
                <a:cs typeface="Calibri"/>
                <a:sym typeface="Calibri"/>
              </a:rPr>
              <a:t>Predicción →</a:t>
            </a:r>
            <a:endParaRPr sz="1100">
              <a:solidFill>
                <a:schemeClr val="dk1"/>
              </a:solidFill>
              <a:latin typeface="Calibri"/>
              <a:ea typeface="Calibri"/>
              <a:cs typeface="Calibri"/>
              <a:sym typeface="Calibri"/>
            </a:endParaRPr>
          </a:p>
        </p:txBody>
      </p:sp>
      <p:sp>
        <p:nvSpPr>
          <p:cNvPr id="927" name="tb"/>
          <p:cNvSpPr txBox="1"/>
          <p:nvPr/>
        </p:nvSpPr>
        <p:spPr>
          <a:xfrm>
            <a:off x="9235440" y="2490080"/>
            <a:ext cx="11430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lang="en-US" sz="1100">
                <a:solidFill>
                  <a:srgbClr val="556578"/>
                </a:solidFill>
                <a:latin typeface="Calibri"/>
                <a:ea typeface="Calibri"/>
                <a:cs typeface="Calibri"/>
                <a:sym typeface="Calibri"/>
              </a:rPr>
              <a:t>Alta</a:t>
            </a:r>
            <a:endParaRPr sz="1100">
              <a:solidFill>
                <a:schemeClr val="dk1"/>
              </a:solidFill>
              <a:latin typeface="Calibri"/>
              <a:ea typeface="Calibri"/>
              <a:cs typeface="Calibri"/>
              <a:sym typeface="Calibri"/>
            </a:endParaRPr>
          </a:p>
        </p:txBody>
      </p:sp>
      <p:sp>
        <p:nvSpPr>
          <p:cNvPr id="928" name="tb"/>
          <p:cNvSpPr txBox="1"/>
          <p:nvPr/>
        </p:nvSpPr>
        <p:spPr>
          <a:xfrm>
            <a:off x="10469880" y="2490080"/>
            <a:ext cx="11430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lang="en-US" sz="1100">
                <a:solidFill>
                  <a:srgbClr val="556578"/>
                </a:solidFill>
                <a:latin typeface="Calibri"/>
                <a:ea typeface="Calibri"/>
                <a:cs typeface="Calibri"/>
                <a:sym typeface="Calibri"/>
              </a:rPr>
              <a:t>Baja</a:t>
            </a:r>
            <a:endParaRPr sz="1100">
              <a:solidFill>
                <a:schemeClr val="dk1"/>
              </a:solidFill>
              <a:latin typeface="Calibri"/>
              <a:ea typeface="Calibri"/>
              <a:cs typeface="Calibri"/>
              <a:sym typeface="Calibri"/>
            </a:endParaRPr>
          </a:p>
        </p:txBody>
      </p:sp>
      <p:sp>
        <p:nvSpPr>
          <p:cNvPr id="929" name="tb"/>
          <p:cNvSpPr txBox="1"/>
          <p:nvPr/>
        </p:nvSpPr>
        <p:spPr>
          <a:xfrm>
            <a:off x="8229600" y="2490080"/>
            <a:ext cx="9144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100">
                <a:solidFill>
                  <a:srgbClr val="556578"/>
                </a:solidFill>
                <a:latin typeface="Calibri"/>
                <a:ea typeface="Calibri"/>
                <a:cs typeface="Calibri"/>
                <a:sym typeface="Calibri"/>
              </a:rPr>
              <a:t>Real ↓</a:t>
            </a:r>
            <a:endParaRPr sz="1100">
              <a:solidFill>
                <a:schemeClr val="dk1"/>
              </a:solidFill>
              <a:latin typeface="Calibri"/>
              <a:ea typeface="Calibri"/>
              <a:cs typeface="Calibri"/>
              <a:sym typeface="Calibri"/>
            </a:endParaRPr>
          </a:p>
        </p:txBody>
      </p:sp>
      <p:sp>
        <p:nvSpPr>
          <p:cNvPr id="930" name="tb"/>
          <p:cNvSpPr txBox="1"/>
          <p:nvPr/>
        </p:nvSpPr>
        <p:spPr>
          <a:xfrm>
            <a:off x="8229600" y="2855840"/>
            <a:ext cx="9144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56578"/>
                </a:solidFill>
                <a:latin typeface="Calibri"/>
                <a:ea typeface="Calibri"/>
                <a:cs typeface="Calibri"/>
                <a:sym typeface="Calibri"/>
              </a:rPr>
              <a:t>Alta</a:t>
            </a:r>
            <a:endParaRPr sz="1200">
              <a:solidFill>
                <a:schemeClr val="dk1"/>
              </a:solidFill>
              <a:latin typeface="Calibri"/>
              <a:ea typeface="Calibri"/>
              <a:cs typeface="Calibri"/>
              <a:sym typeface="Calibri"/>
            </a:endParaRPr>
          </a:p>
        </p:txBody>
      </p:sp>
      <p:sp>
        <p:nvSpPr>
          <p:cNvPr id="931" name="tb"/>
          <p:cNvSpPr txBox="1"/>
          <p:nvPr/>
        </p:nvSpPr>
        <p:spPr>
          <a:xfrm>
            <a:off x="8229600" y="4090280"/>
            <a:ext cx="9144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lang="en-US" sz="1200">
                <a:solidFill>
                  <a:srgbClr val="556578"/>
                </a:solidFill>
                <a:latin typeface="Calibri"/>
                <a:ea typeface="Calibri"/>
                <a:cs typeface="Calibri"/>
                <a:sym typeface="Calibri"/>
              </a:rPr>
              <a:t>Baja</a:t>
            </a:r>
            <a:endParaRPr sz="1200">
              <a:solidFill>
                <a:schemeClr val="dk1"/>
              </a:solidFill>
              <a:latin typeface="Calibri"/>
              <a:ea typeface="Calibri"/>
              <a:cs typeface="Calibri"/>
              <a:sym typeface="Calibri"/>
            </a:endParaRPr>
          </a:p>
        </p:txBody>
      </p:sp>
      <p:sp>
        <p:nvSpPr>
          <p:cNvPr id="932" name="cell"/>
          <p:cNvSpPr/>
          <p:nvPr/>
        </p:nvSpPr>
        <p:spPr>
          <a:xfrm>
            <a:off x="9235440" y="2855840"/>
            <a:ext cx="1143000" cy="1143000"/>
          </a:xfrm>
          <a:prstGeom prst="roundRect">
            <a:avLst>
              <a:gd fmla="val 6000" name="adj"/>
            </a:avLst>
          </a:prstGeom>
          <a:solidFill>
            <a:srgbClr val="18A558"/>
          </a:solidFill>
          <a:ln>
            <a:noFill/>
          </a:ln>
        </p:spPr>
        <p:txBody>
          <a:bodyPr anchorCtr="1" anchor="ctr" bIns="0" lIns="0" spcFirstLastPara="1" rIns="0" wrap="square" tIns="0">
            <a:noAutofit/>
          </a:bodyPr>
          <a:lstStyle/>
          <a:p>
            <a:pPr indent="0" lvl="0" marL="0" marR="0" rtl="0" algn="ctr">
              <a:spcBef>
                <a:spcPts val="0"/>
              </a:spcBef>
              <a:spcAft>
                <a:spcPts val="0"/>
              </a:spcAft>
              <a:buNone/>
            </a:pPr>
            <a:r>
              <a:rPr b="1" lang="en-US" sz="2200">
                <a:solidFill>
                  <a:srgbClr val="FFFFFF"/>
                </a:solidFill>
                <a:latin typeface="Calibri"/>
                <a:ea typeface="Calibri"/>
                <a:cs typeface="Calibri"/>
                <a:sym typeface="Calibri"/>
              </a:rPr>
              <a:t>6.742</a:t>
            </a:r>
            <a:endParaRPr sz="2200">
              <a:solidFill>
                <a:schemeClr val="dk1"/>
              </a:solidFill>
              <a:latin typeface="Calibri"/>
              <a:ea typeface="Calibri"/>
              <a:cs typeface="Calibri"/>
              <a:sym typeface="Calibri"/>
            </a:endParaRPr>
          </a:p>
        </p:txBody>
      </p:sp>
      <p:sp>
        <p:nvSpPr>
          <p:cNvPr id="933" name="cell"/>
          <p:cNvSpPr/>
          <p:nvPr/>
        </p:nvSpPr>
        <p:spPr>
          <a:xfrm>
            <a:off x="10469880" y="2855840"/>
            <a:ext cx="1143000" cy="1143000"/>
          </a:xfrm>
          <a:prstGeom prst="roundRect">
            <a:avLst>
              <a:gd fmla="val 6000" name="adj"/>
            </a:avLst>
          </a:prstGeom>
          <a:solidFill>
            <a:srgbClr val="E9A23B"/>
          </a:solidFill>
          <a:ln>
            <a:noFill/>
          </a:ln>
        </p:spPr>
        <p:txBody>
          <a:bodyPr anchorCtr="1" anchor="ctr" bIns="0" lIns="0" spcFirstLastPara="1" rIns="0" wrap="square" tIns="0">
            <a:noAutofit/>
          </a:bodyPr>
          <a:lstStyle/>
          <a:p>
            <a:pPr indent="0" lvl="0" marL="0" marR="0" rtl="0" algn="ctr">
              <a:spcBef>
                <a:spcPts val="0"/>
              </a:spcBef>
              <a:spcAft>
                <a:spcPts val="0"/>
              </a:spcAft>
              <a:buNone/>
            </a:pPr>
            <a:r>
              <a:rPr b="1" lang="en-US" sz="2200">
                <a:solidFill>
                  <a:srgbClr val="1C1C1C"/>
                </a:solidFill>
                <a:latin typeface="Calibri"/>
                <a:ea typeface="Calibri"/>
                <a:cs typeface="Calibri"/>
                <a:sym typeface="Calibri"/>
              </a:rPr>
              <a:t>1.584</a:t>
            </a:r>
            <a:endParaRPr sz="2200">
              <a:solidFill>
                <a:schemeClr val="dk1"/>
              </a:solidFill>
              <a:latin typeface="Calibri"/>
              <a:ea typeface="Calibri"/>
              <a:cs typeface="Calibri"/>
              <a:sym typeface="Calibri"/>
            </a:endParaRPr>
          </a:p>
        </p:txBody>
      </p:sp>
      <p:sp>
        <p:nvSpPr>
          <p:cNvPr id="934" name="cell"/>
          <p:cNvSpPr/>
          <p:nvPr/>
        </p:nvSpPr>
        <p:spPr>
          <a:xfrm>
            <a:off x="9235440" y="4090280"/>
            <a:ext cx="1143000" cy="1143000"/>
          </a:xfrm>
          <a:prstGeom prst="roundRect">
            <a:avLst>
              <a:gd fmla="val 6000" name="adj"/>
            </a:avLst>
          </a:prstGeom>
          <a:solidFill>
            <a:srgbClr val="E9A23B"/>
          </a:solidFill>
          <a:ln>
            <a:noFill/>
          </a:ln>
        </p:spPr>
        <p:txBody>
          <a:bodyPr anchorCtr="1" anchor="ctr" bIns="0" lIns="0" spcFirstLastPara="1" rIns="0" wrap="square" tIns="0">
            <a:noAutofit/>
          </a:bodyPr>
          <a:lstStyle/>
          <a:p>
            <a:pPr indent="0" lvl="0" marL="0" marR="0" rtl="0" algn="ctr">
              <a:spcBef>
                <a:spcPts val="0"/>
              </a:spcBef>
              <a:spcAft>
                <a:spcPts val="0"/>
              </a:spcAft>
              <a:buNone/>
            </a:pPr>
            <a:r>
              <a:rPr b="1" lang="en-US" sz="2200">
                <a:solidFill>
                  <a:srgbClr val="1C1C1C"/>
                </a:solidFill>
                <a:latin typeface="Calibri"/>
                <a:ea typeface="Calibri"/>
                <a:cs typeface="Calibri"/>
                <a:sym typeface="Calibri"/>
              </a:rPr>
              <a:t>1.532</a:t>
            </a:r>
            <a:endParaRPr sz="2200">
              <a:solidFill>
                <a:schemeClr val="dk1"/>
              </a:solidFill>
              <a:latin typeface="Calibri"/>
              <a:ea typeface="Calibri"/>
              <a:cs typeface="Calibri"/>
              <a:sym typeface="Calibri"/>
            </a:endParaRPr>
          </a:p>
        </p:txBody>
      </p:sp>
      <p:sp>
        <p:nvSpPr>
          <p:cNvPr id="935" name="cell"/>
          <p:cNvSpPr/>
          <p:nvPr/>
        </p:nvSpPr>
        <p:spPr>
          <a:xfrm>
            <a:off x="10469880" y="4090280"/>
            <a:ext cx="1143000" cy="1143000"/>
          </a:xfrm>
          <a:prstGeom prst="roundRect">
            <a:avLst>
              <a:gd fmla="val 6000" name="adj"/>
            </a:avLst>
          </a:prstGeom>
          <a:solidFill>
            <a:srgbClr val="18A558"/>
          </a:solidFill>
          <a:ln>
            <a:noFill/>
          </a:ln>
        </p:spPr>
        <p:txBody>
          <a:bodyPr anchorCtr="1" anchor="ctr" bIns="0" lIns="0" spcFirstLastPara="1" rIns="0" wrap="square" tIns="0">
            <a:noAutofit/>
          </a:bodyPr>
          <a:lstStyle/>
          <a:p>
            <a:pPr indent="0" lvl="0" marL="0" marR="0" rtl="0" algn="ctr">
              <a:spcBef>
                <a:spcPts val="0"/>
              </a:spcBef>
              <a:spcAft>
                <a:spcPts val="0"/>
              </a:spcAft>
              <a:buNone/>
            </a:pPr>
            <a:r>
              <a:rPr b="1" lang="en-US" sz="2200">
                <a:solidFill>
                  <a:srgbClr val="FFFFFF"/>
                </a:solidFill>
                <a:latin typeface="Calibri"/>
                <a:ea typeface="Calibri"/>
                <a:cs typeface="Calibri"/>
                <a:sym typeface="Calibri"/>
              </a:rPr>
              <a:t>6.838</a:t>
            </a:r>
            <a:endParaRPr sz="2200">
              <a:solidFill>
                <a:schemeClr val="dk1"/>
              </a:solidFill>
              <a:latin typeface="Calibri"/>
              <a:ea typeface="Calibri"/>
              <a:cs typeface="Calibri"/>
              <a:sym typeface="Calibri"/>
            </a:endParaRPr>
          </a:p>
        </p:txBody>
      </p:sp>
      <p:sp>
        <p:nvSpPr>
          <p:cNvPr id="936" name="tb"/>
          <p:cNvSpPr txBox="1"/>
          <p:nvPr/>
        </p:nvSpPr>
        <p:spPr>
          <a:xfrm>
            <a:off x="640080" y="5349240"/>
            <a:ext cx="1090879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00">
                <a:solidFill>
                  <a:srgbClr val="0E6B39"/>
                </a:solidFill>
                <a:latin typeface="Calibri"/>
                <a:ea typeface="Calibri"/>
                <a:cs typeface="Calibri"/>
                <a:sym typeface="Calibri"/>
              </a:rPr>
              <a:t>Random Forest: 1.584 falsos negativos y 1.532 falsos positivos, menos que los otros dos modelos (16.696 canciones de prueba)</a:t>
            </a:r>
            <a:endParaRPr sz="1500">
              <a:solidFill>
                <a:schemeClr val="dk1"/>
              </a:solidFill>
              <a:latin typeface="Calibri"/>
              <a:ea typeface="Calibri"/>
              <a:cs typeface="Calibri"/>
              <a:sym typeface="Calibri"/>
            </a:endParaRPr>
          </a:p>
        </p:txBody>
      </p:sp>
      <p:sp>
        <p:nvSpPr>
          <p:cNvPr id="937" name="tb"/>
          <p:cNvSpPr txBox="1"/>
          <p:nvPr/>
        </p:nvSpPr>
        <p:spPr>
          <a:xfrm>
            <a:off x="640080" y="5789520"/>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100">
                <a:solidFill>
                  <a:srgbClr val="767676"/>
                </a:solidFill>
                <a:latin typeface="Calibri"/>
                <a:ea typeface="Calibri"/>
                <a:cs typeface="Calibri"/>
                <a:sym typeface="Calibri"/>
              </a:rPr>
              <a:t>Verde: predicción correcta · Ámbar: predicción incorrecta</a:t>
            </a:r>
            <a:endParaRPr sz="11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 name="Shape 150"/>
        <p:cNvGrpSpPr/>
        <p:nvPr/>
      </p:nvGrpSpPr>
      <p:grpSpPr>
        <a:xfrm>
          <a:off x="0" y="0"/>
          <a:ext cx="0" cy="0"/>
          <a:chOff x="0" y="0"/>
          <a:chExt cx="0" cy="0"/>
        </a:xfrm>
      </p:grpSpPr>
      <p:sp>
        <p:nvSpPr>
          <p:cNvPr id="151" name="Google Shape;151;p6"/>
          <p:cNvSpPr txBox="1"/>
          <p:nvPr/>
        </p:nvSpPr>
        <p:spPr>
          <a:xfrm>
            <a:off x="640080" y="384048"/>
            <a:ext cx="1090879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00"/>
              <a:buFont typeface="Calibri"/>
              <a:buNone/>
            </a:pPr>
            <a:r>
              <a:rPr b="1" lang="en-US" sz="1000">
                <a:solidFill>
                  <a:srgbClr val="0E6B39"/>
                </a:solidFill>
                <a:latin typeface="Calibri"/>
                <a:ea typeface="Calibri"/>
                <a:cs typeface="Calibri"/>
                <a:sym typeface="Calibri"/>
              </a:rPr>
              <a:t>CLUSTERING</a:t>
            </a:r>
            <a:endParaRPr sz="1000">
              <a:solidFill>
                <a:schemeClr val="dk1"/>
              </a:solidFill>
              <a:latin typeface="Calibri"/>
              <a:ea typeface="Calibri"/>
              <a:cs typeface="Calibri"/>
              <a:sym typeface="Calibri"/>
            </a:endParaRPr>
          </a:p>
        </p:txBody>
      </p:sp>
      <p:sp>
        <p:nvSpPr>
          <p:cNvPr id="152" name="Google Shape;152;p6"/>
          <p:cNvSpPr txBox="1"/>
          <p:nvPr/>
        </p:nvSpPr>
        <p:spPr>
          <a:xfrm>
            <a:off x="640080" y="640080"/>
            <a:ext cx="1090879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2600"/>
              <a:buFont typeface="Cambria"/>
              <a:buNone/>
            </a:pPr>
            <a:r>
              <a:rPr b="1" lang="en-US" sz="2600">
                <a:solidFill>
                  <a:srgbClr val="1C1C1C"/>
                </a:solidFill>
                <a:latin typeface="Cambria"/>
                <a:ea typeface="Cambria"/>
                <a:cs typeface="Cambria"/>
                <a:sym typeface="Cambria"/>
              </a:rPr>
              <a:t>Cuatro perfiles de sonido, con diferencias de popularidad acotadas</a:t>
            </a:r>
            <a:endParaRPr sz="2600">
              <a:solidFill>
                <a:schemeClr val="dk1"/>
              </a:solidFill>
              <a:latin typeface="Calibri"/>
              <a:ea typeface="Calibri"/>
              <a:cs typeface="Calibri"/>
              <a:sym typeface="Calibri"/>
            </a:endParaRPr>
          </a:p>
        </p:txBody>
      </p:sp>
      <p:sp>
        <p:nvSpPr>
          <p:cNvPr id="153" name="Google Shape;153;p6"/>
          <p:cNvSpPr txBox="1"/>
          <p:nvPr/>
        </p:nvSpPr>
        <p:spPr>
          <a:xfrm>
            <a:off x="11000232" y="6419088"/>
            <a:ext cx="54864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FAFAF"/>
              </a:buClr>
              <a:buSzPts val="900"/>
              <a:buFont typeface="Calibri"/>
              <a:buNone/>
            </a:pPr>
            <a:r>
              <a:t/>
            </a:r>
            <a:endParaRPr sz="900">
              <a:solidFill>
                <a:schemeClr val="dk1"/>
              </a:solidFill>
              <a:latin typeface="Calibri"/>
              <a:ea typeface="Calibri"/>
              <a:cs typeface="Calibri"/>
              <a:sym typeface="Calibri"/>
            </a:endParaRPr>
          </a:p>
        </p:txBody>
      </p:sp>
      <p:sp>
        <p:nvSpPr>
          <p:cNvPr id="154" name="Google Shape;154;p6"/>
          <p:cNvSpPr/>
          <p:nvPr/>
        </p:nvSpPr>
        <p:spPr>
          <a:xfrm>
            <a:off x="640080" y="1965960"/>
            <a:ext cx="3483864" cy="301752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6"/>
          <p:cNvSpPr txBox="1"/>
          <p:nvPr/>
        </p:nvSpPr>
        <p:spPr>
          <a:xfrm>
            <a:off x="1005840" y="2258568"/>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A558"/>
              </a:buClr>
              <a:buSzPts val="2600"/>
              <a:buFont typeface="Cambria"/>
              <a:buNone/>
            </a:pPr>
            <a:r>
              <a:rPr b="1" lang="en-US" sz="2600">
                <a:solidFill>
                  <a:srgbClr val="18A558"/>
                </a:solidFill>
                <a:latin typeface="Cambria"/>
                <a:ea typeface="Cambria"/>
                <a:cs typeface="Cambria"/>
                <a:sym typeface="Cambria"/>
              </a:rPr>
              <a:t>01</a:t>
            </a:r>
            <a:endParaRPr sz="2600">
              <a:solidFill>
                <a:schemeClr val="dk1"/>
              </a:solidFill>
              <a:latin typeface="Calibri"/>
              <a:ea typeface="Calibri"/>
              <a:cs typeface="Calibri"/>
              <a:sym typeface="Calibri"/>
            </a:endParaRPr>
          </a:p>
        </p:txBody>
      </p:sp>
      <p:sp>
        <p:nvSpPr>
          <p:cNvPr id="156" name="Google Shape;156;p6"/>
          <p:cNvSpPr txBox="1"/>
          <p:nvPr/>
        </p:nvSpPr>
        <p:spPr>
          <a:xfrm>
            <a:off x="1005840" y="2788920"/>
            <a:ext cx="27523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100"/>
              <a:buFont typeface="Calibri"/>
              <a:buNone/>
            </a:pPr>
            <a:r>
              <a:rPr b="1" lang="en-US" sz="1100">
                <a:solidFill>
                  <a:srgbClr val="767676"/>
                </a:solidFill>
                <a:latin typeface="Calibri"/>
                <a:ea typeface="Calibri"/>
                <a:cs typeface="Calibri"/>
                <a:sym typeface="Calibri"/>
              </a:rPr>
              <a:t>MÁS POPULAR</a:t>
            </a:r>
            <a:endParaRPr sz="1100">
              <a:solidFill>
                <a:schemeClr val="dk1"/>
              </a:solidFill>
              <a:latin typeface="Calibri"/>
              <a:ea typeface="Calibri"/>
              <a:cs typeface="Calibri"/>
              <a:sym typeface="Calibri"/>
            </a:endParaRPr>
          </a:p>
        </p:txBody>
      </p:sp>
      <p:sp>
        <p:nvSpPr>
          <p:cNvPr id="157" name="Google Shape;157;p6"/>
          <p:cNvSpPr txBox="1"/>
          <p:nvPr/>
        </p:nvSpPr>
        <p:spPr>
          <a:xfrm>
            <a:off x="1005840" y="3172968"/>
            <a:ext cx="2752344"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700"/>
              <a:buFont typeface="Cambria"/>
              <a:buNone/>
            </a:pPr>
            <a:r>
              <a:rPr b="1" lang="en-US" sz="2700">
                <a:solidFill>
                  <a:srgbClr val="1C1C1C"/>
                </a:solidFill>
                <a:latin typeface="Cambria"/>
                <a:ea typeface="Cambria"/>
                <a:cs typeface="Cambria"/>
                <a:sym typeface="Cambria"/>
              </a:rPr>
              <a:t>36,8 pts</a:t>
            </a:r>
            <a:endParaRPr sz="2700">
              <a:solidFill>
                <a:schemeClr val="dk1"/>
              </a:solidFill>
              <a:latin typeface="Calibri"/>
              <a:ea typeface="Calibri"/>
              <a:cs typeface="Calibri"/>
              <a:sym typeface="Calibri"/>
            </a:endParaRPr>
          </a:p>
        </p:txBody>
      </p:sp>
      <p:sp>
        <p:nvSpPr>
          <p:cNvPr id="158" name="Google Shape;158;p6"/>
          <p:cNvSpPr txBox="1"/>
          <p:nvPr/>
        </p:nvSpPr>
        <p:spPr>
          <a:xfrm>
            <a:off x="1005840" y="3931920"/>
            <a:ext cx="2752344"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3F4A44"/>
              </a:buClr>
              <a:buSzPts val="1500"/>
              <a:buFont typeface="Calibri"/>
              <a:buNone/>
            </a:pPr>
            <a:r>
              <a:rPr lang="en-US" sz="1500">
                <a:solidFill>
                  <a:srgbClr val="3F4A44"/>
                </a:solidFill>
                <a:latin typeface="Calibri"/>
                <a:ea typeface="Calibri"/>
                <a:cs typeface="Calibri"/>
                <a:sym typeface="Calibri"/>
              </a:rPr>
              <a:t>Pop/dance alegre: bailable, energético, positivo</a:t>
            </a:r>
            <a:endParaRPr sz="1500">
              <a:solidFill>
                <a:schemeClr val="dk1"/>
              </a:solidFill>
              <a:latin typeface="Calibri"/>
              <a:ea typeface="Calibri"/>
              <a:cs typeface="Calibri"/>
              <a:sym typeface="Calibri"/>
            </a:endParaRPr>
          </a:p>
        </p:txBody>
      </p:sp>
      <p:sp>
        <p:nvSpPr>
          <p:cNvPr id="159" name="Google Shape;159;p6"/>
          <p:cNvSpPr/>
          <p:nvPr/>
        </p:nvSpPr>
        <p:spPr>
          <a:xfrm>
            <a:off x="4352544" y="1965960"/>
            <a:ext cx="3483864" cy="301752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6"/>
          <p:cNvSpPr txBox="1"/>
          <p:nvPr/>
        </p:nvSpPr>
        <p:spPr>
          <a:xfrm>
            <a:off x="4718304" y="2258568"/>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A558"/>
              </a:buClr>
              <a:buSzPts val="2600"/>
              <a:buFont typeface="Cambria"/>
              <a:buNone/>
            </a:pPr>
            <a:r>
              <a:rPr b="1" lang="en-US" sz="2600">
                <a:solidFill>
                  <a:srgbClr val="18A558"/>
                </a:solidFill>
                <a:latin typeface="Cambria"/>
                <a:ea typeface="Cambria"/>
                <a:cs typeface="Cambria"/>
                <a:sym typeface="Cambria"/>
              </a:rPr>
              <a:t>02</a:t>
            </a:r>
            <a:endParaRPr sz="2600">
              <a:solidFill>
                <a:schemeClr val="dk1"/>
              </a:solidFill>
              <a:latin typeface="Calibri"/>
              <a:ea typeface="Calibri"/>
              <a:cs typeface="Calibri"/>
              <a:sym typeface="Calibri"/>
            </a:endParaRPr>
          </a:p>
        </p:txBody>
      </p:sp>
      <p:sp>
        <p:nvSpPr>
          <p:cNvPr id="161" name="Google Shape;161;p6"/>
          <p:cNvSpPr txBox="1"/>
          <p:nvPr/>
        </p:nvSpPr>
        <p:spPr>
          <a:xfrm>
            <a:off x="4718304" y="2788920"/>
            <a:ext cx="27523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100"/>
              <a:buFont typeface="Calibri"/>
              <a:buNone/>
            </a:pPr>
            <a:r>
              <a:rPr b="1" lang="en-US" sz="1100">
                <a:solidFill>
                  <a:srgbClr val="767676"/>
                </a:solidFill>
                <a:latin typeface="Calibri"/>
                <a:ea typeface="Calibri"/>
                <a:cs typeface="Calibri"/>
                <a:sym typeface="Calibri"/>
              </a:rPr>
              <a:t>MENOS POPULAR</a:t>
            </a:r>
            <a:endParaRPr sz="1100">
              <a:solidFill>
                <a:schemeClr val="dk1"/>
              </a:solidFill>
              <a:latin typeface="Calibri"/>
              <a:ea typeface="Calibri"/>
              <a:cs typeface="Calibri"/>
              <a:sym typeface="Calibri"/>
            </a:endParaRPr>
          </a:p>
        </p:txBody>
      </p:sp>
      <p:sp>
        <p:nvSpPr>
          <p:cNvPr id="162" name="Google Shape;162;p6"/>
          <p:cNvSpPr txBox="1"/>
          <p:nvPr/>
        </p:nvSpPr>
        <p:spPr>
          <a:xfrm>
            <a:off x="4718304" y="3172968"/>
            <a:ext cx="2752344"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700"/>
              <a:buFont typeface="Cambria"/>
              <a:buNone/>
            </a:pPr>
            <a:r>
              <a:rPr b="1" lang="en-US" sz="2700">
                <a:solidFill>
                  <a:srgbClr val="1C1C1C"/>
                </a:solidFill>
                <a:latin typeface="Cambria"/>
                <a:ea typeface="Cambria"/>
                <a:cs typeface="Cambria"/>
                <a:sym typeface="Cambria"/>
              </a:rPr>
              <a:t>32,0 pts</a:t>
            </a:r>
            <a:endParaRPr sz="2700">
              <a:solidFill>
                <a:schemeClr val="dk1"/>
              </a:solidFill>
              <a:latin typeface="Calibri"/>
              <a:ea typeface="Calibri"/>
              <a:cs typeface="Calibri"/>
              <a:sym typeface="Calibri"/>
            </a:endParaRPr>
          </a:p>
        </p:txBody>
      </p:sp>
      <p:sp>
        <p:nvSpPr>
          <p:cNvPr id="163" name="Google Shape;163;p6"/>
          <p:cNvSpPr txBox="1"/>
          <p:nvPr/>
        </p:nvSpPr>
        <p:spPr>
          <a:xfrm>
            <a:off x="4718304" y="3931920"/>
            <a:ext cx="2752344"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3F4A44"/>
              </a:buClr>
              <a:buSzPts val="1500"/>
              <a:buFont typeface="Calibri"/>
              <a:buNone/>
            </a:pPr>
            <a:r>
              <a:rPr lang="en-US" sz="1500">
                <a:solidFill>
                  <a:srgbClr val="3F4A44"/>
                </a:solidFill>
                <a:latin typeface="Calibri"/>
                <a:ea typeface="Calibri"/>
                <a:cs typeface="Calibri"/>
                <a:sym typeface="Calibri"/>
              </a:rPr>
              <a:t>Acústico/calmado: introspectivo, poco bailable</a:t>
            </a:r>
            <a:endParaRPr sz="1500">
              <a:solidFill>
                <a:schemeClr val="dk1"/>
              </a:solidFill>
              <a:latin typeface="Calibri"/>
              <a:ea typeface="Calibri"/>
              <a:cs typeface="Calibri"/>
              <a:sym typeface="Calibri"/>
            </a:endParaRPr>
          </a:p>
        </p:txBody>
      </p:sp>
      <p:sp>
        <p:nvSpPr>
          <p:cNvPr id="164" name="Google Shape;164;p6"/>
          <p:cNvSpPr/>
          <p:nvPr/>
        </p:nvSpPr>
        <p:spPr>
          <a:xfrm>
            <a:off x="8065008" y="1965960"/>
            <a:ext cx="3483864" cy="301752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6"/>
          <p:cNvSpPr txBox="1"/>
          <p:nvPr/>
        </p:nvSpPr>
        <p:spPr>
          <a:xfrm>
            <a:off x="8430768" y="2258568"/>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A558"/>
              </a:buClr>
              <a:buSzPts val="2600"/>
              <a:buFont typeface="Cambria"/>
              <a:buNone/>
            </a:pPr>
            <a:r>
              <a:rPr b="1" lang="en-US" sz="2600">
                <a:solidFill>
                  <a:srgbClr val="18A558"/>
                </a:solidFill>
                <a:latin typeface="Cambria"/>
                <a:ea typeface="Cambria"/>
                <a:cs typeface="Cambria"/>
                <a:sym typeface="Cambria"/>
              </a:rPr>
              <a:t>03</a:t>
            </a:r>
            <a:endParaRPr sz="2600">
              <a:solidFill>
                <a:schemeClr val="dk1"/>
              </a:solidFill>
              <a:latin typeface="Calibri"/>
              <a:ea typeface="Calibri"/>
              <a:cs typeface="Calibri"/>
              <a:sym typeface="Calibri"/>
            </a:endParaRPr>
          </a:p>
        </p:txBody>
      </p:sp>
      <p:sp>
        <p:nvSpPr>
          <p:cNvPr id="166" name="Google Shape;166;p6"/>
          <p:cNvSpPr txBox="1"/>
          <p:nvPr/>
        </p:nvSpPr>
        <p:spPr>
          <a:xfrm>
            <a:off x="8430768" y="2788920"/>
            <a:ext cx="27523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100"/>
              <a:buFont typeface="Calibri"/>
              <a:buNone/>
            </a:pPr>
            <a:r>
              <a:rPr b="1" lang="en-US" sz="1100">
                <a:solidFill>
                  <a:srgbClr val="767676"/>
                </a:solidFill>
                <a:latin typeface="Calibri"/>
                <a:ea typeface="Calibri"/>
                <a:cs typeface="Calibri"/>
                <a:sym typeface="Calibri"/>
              </a:rPr>
              <a:t>DIFERENCIA</a:t>
            </a:r>
            <a:endParaRPr sz="1100">
              <a:solidFill>
                <a:schemeClr val="dk1"/>
              </a:solidFill>
              <a:latin typeface="Calibri"/>
              <a:ea typeface="Calibri"/>
              <a:cs typeface="Calibri"/>
              <a:sym typeface="Calibri"/>
            </a:endParaRPr>
          </a:p>
        </p:txBody>
      </p:sp>
      <p:sp>
        <p:nvSpPr>
          <p:cNvPr id="167" name="Google Shape;167;p6"/>
          <p:cNvSpPr txBox="1"/>
          <p:nvPr/>
        </p:nvSpPr>
        <p:spPr>
          <a:xfrm>
            <a:off x="8430768" y="3172968"/>
            <a:ext cx="2752344"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700"/>
              <a:buFont typeface="Cambria"/>
              <a:buNone/>
            </a:pPr>
            <a:r>
              <a:rPr b="1" lang="en-US" sz="2700">
                <a:solidFill>
                  <a:srgbClr val="1C1C1C"/>
                </a:solidFill>
                <a:latin typeface="Cambria"/>
                <a:ea typeface="Cambria"/>
                <a:cs typeface="Cambria"/>
                <a:sym typeface="Cambria"/>
              </a:rPr>
              <a:t>~5 puntos</a:t>
            </a:r>
            <a:endParaRPr sz="2700">
              <a:solidFill>
                <a:schemeClr val="dk1"/>
              </a:solidFill>
              <a:latin typeface="Calibri"/>
              <a:ea typeface="Calibri"/>
              <a:cs typeface="Calibri"/>
              <a:sym typeface="Calibri"/>
            </a:endParaRPr>
          </a:p>
        </p:txBody>
      </p:sp>
      <p:sp>
        <p:nvSpPr>
          <p:cNvPr id="168" name="Google Shape;168;p6"/>
          <p:cNvSpPr txBox="1"/>
          <p:nvPr/>
        </p:nvSpPr>
        <p:spPr>
          <a:xfrm>
            <a:off x="8430768" y="3931920"/>
            <a:ext cx="2752344"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3F4A44"/>
              </a:buClr>
              <a:buSzPts val="1500"/>
              <a:buFont typeface="Calibri"/>
              <a:buNone/>
            </a:pPr>
            <a:r>
              <a:rPr lang="en-US" sz="1500">
                <a:solidFill>
                  <a:srgbClr val="3F4A44"/>
                </a:solidFill>
                <a:latin typeface="Calibri"/>
                <a:ea typeface="Calibri"/>
                <a:cs typeface="Calibri"/>
                <a:sym typeface="Calibri"/>
              </a:rPr>
              <a:t>Confirma, sin ver popularity, el hallazgo del EDA</a:t>
            </a:r>
            <a:endParaRPr sz="1500">
              <a:solidFill>
                <a:schemeClr val="dk1"/>
              </a:solidFill>
              <a:latin typeface="Calibri"/>
              <a:ea typeface="Calibri"/>
              <a:cs typeface="Calibri"/>
              <a:sym typeface="Calibri"/>
            </a:endParaRPr>
          </a:p>
        </p:txBody>
      </p:sp>
      <p:sp>
        <p:nvSpPr>
          <p:cNvPr id="169" name="Google Shape;169;p6"/>
          <p:cNvSpPr txBox="1"/>
          <p:nvPr/>
        </p:nvSpPr>
        <p:spPr>
          <a:xfrm>
            <a:off x="640080" y="5349240"/>
            <a:ext cx="1090879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500"/>
              <a:buFont typeface="Calibri"/>
              <a:buNone/>
            </a:pPr>
            <a:r>
              <a:rPr b="1" lang="en-US" sz="1500">
                <a:solidFill>
                  <a:srgbClr val="0E6B39"/>
                </a:solidFill>
                <a:latin typeface="Calibri"/>
                <a:ea typeface="Calibri"/>
                <a:cs typeface="Calibri"/>
                <a:sym typeface="Calibri"/>
              </a:rPr>
              <a:t>k=4, elegido por elbow + silhouette, priorizando interpretabilidad de negocio</a:t>
            </a:r>
            <a:endParaRPr sz="15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7"/>
          <p:cNvSpPr txBox="1"/>
          <p:nvPr/>
        </p:nvSpPr>
        <p:spPr>
          <a:xfrm>
            <a:off x="640080" y="384048"/>
            <a:ext cx="1090879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00"/>
              <a:buFont typeface="Calibri"/>
              <a:buNone/>
            </a:pPr>
            <a:r>
              <a:rPr b="1" lang="en-US" sz="1000">
                <a:solidFill>
                  <a:srgbClr val="0E6B39"/>
                </a:solidFill>
                <a:latin typeface="Calibri"/>
                <a:ea typeface="Calibri"/>
                <a:cs typeface="Calibri"/>
                <a:sym typeface="Calibri"/>
              </a:rPr>
              <a:t>CLUSTERING</a:t>
            </a:r>
            <a:endParaRPr sz="1000">
              <a:solidFill>
                <a:schemeClr val="dk1"/>
              </a:solidFill>
              <a:latin typeface="Calibri"/>
              <a:ea typeface="Calibri"/>
              <a:cs typeface="Calibri"/>
              <a:sym typeface="Calibri"/>
            </a:endParaRPr>
          </a:p>
        </p:txBody>
      </p:sp>
      <p:sp>
        <p:nvSpPr>
          <p:cNvPr id="176" name="Google Shape;176;p7"/>
          <p:cNvSpPr txBox="1"/>
          <p:nvPr/>
        </p:nvSpPr>
        <p:spPr>
          <a:xfrm>
            <a:off x="640080" y="640080"/>
            <a:ext cx="1090879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2600"/>
              <a:buFont typeface="Cambria"/>
              <a:buNone/>
            </a:pPr>
            <a:r>
              <a:rPr b="1" lang="en-US" sz="2600">
                <a:solidFill>
                  <a:srgbClr val="1C1C1C"/>
                </a:solidFill>
                <a:latin typeface="Cambria"/>
                <a:ea typeface="Cambria"/>
                <a:cs typeface="Cambria"/>
                <a:sym typeface="Cambria"/>
              </a:rPr>
              <a:t>En 2D los clusters 1 y 2 se mezclan; en 3D quedan separados</a:t>
            </a:r>
            <a:endParaRPr sz="2600">
              <a:solidFill>
                <a:schemeClr val="dk1"/>
              </a:solidFill>
              <a:latin typeface="Calibri"/>
              <a:ea typeface="Calibri"/>
              <a:cs typeface="Calibri"/>
              <a:sym typeface="Calibri"/>
            </a:endParaRPr>
          </a:p>
        </p:txBody>
      </p:sp>
      <p:pic>
        <p:nvPicPr>
          <p:cNvPr id="178" name="Picture 2D" descr="clusters_pca.png"/>
          <p:cNvPicPr>
            <a:picLocks noChangeAspect="1"/>
          </p:cNvPicPr>
          <p:nvPr/>
        </p:nvPicPr>
        <p:blipFill>
          <a:blip r:embed="rId3"/>
          <a:stretch>
            <a:fillRect/>
          </a:stretch>
        </p:blipFill>
        <p:spPr>
          <a:xfrm>
            <a:off x="1034850" y="1850000"/>
            <a:ext cx="5551300" cy="4300000"/>
          </a:xfrm>
          <a:prstGeom prst="rect">
            <a:avLst/>
          </a:prstGeom>
        </p:spPr>
      </p:pic>
      <p:pic>
        <p:nvPicPr>
          <p:cNvPr id="177" name="Picture 176" descr="clusters_pca_3d.png"/>
          <p:cNvPicPr>
            <a:picLocks noChangeAspect="1"/>
          </p:cNvPicPr>
          <p:nvPr/>
        </p:nvPicPr>
        <p:blipFill>
          <a:blip r:embed="rId2"/>
          <a:stretch>
            <a:fillRect/>
          </a:stretch>
        </p:blipFill>
        <p:spPr>
          <a:xfrm>
            <a:off x="6986150" y="1850000"/>
            <a:ext cx="4171000" cy="4300000"/>
          </a:xfrm>
          <a:prstGeom prst="rect">
            <a:avLst/>
          </a:prstGeom>
        </p:spPr>
      </p:pic>
      <p:sp>
        <p:nvSpPr>
          <p:cNvPr id="951" name="tb"/>
          <p:cNvSpPr txBox="1"/>
          <p:nvPr/>
        </p:nvSpPr>
        <p:spPr>
          <a:xfrm>
            <a:off x="1034850" y="6190000"/>
            <a:ext cx="55513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lang="en-US" sz="1100">
                <a:solidFill>
                  <a:srgbClr val="767676"/>
                </a:solidFill>
                <a:latin typeface="Calibri"/>
                <a:ea typeface="Calibri"/>
                <a:cs typeface="Calibri"/>
                <a:sym typeface="Calibri"/>
              </a:rPr>
              <a:t>PCA 2D (48,9% de varianza explicada)</a:t>
            </a:r>
            <a:endParaRPr sz="1100">
              <a:solidFill>
                <a:schemeClr val="dk1"/>
              </a:solidFill>
              <a:latin typeface="Calibri"/>
              <a:ea typeface="Calibri"/>
              <a:cs typeface="Calibri"/>
              <a:sym typeface="Calibri"/>
            </a:endParaRPr>
          </a:p>
        </p:txBody>
      </p:sp>
      <p:sp>
        <p:nvSpPr>
          <p:cNvPr id="952" name="tb"/>
          <p:cNvSpPr txBox="1"/>
          <p:nvPr/>
        </p:nvSpPr>
        <p:spPr>
          <a:xfrm>
            <a:off x="6986150" y="6190000"/>
            <a:ext cx="41710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lang="en-US" sz="1100">
                <a:solidFill>
                  <a:srgbClr val="767676"/>
                </a:solidFill>
                <a:latin typeface="Calibri"/>
                <a:ea typeface="Calibri"/>
                <a:cs typeface="Calibri"/>
                <a:sym typeface="Calibri"/>
              </a:rPr>
              <a:t>PCA 3D (61,0% de varianza explicada)</a:t>
            </a:r>
            <a:endParaRPr sz="11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8" name="Shape 528"/>
        <p:cNvGrpSpPr/>
        <p:nvPr/>
      </p:nvGrpSpPr>
      <p:grpSpPr>
        <a:xfrm>
          <a:off x="0" y="0"/>
          <a:ext cx="0" cy="0"/>
          <a:chOff x="0" y="0"/>
          <a:chExt cx="0" cy="0"/>
        </a:xfrm>
      </p:grpSpPr>
      <p:sp>
        <p:nvSpPr>
          <p:cNvPr id="529" name="Google Shape;529;p17"/>
          <p:cNvSpPr txBox="1"/>
          <p:nvPr/>
        </p:nvSpPr>
        <p:spPr>
          <a:xfrm>
            <a:off x="640080" y="384048"/>
            <a:ext cx="1090879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00"/>
              <a:buFont typeface="Calibri"/>
              <a:buNone/>
            </a:pPr>
            <a:r>
              <a:rPr b="1" lang="en-US" sz="1000">
                <a:solidFill>
                  <a:srgbClr val="0E6B39"/>
                </a:solidFill>
                <a:latin typeface="Calibri"/>
                <a:ea typeface="Calibri"/>
                <a:cs typeface="Calibri"/>
                <a:sym typeface="Calibri"/>
              </a:rPr>
              <a:t>ESTADO</a:t>
            </a:r>
            <a:endParaRPr sz="1000">
              <a:solidFill>
                <a:schemeClr val="dk1"/>
              </a:solidFill>
              <a:latin typeface="Calibri"/>
              <a:ea typeface="Calibri"/>
              <a:cs typeface="Calibri"/>
              <a:sym typeface="Calibri"/>
            </a:endParaRPr>
          </a:p>
        </p:txBody>
      </p:sp>
      <p:sp>
        <p:nvSpPr>
          <p:cNvPr id="530" name="Google Shape;530;p17"/>
          <p:cNvSpPr txBox="1"/>
          <p:nvPr/>
        </p:nvSpPr>
        <p:spPr>
          <a:xfrm>
            <a:off x="640080" y="640080"/>
            <a:ext cx="1090879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2600"/>
              <a:buFont typeface="Cambria"/>
              <a:buNone/>
            </a:pPr>
            <a:r>
              <a:rPr b="1" lang="en-US" sz="2600">
                <a:solidFill>
                  <a:srgbClr val="1C1C1C"/>
                </a:solidFill>
                <a:latin typeface="Cambria"/>
                <a:ea typeface="Cambria"/>
                <a:cs typeface="Cambria"/>
                <a:sym typeface="Cambria"/>
              </a:rPr>
              <a:t>El modelado está listo; el despliegue queda como trabajo futuro</a:t>
            </a:r>
            <a:endParaRPr sz="2600">
              <a:solidFill>
                <a:schemeClr val="dk1"/>
              </a:solidFill>
              <a:latin typeface="Calibri"/>
              <a:ea typeface="Calibri"/>
              <a:cs typeface="Calibri"/>
              <a:sym typeface="Calibri"/>
            </a:endParaRPr>
          </a:p>
        </p:txBody>
      </p:sp>
      <p:sp>
        <p:nvSpPr>
          <p:cNvPr id="531" name="Google Shape;531;p17"/>
          <p:cNvSpPr/>
          <p:nvPr/>
        </p:nvSpPr>
        <p:spPr>
          <a:xfrm>
            <a:off x="640080" y="1965960"/>
            <a:ext cx="5120640" cy="338328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 name="Google Shape;532;p17"/>
          <p:cNvSpPr txBox="1"/>
          <p:nvPr/>
        </p:nvSpPr>
        <p:spPr>
          <a:xfrm>
            <a:off x="1051560" y="2258568"/>
            <a:ext cx="42976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50"/>
              <a:buFont typeface="Calibri"/>
              <a:buNone/>
            </a:pPr>
            <a:r>
              <a:rPr b="1" lang="en-US" sz="1050">
                <a:solidFill>
                  <a:srgbClr val="0E6B39"/>
                </a:solidFill>
                <a:latin typeface="Calibri"/>
                <a:ea typeface="Calibri"/>
                <a:cs typeface="Calibri"/>
                <a:sym typeface="Calibri"/>
              </a:rPr>
              <a:t>ENTREGADO</a:t>
            </a:r>
            <a:endParaRPr sz="1050">
              <a:solidFill>
                <a:schemeClr val="dk1"/>
              </a:solidFill>
              <a:latin typeface="Calibri"/>
              <a:ea typeface="Calibri"/>
              <a:cs typeface="Calibri"/>
              <a:sym typeface="Calibri"/>
            </a:endParaRPr>
          </a:p>
        </p:txBody>
      </p:sp>
      <p:sp>
        <p:nvSpPr>
          <p:cNvPr id="533" name="Google Shape;533;p17"/>
          <p:cNvSpPr/>
          <p:nvPr/>
        </p:nvSpPr>
        <p:spPr>
          <a:xfrm>
            <a:off x="1051560" y="2715768"/>
            <a:ext cx="237744" cy="237744"/>
          </a:xfrm>
          <a:prstGeom prst="ellipse">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 name="Google Shape;534;p17"/>
          <p:cNvSpPr txBox="1"/>
          <p:nvPr/>
        </p:nvSpPr>
        <p:spPr>
          <a:xfrm>
            <a:off x="1051560" y="2743200"/>
            <a:ext cx="237744"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535" name="Google Shape;535;p17"/>
          <p:cNvSpPr txBox="1"/>
          <p:nvPr/>
        </p:nvSpPr>
        <p:spPr>
          <a:xfrm>
            <a:off x="1481328" y="2679192"/>
            <a:ext cx="40233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400"/>
              <a:buFont typeface="Calibri"/>
              <a:buNone/>
            </a:pPr>
            <a:r>
              <a:rPr lang="en-US" sz="1400">
                <a:solidFill>
                  <a:srgbClr val="1C1C1C"/>
                </a:solidFill>
                <a:latin typeface="Calibri"/>
                <a:ea typeface="Calibri"/>
                <a:cs typeface="Calibri"/>
                <a:sym typeface="Calibri"/>
              </a:rPr>
              <a:t>Informe en Markdown (actualizado)</a:t>
            </a:r>
            <a:endParaRPr sz="1400">
              <a:solidFill>
                <a:schemeClr val="dk1"/>
              </a:solidFill>
              <a:latin typeface="Calibri"/>
              <a:ea typeface="Calibri"/>
              <a:cs typeface="Calibri"/>
              <a:sym typeface="Calibri"/>
            </a:endParaRPr>
          </a:p>
        </p:txBody>
      </p:sp>
      <p:sp>
        <p:nvSpPr>
          <p:cNvPr id="536" name="Google Shape;536;p17"/>
          <p:cNvSpPr/>
          <p:nvPr/>
        </p:nvSpPr>
        <p:spPr>
          <a:xfrm>
            <a:off x="1051560" y="3227832"/>
            <a:ext cx="237744" cy="237744"/>
          </a:xfrm>
          <a:prstGeom prst="ellipse">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17"/>
          <p:cNvSpPr txBox="1"/>
          <p:nvPr/>
        </p:nvSpPr>
        <p:spPr>
          <a:xfrm>
            <a:off x="1051560" y="3255264"/>
            <a:ext cx="237744"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538" name="Google Shape;538;p17"/>
          <p:cNvSpPr txBox="1"/>
          <p:nvPr/>
        </p:nvSpPr>
        <p:spPr>
          <a:xfrm>
            <a:off x="1481328" y="3191256"/>
            <a:ext cx="40233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400"/>
              <a:buFont typeface="Calibri"/>
              <a:buNone/>
            </a:pPr>
            <a:r>
              <a:rPr lang="en-US" sz="1400">
                <a:solidFill>
                  <a:srgbClr val="1C1C1C"/>
                </a:solidFill>
                <a:latin typeface="Calibri"/>
                <a:ea typeface="Calibri"/>
                <a:cs typeface="Calibri"/>
                <a:sym typeface="Calibri"/>
              </a:rPr>
              <a:t>Notebook de análisis exploratorio</a:t>
            </a:r>
            <a:endParaRPr sz="1400">
              <a:solidFill>
                <a:schemeClr val="dk1"/>
              </a:solidFill>
              <a:latin typeface="Calibri"/>
              <a:ea typeface="Calibri"/>
              <a:cs typeface="Calibri"/>
              <a:sym typeface="Calibri"/>
            </a:endParaRPr>
          </a:p>
        </p:txBody>
      </p:sp>
      <p:sp>
        <p:nvSpPr>
          <p:cNvPr id="539" name="Google Shape;539;p17"/>
          <p:cNvSpPr/>
          <p:nvPr/>
        </p:nvSpPr>
        <p:spPr>
          <a:xfrm>
            <a:off x="1051560" y="3739896"/>
            <a:ext cx="237744" cy="237744"/>
          </a:xfrm>
          <a:prstGeom prst="ellipse">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0" name="Google Shape;540;p17"/>
          <p:cNvSpPr txBox="1"/>
          <p:nvPr/>
        </p:nvSpPr>
        <p:spPr>
          <a:xfrm>
            <a:off x="1051560" y="3767328"/>
            <a:ext cx="237744"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541" name="Google Shape;541;p17"/>
          <p:cNvSpPr txBox="1"/>
          <p:nvPr/>
        </p:nvSpPr>
        <p:spPr>
          <a:xfrm>
            <a:off x="1481328" y="3703320"/>
            <a:ext cx="40233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400"/>
              <a:buFont typeface="Calibri"/>
              <a:buNone/>
            </a:pPr>
            <a:r>
              <a:rPr lang="en-US" sz="1400">
                <a:solidFill>
                  <a:srgbClr val="1C1C1C"/>
                </a:solidFill>
                <a:latin typeface="Calibri"/>
                <a:ea typeface="Calibri"/>
                <a:cs typeface="Calibri"/>
                <a:sym typeface="Calibri"/>
              </a:rPr>
              <a:t>Notebook de preprocesamiento</a:t>
            </a:r>
            <a:endParaRPr sz="1400">
              <a:solidFill>
                <a:schemeClr val="dk1"/>
              </a:solidFill>
              <a:latin typeface="Calibri"/>
              <a:ea typeface="Calibri"/>
              <a:cs typeface="Calibri"/>
              <a:sym typeface="Calibri"/>
            </a:endParaRPr>
          </a:p>
        </p:txBody>
      </p:sp>
      <p:sp>
        <p:nvSpPr>
          <p:cNvPr id="542" name="Google Shape;542;p17"/>
          <p:cNvSpPr/>
          <p:nvPr/>
        </p:nvSpPr>
        <p:spPr>
          <a:xfrm>
            <a:off x="1051560" y="4251960"/>
            <a:ext cx="237744" cy="237744"/>
          </a:xfrm>
          <a:prstGeom prst="ellipse">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3" name="Google Shape;543;p17"/>
          <p:cNvSpPr txBox="1"/>
          <p:nvPr/>
        </p:nvSpPr>
        <p:spPr>
          <a:xfrm>
            <a:off x="1051560" y="4279392"/>
            <a:ext cx="237744"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544" name="Google Shape;544;p17"/>
          <p:cNvSpPr txBox="1"/>
          <p:nvPr/>
        </p:nvSpPr>
        <p:spPr>
          <a:xfrm>
            <a:off x="1481328" y="4215384"/>
            <a:ext cx="40233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400"/>
              <a:buFont typeface="Calibri"/>
              <a:buNone/>
            </a:pPr>
            <a:r>
              <a:rPr lang="en-US" sz="1400">
                <a:solidFill>
                  <a:srgbClr val="1C1C1C"/>
                </a:solidFill>
                <a:latin typeface="Calibri"/>
                <a:ea typeface="Calibri"/>
                <a:cs typeface="Calibri"/>
                <a:sym typeface="Calibri"/>
              </a:rPr>
              <a:t>Notebook de modelamiento</a:t>
            </a:r>
            <a:endParaRPr sz="1400">
              <a:solidFill>
                <a:schemeClr val="dk1"/>
              </a:solidFill>
              <a:latin typeface="Calibri"/>
              <a:ea typeface="Calibri"/>
              <a:cs typeface="Calibri"/>
              <a:sym typeface="Calibri"/>
            </a:endParaRPr>
          </a:p>
        </p:txBody>
      </p:sp>
      <p:sp>
        <p:nvSpPr>
          <p:cNvPr id="545" name="Google Shape;545;p17"/>
          <p:cNvSpPr/>
          <p:nvPr/>
        </p:nvSpPr>
        <p:spPr>
          <a:xfrm>
            <a:off x="1051560" y="4764024"/>
            <a:ext cx="237744" cy="237744"/>
          </a:xfrm>
          <a:prstGeom prst="ellipse">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17"/>
          <p:cNvSpPr txBox="1"/>
          <p:nvPr/>
        </p:nvSpPr>
        <p:spPr>
          <a:xfrm>
            <a:off x="1051560" y="4791456"/>
            <a:ext cx="237744"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
        <p:nvSpPr>
          <p:cNvPr id="547" name="Google Shape;547;p17"/>
          <p:cNvSpPr txBox="1"/>
          <p:nvPr/>
        </p:nvSpPr>
        <p:spPr>
          <a:xfrm>
            <a:off x="1481328" y="4727448"/>
            <a:ext cx="40233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400"/>
              <a:buFont typeface="Calibri"/>
              <a:buNone/>
            </a:pPr>
            <a:r>
              <a:rPr lang="en-US" sz="1400">
                <a:solidFill>
                  <a:srgbClr val="1C1C1C"/>
                </a:solidFill>
                <a:latin typeface="Calibri"/>
                <a:ea typeface="Calibri"/>
                <a:cs typeface="Calibri"/>
                <a:sym typeface="Calibri"/>
              </a:rPr>
              <a:t>Presentación (este documento)</a:t>
            </a:r>
            <a:endParaRPr sz="1400">
              <a:solidFill>
                <a:schemeClr val="dk1"/>
              </a:solidFill>
              <a:latin typeface="Calibri"/>
              <a:ea typeface="Calibri"/>
              <a:cs typeface="Calibri"/>
              <a:sym typeface="Calibri"/>
            </a:endParaRPr>
          </a:p>
        </p:txBody>
      </p:sp>
      <p:sp>
        <p:nvSpPr>
          <p:cNvPr id="548" name="Google Shape;548;p17"/>
          <p:cNvSpPr txBox="1"/>
          <p:nvPr/>
        </p:nvSpPr>
        <p:spPr>
          <a:xfrm>
            <a:off x="6126480" y="2258568"/>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050"/>
              <a:buFont typeface="Calibri"/>
              <a:buNone/>
            </a:pPr>
            <a:r>
              <a:rPr b="1" lang="en-US" sz="1050">
                <a:solidFill>
                  <a:srgbClr val="767676"/>
                </a:solidFill>
                <a:latin typeface="Calibri"/>
                <a:ea typeface="Calibri"/>
                <a:cs typeface="Calibri"/>
                <a:sym typeface="Calibri"/>
              </a:rPr>
              <a:t>PRÓXIMOS PASOS</a:t>
            </a:r>
            <a:endParaRPr sz="1050">
              <a:solidFill>
                <a:schemeClr val="dk1"/>
              </a:solidFill>
              <a:latin typeface="Calibri"/>
              <a:ea typeface="Calibri"/>
              <a:cs typeface="Calibri"/>
              <a:sym typeface="Calibri"/>
            </a:endParaRPr>
          </a:p>
        </p:txBody>
      </p:sp>
      <p:sp>
        <p:nvSpPr>
          <p:cNvPr id="549" name="Google Shape;549;p17"/>
          <p:cNvSpPr/>
          <p:nvPr/>
        </p:nvSpPr>
        <p:spPr>
          <a:xfrm>
            <a:off x="6126480" y="2679192"/>
            <a:ext cx="64008" cy="731520"/>
          </a:xfrm>
          <a:prstGeom prst="rect">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0" name="Google Shape;550;p17"/>
          <p:cNvSpPr txBox="1"/>
          <p:nvPr/>
        </p:nvSpPr>
        <p:spPr>
          <a:xfrm>
            <a:off x="6446520" y="2679192"/>
            <a:ext cx="5029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1500"/>
              <a:buFont typeface="Calibri"/>
              <a:buNone/>
            </a:pPr>
            <a:r>
              <a:rPr b="1" lang="en-US" sz="1500">
                <a:solidFill>
                  <a:srgbClr val="1C1C1C"/>
                </a:solidFill>
                <a:latin typeface="Calibri"/>
                <a:ea typeface="Calibri"/>
                <a:cs typeface="Calibri"/>
                <a:sym typeface="Calibri"/>
              </a:rPr>
              <a:t>Fase 6 · Despliegue</a:t>
            </a:r>
            <a:endParaRPr sz="1500">
              <a:solidFill>
                <a:schemeClr val="dk1"/>
              </a:solidFill>
              <a:latin typeface="Calibri"/>
              <a:ea typeface="Calibri"/>
              <a:cs typeface="Calibri"/>
              <a:sym typeface="Calibri"/>
            </a:endParaRPr>
          </a:p>
        </p:txBody>
      </p:sp>
      <p:sp>
        <p:nvSpPr>
          <p:cNvPr id="551" name="Google Shape;551;p17"/>
          <p:cNvSpPr/>
          <p:nvPr/>
        </p:nvSpPr>
        <p:spPr>
          <a:xfrm>
            <a:off x="6126480" y="3593592"/>
            <a:ext cx="64008" cy="731520"/>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17"/>
          <p:cNvSpPr txBox="1"/>
          <p:nvPr/>
        </p:nvSpPr>
        <p:spPr>
          <a:xfrm>
            <a:off x="6446520" y="3593592"/>
            <a:ext cx="5029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500"/>
              <a:buFont typeface="Calibri"/>
              <a:buNone/>
            </a:pPr>
            <a:r>
              <a:rPr b="1" lang="en-US" sz="1500">
                <a:solidFill>
                  <a:srgbClr val="767676"/>
                </a:solidFill>
                <a:latin typeface="Calibri"/>
                <a:ea typeface="Calibri"/>
                <a:cs typeface="Calibri"/>
                <a:sym typeface="Calibri"/>
              </a:rPr>
              <a:t>Búsqueda de hiperparámetros más amplia</a:t>
            </a:r>
            <a:endParaRPr sz="1500">
              <a:solidFill>
                <a:schemeClr val="dk1"/>
              </a:solidFill>
              <a:latin typeface="Calibri"/>
              <a:ea typeface="Calibri"/>
              <a:cs typeface="Calibri"/>
              <a:sym typeface="Calibri"/>
            </a:endParaRPr>
          </a:p>
        </p:txBody>
      </p:sp>
      <p:sp>
        <p:nvSpPr>
          <p:cNvPr id="553" name="Google Shape;553;p17"/>
          <p:cNvSpPr/>
          <p:nvPr/>
        </p:nvSpPr>
        <p:spPr>
          <a:xfrm>
            <a:off x="6126480" y="4507992"/>
            <a:ext cx="64008" cy="731520"/>
          </a:xfrm>
          <a:prstGeom prst="rect">
            <a:avLst/>
          </a:prstGeom>
          <a:solidFill>
            <a:srgbClr val="E4E7E5"/>
          </a:solidFill>
          <a:ln cap="flat" cmpd="sng" w="12700">
            <a:solidFill>
              <a:srgbClr val="E4E7E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17"/>
          <p:cNvSpPr txBox="1"/>
          <p:nvPr/>
        </p:nvSpPr>
        <p:spPr>
          <a:xfrm>
            <a:off x="6446520" y="4507992"/>
            <a:ext cx="5029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500"/>
              <a:buFont typeface="Calibri"/>
              <a:buNone/>
            </a:pPr>
            <a:r>
              <a:rPr b="1" lang="en-US" sz="1500">
                <a:solidFill>
                  <a:srgbClr val="767676"/>
                </a:solidFill>
                <a:latin typeface="Calibri"/>
                <a:ea typeface="Calibri"/>
                <a:cs typeface="Calibri"/>
                <a:sym typeface="Calibri"/>
              </a:rPr>
              <a:t>Modelos adicionales (gradient boosting)</a:t>
            </a:r>
            <a:endParaRPr sz="15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9" name="Shape 559"/>
        <p:cNvGrpSpPr/>
        <p:nvPr/>
      </p:nvGrpSpPr>
      <p:grpSpPr>
        <a:xfrm>
          <a:off x="0" y="0"/>
          <a:ext cx="0" cy="0"/>
          <a:chOff x="0" y="0"/>
          <a:chExt cx="0" cy="0"/>
        </a:xfrm>
      </p:grpSpPr>
      <p:sp>
        <p:nvSpPr>
          <p:cNvPr id="560" name="Google Shape;560;p18"/>
          <p:cNvSpPr/>
          <p:nvPr/>
        </p:nvSpPr>
        <p:spPr>
          <a:xfrm>
            <a:off x="0" y="0"/>
            <a:ext cx="12188952" cy="6858000"/>
          </a:xfrm>
          <a:prstGeom prst="rect">
            <a:avLst/>
          </a:prstGeom>
          <a:solidFill>
            <a:srgbClr val="0F2118"/>
          </a:solidFill>
          <a:ln cap="flat" cmpd="sng" w="12700">
            <a:solidFill>
              <a:srgbClr val="0F211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18"/>
          <p:cNvSpPr/>
          <p:nvPr/>
        </p:nvSpPr>
        <p:spPr>
          <a:xfrm>
            <a:off x="640080" y="1325880"/>
            <a:ext cx="82296" cy="274320"/>
          </a:xfrm>
          <a:prstGeom prst="rect">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18"/>
          <p:cNvSpPr/>
          <p:nvPr/>
        </p:nvSpPr>
        <p:spPr>
          <a:xfrm>
            <a:off x="864108" y="1211580"/>
            <a:ext cx="82296" cy="502920"/>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18"/>
          <p:cNvSpPr/>
          <p:nvPr/>
        </p:nvSpPr>
        <p:spPr>
          <a:xfrm>
            <a:off x="1088136" y="1074420"/>
            <a:ext cx="82296" cy="777240"/>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p18"/>
          <p:cNvSpPr/>
          <p:nvPr/>
        </p:nvSpPr>
        <p:spPr>
          <a:xfrm>
            <a:off x="1312164" y="891540"/>
            <a:ext cx="82296" cy="1143000"/>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18"/>
          <p:cNvSpPr/>
          <p:nvPr/>
        </p:nvSpPr>
        <p:spPr>
          <a:xfrm>
            <a:off x="1536192" y="1143000"/>
            <a:ext cx="82296" cy="640080"/>
          </a:xfrm>
          <a:prstGeom prst="rect">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6" name="Google Shape;566;p18"/>
          <p:cNvSpPr/>
          <p:nvPr/>
        </p:nvSpPr>
        <p:spPr>
          <a:xfrm>
            <a:off x="1760220" y="754380"/>
            <a:ext cx="82296" cy="1417320"/>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p18"/>
          <p:cNvSpPr/>
          <p:nvPr/>
        </p:nvSpPr>
        <p:spPr>
          <a:xfrm>
            <a:off x="1984248" y="982980"/>
            <a:ext cx="82296" cy="960120"/>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8" name="Google Shape;568;p18"/>
          <p:cNvSpPr/>
          <p:nvPr/>
        </p:nvSpPr>
        <p:spPr>
          <a:xfrm>
            <a:off x="2208276" y="1257300"/>
            <a:ext cx="82296" cy="411480"/>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9" name="Google Shape;569;p18"/>
          <p:cNvSpPr/>
          <p:nvPr/>
        </p:nvSpPr>
        <p:spPr>
          <a:xfrm>
            <a:off x="2432304" y="764568"/>
            <a:ext cx="82296" cy="822960"/>
          </a:xfrm>
          <a:prstGeom prst="rect">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18"/>
          <p:cNvSpPr/>
          <p:nvPr/>
        </p:nvSpPr>
        <p:spPr>
          <a:xfrm>
            <a:off x="2656332" y="845820"/>
            <a:ext cx="82296" cy="1234440"/>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18"/>
          <p:cNvSpPr/>
          <p:nvPr/>
        </p:nvSpPr>
        <p:spPr>
          <a:xfrm>
            <a:off x="2880360" y="1179576"/>
            <a:ext cx="82296" cy="566928"/>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18"/>
          <p:cNvSpPr/>
          <p:nvPr/>
        </p:nvSpPr>
        <p:spPr>
          <a:xfrm>
            <a:off x="3104388" y="960120"/>
            <a:ext cx="82296" cy="1005840"/>
          </a:xfrm>
          <a:prstGeom prst="rect">
            <a:avLst/>
          </a:prstGeom>
          <a:solidFill>
            <a:srgbClr val="26473A"/>
          </a:solidFill>
          <a:ln cap="flat" cmpd="sng" w="12700">
            <a:solidFill>
              <a:srgbClr val="2647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3" name="Google Shape;573;p18"/>
          <p:cNvSpPr txBox="1"/>
          <p:nvPr/>
        </p:nvSpPr>
        <p:spPr>
          <a:xfrm>
            <a:off x="640080" y="2651760"/>
            <a:ext cx="10515600" cy="13716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FFFFFF"/>
              </a:buClr>
              <a:buSzPts val="3400"/>
              <a:buFont typeface="Cambria"/>
              <a:buNone/>
            </a:pPr>
            <a:r>
              <a:rPr b="1" lang="en-US" sz="3400">
                <a:solidFill>
                  <a:srgbClr val="FFFFFF"/>
                </a:solidFill>
                <a:latin typeface="Cambria"/>
                <a:ea typeface="Cambria"/>
                <a:cs typeface="Cambria"/>
                <a:sym typeface="Cambria"/>
              </a:rPr>
              <a:t>El dato más valioso fue descubrir</a:t>
            </a:r>
            <a:endParaRPr sz="3400">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FFFFF"/>
              </a:buClr>
              <a:buSzPts val="3400"/>
              <a:buFont typeface="Cambria"/>
              <a:buNone/>
            </a:pPr>
            <a:r>
              <a:rPr b="1" lang="en-US" sz="3400">
                <a:solidFill>
                  <a:srgbClr val="FFFFFF"/>
                </a:solidFill>
                <a:latin typeface="Cambria"/>
                <a:ea typeface="Cambria"/>
                <a:cs typeface="Cambria"/>
                <a:sym typeface="Cambria"/>
              </a:rPr>
              <a:t>qué no debíamos usar.</a:t>
            </a:r>
            <a:endParaRPr sz="3400">
              <a:solidFill>
                <a:schemeClr val="dk1"/>
              </a:solidFill>
              <a:latin typeface="Calibri"/>
              <a:ea typeface="Calibri"/>
              <a:cs typeface="Calibri"/>
              <a:sym typeface="Calibri"/>
            </a:endParaRPr>
          </a:p>
        </p:txBody>
      </p:sp>
      <p:sp>
        <p:nvSpPr>
          <p:cNvPr id="574" name="Google Shape;574;p18"/>
          <p:cNvSpPr/>
          <p:nvPr/>
        </p:nvSpPr>
        <p:spPr>
          <a:xfrm>
            <a:off x="640080" y="4389120"/>
            <a:ext cx="1005840" cy="32004"/>
          </a:xfrm>
          <a:prstGeom prst="rect">
            <a:avLst/>
          </a:prstGeom>
          <a:solidFill>
            <a:srgbClr val="18A558"/>
          </a:solidFill>
          <a:ln cap="flat" cmpd="sng" w="12700">
            <a:solidFill>
              <a:srgbClr val="18A55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5" name="Google Shape;575;p18"/>
          <p:cNvSpPr txBox="1"/>
          <p:nvPr/>
        </p:nvSpPr>
        <p:spPr>
          <a:xfrm>
            <a:off x="640080" y="4663440"/>
            <a:ext cx="5486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Preguntas</a:t>
            </a:r>
            <a:endParaRPr sz="2600">
              <a:solidFill>
                <a:schemeClr val="dk1"/>
              </a:solidFill>
              <a:latin typeface="Calibri"/>
              <a:ea typeface="Calibri"/>
              <a:cs typeface="Calibri"/>
              <a:sym typeface="Calibri"/>
            </a:endParaRPr>
          </a:p>
        </p:txBody>
      </p:sp>
      <p:sp>
        <p:nvSpPr>
          <p:cNvPr id="576" name="Google Shape;576;p18"/>
          <p:cNvSpPr txBox="1"/>
          <p:nvPr/>
        </p:nvSpPr>
        <p:spPr>
          <a:xfrm>
            <a:off x="640080" y="60350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8578"/>
              </a:buClr>
              <a:buSzPts val="1100"/>
              <a:buFont typeface="Calibri"/>
              <a:buNone/>
            </a:pPr>
            <a:r>
              <a:rPr lang="en-US" sz="1100">
                <a:solidFill>
                  <a:srgbClr val="6F8578"/>
                </a:solidFill>
                <a:latin typeface="Calibri"/>
                <a:ea typeface="Calibri"/>
                <a:cs typeface="Calibri"/>
                <a:sym typeface="Calibri"/>
              </a:rPr>
              <a:t>Felipe Ahumada Silva – Francisca Carrasco Lozano  ·  MLY1101  ·  Duoc UC</a:t>
            </a:r>
            <a:endParaRPr sz="11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7"/>
          <p:cNvSpPr txBox="1"/>
          <p:nvPr/>
        </p:nvSpPr>
        <p:spPr>
          <a:xfrm>
            <a:off x="640080" y="384048"/>
            <a:ext cx="1090879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00"/>
              <a:buFont typeface="Calibri"/>
              <a:buNone/>
            </a:pPr>
            <a:r>
              <a:rPr b="1" lang="en-US" sz="1000">
                <a:solidFill>
                  <a:srgbClr val="0E6B39"/>
                </a:solidFill>
                <a:latin typeface="Calibri"/>
                <a:ea typeface="Calibri"/>
                <a:cs typeface="Calibri"/>
                <a:sym typeface="Calibri"/>
              </a:rPr>
              <a:t>ANÁLISIS EXPLORATORIO</a:t>
            </a:r>
            <a:endParaRPr sz="1000">
              <a:solidFill>
                <a:schemeClr val="dk1"/>
              </a:solidFill>
              <a:latin typeface="Calibri"/>
              <a:ea typeface="Calibri"/>
              <a:cs typeface="Calibri"/>
              <a:sym typeface="Calibri"/>
            </a:endParaRPr>
          </a:p>
        </p:txBody>
      </p:sp>
      <p:sp>
        <p:nvSpPr>
          <p:cNvPr id="176" name="Google Shape;176;p7"/>
          <p:cNvSpPr txBox="1"/>
          <p:nvPr/>
        </p:nvSpPr>
        <p:spPr>
          <a:xfrm>
            <a:off x="640080" y="640080"/>
            <a:ext cx="1090879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2600"/>
              <a:buFont typeface="Cambria"/>
              <a:buNone/>
            </a:pPr>
            <a:r>
              <a:rPr b="1" lang="en-US" sz="2600">
                <a:solidFill>
                  <a:srgbClr val="1C1C1C"/>
                </a:solidFill>
                <a:latin typeface="Cambria"/>
                <a:ea typeface="Cambria"/>
                <a:cs typeface="Cambria"/>
                <a:sym typeface="Cambria"/>
              </a:rPr>
              <a:t>La mediana reparte el catálogo casi a la mitad: no hay desbalance que corregir</a:t>
            </a:r>
            <a:endParaRPr sz="2600">
              <a:solidFill>
                <a:schemeClr val="dk1"/>
              </a:solidFill>
              <a:latin typeface="Calibri"/>
              <a:ea typeface="Calibri"/>
              <a:cs typeface="Calibri"/>
              <a:sym typeface="Calibri"/>
            </a:endParaRPr>
          </a:p>
        </p:txBody>
      </p:sp>
      <p:pic>
        <p:nvPicPr>
          <p:cNvPr id="177" name="Picture 176" descr="desbalance_clases.png"/>
          <p:cNvPicPr>
            <a:picLocks noChangeAspect="1"/>
          </p:cNvPicPr>
          <p:nvPr/>
        </p:nvPicPr>
        <p:blipFill>
          <a:blip r:embed="rId2"/>
          <a:stretch>
            <a:fillRect/>
          </a:stretch>
        </p:blipFill>
        <p:spPr>
          <a:xfrm>
            <a:off x="3059172" y="1850000"/>
            <a:ext cx="6073655" cy="4850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 name="Shape 150"/>
        <p:cNvGrpSpPr/>
        <p:nvPr/>
      </p:nvGrpSpPr>
      <p:grpSpPr>
        <a:xfrm>
          <a:off x="0" y="0"/>
          <a:ext cx="0" cy="0"/>
          <a:chOff x="0" y="0"/>
          <a:chExt cx="0" cy="0"/>
        </a:xfrm>
      </p:grpSpPr>
      <p:sp>
        <p:nvSpPr>
          <p:cNvPr id="151" name="Google Shape;151;p6"/>
          <p:cNvSpPr txBox="1"/>
          <p:nvPr/>
        </p:nvSpPr>
        <p:spPr>
          <a:xfrm>
            <a:off x="640080" y="384048"/>
            <a:ext cx="1090879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000"/>
              <a:buFont typeface="Calibri"/>
              <a:buNone/>
            </a:pPr>
            <a:r>
              <a:rPr b="1" lang="en-US" sz="1000">
                <a:solidFill>
                  <a:srgbClr val="0E6B39"/>
                </a:solidFill>
                <a:latin typeface="Calibri"/>
                <a:ea typeface="Calibri"/>
                <a:cs typeface="Calibri"/>
                <a:sym typeface="Calibri"/>
              </a:rPr>
              <a:t>RECOMENDACIÓN</a:t>
            </a:r>
            <a:endParaRPr sz="1000">
              <a:solidFill>
                <a:schemeClr val="dk1"/>
              </a:solidFill>
              <a:latin typeface="Calibri"/>
              <a:ea typeface="Calibri"/>
              <a:cs typeface="Calibri"/>
              <a:sym typeface="Calibri"/>
            </a:endParaRPr>
          </a:p>
        </p:txBody>
      </p:sp>
      <p:sp>
        <p:nvSpPr>
          <p:cNvPr id="152" name="Google Shape;152;p6"/>
          <p:cNvSpPr txBox="1"/>
          <p:nvPr/>
        </p:nvSpPr>
        <p:spPr>
          <a:xfrm>
            <a:off x="640080" y="640080"/>
            <a:ext cx="10908792"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1C1C"/>
              </a:buClr>
              <a:buSzPts val="2600"/>
              <a:buFont typeface="Cambria"/>
              <a:buNone/>
            </a:pPr>
            <a:r>
              <a:rPr b="1" lang="en-US" sz="2600">
                <a:solidFill>
                  <a:srgbClr val="1C1C1C"/>
                </a:solidFill>
                <a:latin typeface="Cambria"/>
                <a:ea typeface="Cambria"/>
                <a:cs typeface="Cambria"/>
                <a:sym typeface="Cambria"/>
              </a:rPr>
              <a:t>El modelo responde qué tan prometedora suena una canción, no si será un éxito</a:t>
            </a:r>
            <a:endParaRPr sz="2600">
              <a:solidFill>
                <a:schemeClr val="dk1"/>
              </a:solidFill>
              <a:latin typeface="Calibri"/>
              <a:ea typeface="Calibri"/>
              <a:cs typeface="Calibri"/>
              <a:sym typeface="Calibri"/>
            </a:endParaRPr>
          </a:p>
        </p:txBody>
      </p:sp>
      <p:sp>
        <p:nvSpPr>
          <p:cNvPr id="153" name="Google Shape;153;p6"/>
          <p:cNvSpPr txBox="1"/>
          <p:nvPr/>
        </p:nvSpPr>
        <p:spPr>
          <a:xfrm>
            <a:off x="11000232" y="6419088"/>
            <a:ext cx="548640" cy="2377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FAFAF"/>
              </a:buClr>
              <a:buSzPts val="900"/>
              <a:buFont typeface="Calibri"/>
              <a:buNone/>
            </a:pPr>
            <a:r>
              <a:t/>
            </a:r>
            <a:endParaRPr sz="900">
              <a:solidFill>
                <a:schemeClr val="dk1"/>
              </a:solidFill>
              <a:latin typeface="Calibri"/>
              <a:ea typeface="Calibri"/>
              <a:cs typeface="Calibri"/>
              <a:sym typeface="Calibri"/>
            </a:endParaRPr>
          </a:p>
        </p:txBody>
      </p:sp>
      <p:sp>
        <p:nvSpPr>
          <p:cNvPr id="154" name="Google Shape;154;p6"/>
          <p:cNvSpPr/>
          <p:nvPr/>
        </p:nvSpPr>
        <p:spPr>
          <a:xfrm>
            <a:off x="640080" y="1965960"/>
            <a:ext cx="3483864" cy="301752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6"/>
          <p:cNvSpPr txBox="1"/>
          <p:nvPr/>
        </p:nvSpPr>
        <p:spPr>
          <a:xfrm>
            <a:off x="1005840" y="2258568"/>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A558"/>
              </a:buClr>
              <a:buSzPts val="2600"/>
              <a:buFont typeface="Cambria"/>
              <a:buNone/>
            </a:pPr>
            <a:r>
              <a:rPr b="1" lang="en-US" sz="2600">
                <a:solidFill>
                  <a:srgbClr val="18A558"/>
                </a:solidFill>
                <a:latin typeface="Cambria"/>
                <a:ea typeface="Cambria"/>
                <a:cs typeface="Cambria"/>
                <a:sym typeface="Cambria"/>
              </a:rPr>
              <a:t>01</a:t>
            </a:r>
            <a:endParaRPr sz="2600">
              <a:solidFill>
                <a:schemeClr val="dk1"/>
              </a:solidFill>
              <a:latin typeface="Calibri"/>
              <a:ea typeface="Calibri"/>
              <a:cs typeface="Calibri"/>
              <a:sym typeface="Calibri"/>
            </a:endParaRPr>
          </a:p>
        </p:txBody>
      </p:sp>
      <p:sp>
        <p:nvSpPr>
          <p:cNvPr id="156" name="Google Shape;156;p6"/>
          <p:cNvSpPr txBox="1"/>
          <p:nvPr/>
        </p:nvSpPr>
        <p:spPr>
          <a:xfrm>
            <a:off x="1005840" y="2788920"/>
            <a:ext cx="27523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100"/>
              <a:buFont typeface="Calibri"/>
              <a:buNone/>
            </a:pPr>
            <a:r>
              <a:rPr b="1" lang="en-US" sz="1100">
                <a:solidFill>
                  <a:srgbClr val="767676"/>
                </a:solidFill>
                <a:latin typeface="Calibri"/>
                <a:ea typeface="Calibri"/>
                <a:cs typeface="Calibri"/>
                <a:sym typeface="Calibri"/>
              </a:rPr>
              <a:t>USAR COMO</a:t>
            </a:r>
            <a:endParaRPr sz="1100">
              <a:solidFill>
                <a:schemeClr val="dk1"/>
              </a:solidFill>
              <a:latin typeface="Calibri"/>
              <a:ea typeface="Calibri"/>
              <a:cs typeface="Calibri"/>
              <a:sym typeface="Calibri"/>
            </a:endParaRPr>
          </a:p>
        </p:txBody>
      </p:sp>
      <p:sp>
        <p:nvSpPr>
          <p:cNvPr id="157" name="Google Shape;157;p6"/>
          <p:cNvSpPr txBox="1"/>
          <p:nvPr/>
        </p:nvSpPr>
        <p:spPr>
          <a:xfrm>
            <a:off x="1005840" y="3172968"/>
            <a:ext cx="2752344"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700"/>
              <a:buFont typeface="Cambria"/>
              <a:buNone/>
            </a:pPr>
            <a:r>
              <a:rPr b="1" lang="en-US" sz="2700">
                <a:solidFill>
                  <a:srgbClr val="1C1C1C"/>
                </a:solidFill>
                <a:latin typeface="Cambria"/>
                <a:ea typeface="Cambria"/>
                <a:cs typeface="Cambria"/>
                <a:sym typeface="Cambria"/>
              </a:rPr>
              <a:t>Señal de apoyo</a:t>
            </a:r>
            <a:endParaRPr sz="2700">
              <a:solidFill>
                <a:schemeClr val="dk1"/>
              </a:solidFill>
              <a:latin typeface="Calibri"/>
              <a:ea typeface="Calibri"/>
              <a:cs typeface="Calibri"/>
              <a:sym typeface="Calibri"/>
            </a:endParaRPr>
          </a:p>
        </p:txBody>
      </p:sp>
      <p:sp>
        <p:nvSpPr>
          <p:cNvPr id="158" name="Google Shape;158;p6"/>
          <p:cNvSpPr txBox="1"/>
          <p:nvPr/>
        </p:nvSpPr>
        <p:spPr>
          <a:xfrm>
            <a:off x="1005840" y="3931920"/>
            <a:ext cx="2752344"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3F4A44"/>
              </a:buClr>
              <a:buSzPts val="1500"/>
              <a:buFont typeface="Calibri"/>
              <a:buNone/>
            </a:pPr>
            <a:r>
              <a:rPr lang="en-US" sz="1500">
                <a:solidFill>
                  <a:srgbClr val="3F4A44"/>
                </a:solidFill>
                <a:latin typeface="Calibri"/>
                <a:ea typeface="Calibri"/>
                <a:cs typeface="Calibri"/>
                <a:sym typeface="Calibri"/>
              </a:rPr>
              <a:t>Para priorizar qué escuchar primero entre material nuevo, sin trayectoria</a:t>
            </a:r>
            <a:endParaRPr sz="1500">
              <a:solidFill>
                <a:schemeClr val="dk1"/>
              </a:solidFill>
              <a:latin typeface="Calibri"/>
              <a:ea typeface="Calibri"/>
              <a:cs typeface="Calibri"/>
              <a:sym typeface="Calibri"/>
            </a:endParaRPr>
          </a:p>
        </p:txBody>
      </p:sp>
      <p:sp>
        <p:nvSpPr>
          <p:cNvPr id="159" name="Google Shape;159;p6"/>
          <p:cNvSpPr/>
          <p:nvPr/>
        </p:nvSpPr>
        <p:spPr>
          <a:xfrm>
            <a:off x="4352544" y="1965960"/>
            <a:ext cx="3483864" cy="301752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6"/>
          <p:cNvSpPr txBox="1"/>
          <p:nvPr/>
        </p:nvSpPr>
        <p:spPr>
          <a:xfrm>
            <a:off x="4718304" y="2258568"/>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A558"/>
              </a:buClr>
              <a:buSzPts val="2600"/>
              <a:buFont typeface="Cambria"/>
              <a:buNone/>
            </a:pPr>
            <a:r>
              <a:rPr b="1" lang="en-US" sz="2600">
                <a:solidFill>
                  <a:srgbClr val="18A558"/>
                </a:solidFill>
                <a:latin typeface="Cambria"/>
                <a:ea typeface="Cambria"/>
                <a:cs typeface="Cambria"/>
                <a:sym typeface="Cambria"/>
              </a:rPr>
              <a:t>02</a:t>
            </a:r>
            <a:endParaRPr sz="2600">
              <a:solidFill>
                <a:schemeClr val="dk1"/>
              </a:solidFill>
              <a:latin typeface="Calibri"/>
              <a:ea typeface="Calibri"/>
              <a:cs typeface="Calibri"/>
              <a:sym typeface="Calibri"/>
            </a:endParaRPr>
          </a:p>
        </p:txBody>
      </p:sp>
      <p:sp>
        <p:nvSpPr>
          <p:cNvPr id="161" name="Google Shape;161;p6"/>
          <p:cNvSpPr txBox="1"/>
          <p:nvPr/>
        </p:nvSpPr>
        <p:spPr>
          <a:xfrm>
            <a:off x="4718304" y="2788920"/>
            <a:ext cx="27523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100"/>
              <a:buFont typeface="Calibri"/>
              <a:buNone/>
            </a:pPr>
            <a:r>
              <a:rPr b="1" lang="en-US" sz="1100">
                <a:solidFill>
                  <a:srgbClr val="767676"/>
                </a:solidFill>
                <a:latin typeface="Calibri"/>
                <a:ea typeface="Calibri"/>
                <a:cs typeface="Calibri"/>
                <a:sym typeface="Calibri"/>
              </a:rPr>
              <a:t>NO USAR COMO</a:t>
            </a:r>
            <a:endParaRPr sz="1100">
              <a:solidFill>
                <a:schemeClr val="dk1"/>
              </a:solidFill>
              <a:latin typeface="Calibri"/>
              <a:ea typeface="Calibri"/>
              <a:cs typeface="Calibri"/>
              <a:sym typeface="Calibri"/>
            </a:endParaRPr>
          </a:p>
        </p:txBody>
      </p:sp>
      <p:sp>
        <p:nvSpPr>
          <p:cNvPr id="162" name="Google Shape;162;p6"/>
          <p:cNvSpPr txBox="1"/>
          <p:nvPr/>
        </p:nvSpPr>
        <p:spPr>
          <a:xfrm>
            <a:off x="4718304" y="3172968"/>
            <a:ext cx="2752344"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700"/>
              <a:buFont typeface="Cambria"/>
              <a:buNone/>
            </a:pPr>
            <a:r>
              <a:rPr b="1" lang="en-US" sz="2700">
                <a:solidFill>
                  <a:srgbClr val="1C1C1C"/>
                </a:solidFill>
                <a:latin typeface="Cambria"/>
                <a:ea typeface="Cambria"/>
                <a:cs typeface="Cambria"/>
                <a:sym typeface="Cambria"/>
              </a:rPr>
              <a:t>Filtro automático</a:t>
            </a:r>
            <a:endParaRPr sz="2700">
              <a:solidFill>
                <a:schemeClr val="dk1"/>
              </a:solidFill>
              <a:latin typeface="Calibri"/>
              <a:ea typeface="Calibri"/>
              <a:cs typeface="Calibri"/>
              <a:sym typeface="Calibri"/>
            </a:endParaRPr>
          </a:p>
        </p:txBody>
      </p:sp>
      <p:sp>
        <p:nvSpPr>
          <p:cNvPr id="163" name="Google Shape;163;p6"/>
          <p:cNvSpPr txBox="1"/>
          <p:nvPr/>
        </p:nvSpPr>
        <p:spPr>
          <a:xfrm>
            <a:off x="4718304" y="3931920"/>
            <a:ext cx="2752344"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3F4A44"/>
              </a:buClr>
              <a:buSzPts val="1500"/>
              <a:buFont typeface="Calibri"/>
              <a:buNone/>
            </a:pPr>
            <a:r>
              <a:rPr lang="en-US" sz="1500">
                <a:solidFill>
                  <a:srgbClr val="3F4A44"/>
                </a:solidFill>
                <a:latin typeface="Calibri"/>
                <a:ea typeface="Calibri"/>
                <a:cs typeface="Calibri"/>
                <a:sym typeface="Calibri"/>
              </a:rPr>
              <a:t>Ni sustituto del criterio humano: R²≈0,44 deja más de la mitad sin explicar</a:t>
            </a:r>
            <a:endParaRPr sz="1500">
              <a:solidFill>
                <a:schemeClr val="dk1"/>
              </a:solidFill>
              <a:latin typeface="Calibri"/>
              <a:ea typeface="Calibri"/>
              <a:cs typeface="Calibri"/>
              <a:sym typeface="Calibri"/>
            </a:endParaRPr>
          </a:p>
        </p:txBody>
      </p:sp>
      <p:sp>
        <p:nvSpPr>
          <p:cNvPr id="164" name="Google Shape;164;p6"/>
          <p:cNvSpPr/>
          <p:nvPr/>
        </p:nvSpPr>
        <p:spPr>
          <a:xfrm>
            <a:off x="8065008" y="1965960"/>
            <a:ext cx="3483864" cy="3017520"/>
          </a:xfrm>
          <a:prstGeom prst="rect">
            <a:avLst/>
          </a:prstGeom>
          <a:solidFill>
            <a:srgbClr val="F1F6F3"/>
          </a:solidFill>
          <a:ln cap="flat" cmpd="sng" w="12700">
            <a:solidFill>
              <a:srgbClr val="F1F6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6"/>
          <p:cNvSpPr txBox="1"/>
          <p:nvPr/>
        </p:nvSpPr>
        <p:spPr>
          <a:xfrm>
            <a:off x="8430768" y="2258568"/>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A558"/>
              </a:buClr>
              <a:buSzPts val="2600"/>
              <a:buFont typeface="Cambria"/>
              <a:buNone/>
            </a:pPr>
            <a:r>
              <a:rPr b="1" lang="en-US" sz="2600">
                <a:solidFill>
                  <a:srgbClr val="18A558"/>
                </a:solidFill>
                <a:latin typeface="Cambria"/>
                <a:ea typeface="Cambria"/>
                <a:cs typeface="Cambria"/>
                <a:sym typeface="Cambria"/>
              </a:rPr>
              <a:t>03</a:t>
            </a:r>
            <a:endParaRPr sz="2600">
              <a:solidFill>
                <a:schemeClr val="dk1"/>
              </a:solidFill>
              <a:latin typeface="Calibri"/>
              <a:ea typeface="Calibri"/>
              <a:cs typeface="Calibri"/>
              <a:sym typeface="Calibri"/>
            </a:endParaRPr>
          </a:p>
        </p:txBody>
      </p:sp>
      <p:sp>
        <p:nvSpPr>
          <p:cNvPr id="166" name="Google Shape;166;p6"/>
          <p:cNvSpPr txBox="1"/>
          <p:nvPr/>
        </p:nvSpPr>
        <p:spPr>
          <a:xfrm>
            <a:off x="8430768" y="2788920"/>
            <a:ext cx="275234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67676"/>
              </a:buClr>
              <a:buSzPts val="1100"/>
              <a:buFont typeface="Calibri"/>
              <a:buNone/>
            </a:pPr>
            <a:r>
              <a:rPr b="1" lang="en-US" sz="1100">
                <a:solidFill>
                  <a:srgbClr val="767676"/>
                </a:solidFill>
                <a:latin typeface="Calibri"/>
                <a:ea typeface="Calibri"/>
                <a:cs typeface="Calibri"/>
                <a:sym typeface="Calibri"/>
              </a:rPr>
              <a:t>POR QUÉ NO MÁS</a:t>
            </a:r>
            <a:endParaRPr sz="1100">
              <a:solidFill>
                <a:schemeClr val="dk1"/>
              </a:solidFill>
              <a:latin typeface="Calibri"/>
              <a:ea typeface="Calibri"/>
              <a:cs typeface="Calibri"/>
              <a:sym typeface="Calibri"/>
            </a:endParaRPr>
          </a:p>
        </p:txBody>
      </p:sp>
      <p:sp>
        <p:nvSpPr>
          <p:cNvPr id="167" name="Google Shape;167;p6"/>
          <p:cNvSpPr txBox="1"/>
          <p:nvPr/>
        </p:nvSpPr>
        <p:spPr>
          <a:xfrm>
            <a:off x="8430768" y="3172968"/>
            <a:ext cx="2752344"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1C1C"/>
              </a:buClr>
              <a:buSzPts val="2700"/>
              <a:buFont typeface="Cambria"/>
              <a:buNone/>
            </a:pPr>
            <a:r>
              <a:rPr b="1" lang="en-US" sz="2700">
                <a:solidFill>
                  <a:srgbClr val="1C1C1C"/>
                </a:solidFill>
                <a:latin typeface="Cambria"/>
                <a:ea typeface="Cambria"/>
                <a:cs typeface="Cambria"/>
                <a:sym typeface="Cambria"/>
              </a:rPr>
              <a:t>Fama, excluida</a:t>
            </a:r>
            <a:endParaRPr sz="2700">
              <a:solidFill>
                <a:schemeClr val="dk1"/>
              </a:solidFill>
              <a:latin typeface="Calibri"/>
              <a:ea typeface="Calibri"/>
              <a:cs typeface="Calibri"/>
              <a:sym typeface="Calibri"/>
            </a:endParaRPr>
          </a:p>
        </p:txBody>
      </p:sp>
      <p:sp>
        <p:nvSpPr>
          <p:cNvPr id="168" name="Google Shape;168;p6"/>
          <p:cNvSpPr txBox="1"/>
          <p:nvPr/>
        </p:nvSpPr>
        <p:spPr>
          <a:xfrm>
            <a:off x="8430768" y="3931920"/>
            <a:ext cx="2752344" cy="6858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3F4A44"/>
              </a:buClr>
              <a:buSzPts val="1500"/>
              <a:buFont typeface="Calibri"/>
              <a:buNone/>
            </a:pPr>
            <a:r>
              <a:rPr lang="en-US" sz="1500">
                <a:solidFill>
                  <a:srgbClr val="3F4A44"/>
                </a:solidFill>
                <a:latin typeface="Calibri"/>
                <a:ea typeface="Calibri"/>
                <a:cs typeface="Calibri"/>
                <a:sym typeface="Calibri"/>
              </a:rPr>
              <a:t>album_name/artists correlacionan 0,72/0,71 con popularity; se excluyeron a propósito</a:t>
            </a:r>
            <a:endParaRPr sz="1500">
              <a:solidFill>
                <a:schemeClr val="dk1"/>
              </a:solidFill>
              <a:latin typeface="Calibri"/>
              <a:ea typeface="Calibri"/>
              <a:cs typeface="Calibri"/>
              <a:sym typeface="Calibri"/>
            </a:endParaRPr>
          </a:p>
        </p:txBody>
      </p:sp>
      <p:sp>
        <p:nvSpPr>
          <p:cNvPr id="169" name="Google Shape;169;p6"/>
          <p:cNvSpPr txBox="1"/>
          <p:nvPr/>
        </p:nvSpPr>
        <p:spPr>
          <a:xfrm>
            <a:off x="640080" y="5349240"/>
            <a:ext cx="1090879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B39"/>
              </a:buClr>
              <a:buSzPts val="1500"/>
              <a:buFont typeface="Calibri"/>
              <a:buNone/>
            </a:pPr>
            <a:r>
              <a:rPr b="1" lang="en-US" sz="1500">
                <a:solidFill>
                  <a:srgbClr val="0E6B39"/>
                </a:solidFill>
                <a:latin typeface="Calibri"/>
                <a:ea typeface="Calibri"/>
                <a:cs typeface="Calibri"/>
                <a:sym typeface="Calibri"/>
              </a:rPr>
              <a:t>El sonido y el género son una señal real pero parcial: ayudan a decidir, no deciden solos</a:t>
            </a:r>
            <a:endParaRPr sz="15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2026-09-07T15:01:25Z</dcterms:created>
  <dc:creator>Felipe Ahumada Silva</dc:creator>
</cp:coreProperties>
</file>